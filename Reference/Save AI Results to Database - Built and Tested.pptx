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 time this was a proposal. It is now built, tested and running against the real XenCreator database. Every AI translation is saved, and a scenario that has not changed is loaded from the database instead of being sent to the AI again. A repeat run of all seven Motor scenarios now takes 0.4 seconds and uses no tokens.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this change, the Request AI Translator button sent all seven scenarios to the AI every time. Each one is about 4,700 tokens, so a full run is around 33,000. Groq's free plan gives roughly 200,000 tokens a day, which is only about five full runs - and most of those runs are re-translating scenarios that have not changed.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situations. The first time, the database is empty, so everything is translated and saved. If I click again with no changes, nothing goes to the AI - it all loads from the database. If I edit one scenario, only that one is translated. Measured on the real database: the repeat run took 0.4 seconds and no tokens.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every scenario the app first builds a fingerprint - a short code that identifies exactly what would be sent to the AI. It looks that code up in the database. If it is there, the saved result is shown immediately with no tokens used. If not, the AI is called, the result is saved, then shown. Failed calls are never saved, so a bad result cannot get stuck in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fingerprint is built from five things. If all five are the same as a saved row, we reuse it. Two details matter. First, it includes the scenarios a scenario refers to - so editing Auto Run Ready also refreshes Operation. Second, requests now carry only the scenarios actually mentioned. Before, every request carried all seven, so any edit changed every fingerprint. Tested: editing Trip re-translates only Trip.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naming: OutputXenTrans.dbo would mean a new database. Since it lives inside XenCreator, it is a table: XenCreator.dbo.OutputXenTrans. We keep every run as a new row rather than overwriting, so the history is there for comparing 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one translation. The CacheKey is the fingerprint we search on. One column was added while building it: VariablesUsed, so that SCL results keep their tick or warning mark when reloaded. Token counts are stored so we can measure the saving over time.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of the work is one new file that talks to the database. The translation itself did not change - the database sits in front of it. The SQL Server package brought in a component with a known high-severity vulnerability, so a patched version is pinned; NuGet now reports no vulnerable packages.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 bar says exactly what happened - how many were translated and how many came from the database. The result header says Loaded from DB and that no tokens were used. Results also stay on screen while the app is open, even when switching between Motor and Valve.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using it on the company server I tested it on a throwaway database on my own laptop, so nothing on XenCreator was at risk. The important checks: failed results are never saved, editing one scenario only re-translates that one, and the password never appears in any message. The last row is the real server.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open questions from the proposal are all settled. The password is not in the code - it is in a Windows setting, typed in hidden through the setup script. The table exists. If the database is down the app still translates. And Ignore saved gives a fresh answer whenever we want one.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database part is done. Next: watch the token saving over a week using the table, give the six New Instance properties real tag names, compile the output in TIA Portal - which has still not been done - and tidy the Valve scenario wording.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script as run on XenCreator, with its comments removed to fit. The full file is Reference/sql/OutputXenTrans.sql. It is safe to run again: it does nothing if the table already exists.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Kicker"/>
          <p:cNvSpPr txBox="1"/>
          <p:nvPr/>
        </p:nvSpPr>
        <p:spPr>
          <a:xfrm>
            <a:off x="822960" y="1463040"/>
            <a:ext cx="10515600" cy="411480"/>
          </a:xfrm>
          <a:prstGeom prst="rect">
            <a:avLst/>
          </a:prstGeom>
          <a:noFill/>
        </p:spPr>
        <p:txBody>
          <a:bodyPr wrap="square" anchor="t" lIns="0" rIns="0" tIns="0" bIns="0">
            <a:spAutoFit/>
          </a:bodyPr>
          <a:lstStyle/>
          <a:p>
            <a:pPr algn="l">
              <a:spcAft>
                <a:spcPts val="600"/>
              </a:spcAft>
            </a:pPr>
            <a:r>
              <a:rPr sz="1600" b="1" i="0">
                <a:solidFill>
                  <a:srgbClr val="E8A33D"/>
                </a:solidFill>
                <a:latin typeface="Calibri"/>
              </a:rPr>
              <a:t>BUILT AND TESTED</a:t>
            </a:r>
          </a:p>
        </p:txBody>
      </p:sp>
      <p:sp>
        <p:nvSpPr>
          <p:cNvPr id="3" name="Title"/>
          <p:cNvSpPr txBox="1"/>
          <p:nvPr/>
        </p:nvSpPr>
        <p:spPr>
          <a:xfrm>
            <a:off x="822960" y="1920240"/>
            <a:ext cx="10515600" cy="1737360"/>
          </a:xfrm>
          <a:prstGeom prst="rect">
            <a:avLst/>
          </a:prstGeom>
          <a:noFill/>
        </p:spPr>
        <p:txBody>
          <a:bodyPr wrap="square" anchor="t" lIns="0" rIns="0" tIns="0" bIns="0">
            <a:spAutoFit/>
          </a:bodyPr>
          <a:lstStyle/>
          <a:p>
            <a:pPr algn="l">
              <a:spcAft>
                <a:spcPts val="600"/>
              </a:spcAft>
            </a:pPr>
            <a:r>
              <a:rPr sz="4800" b="1" i="0">
                <a:solidFill>
                  <a:srgbClr val="FFFFFF"/>
                </a:solidFill>
                <a:latin typeface="Cambria"/>
              </a:rPr>
              <a:t>Save AI results to the database</a:t>
            </a:r>
          </a:p>
        </p:txBody>
      </p:sp>
      <p:sp>
        <p:nvSpPr>
          <p:cNvPr id="4" name="Subtitle"/>
          <p:cNvSpPr txBox="1"/>
          <p:nvPr/>
        </p:nvSpPr>
        <p:spPr>
          <a:xfrm>
            <a:off x="822960" y="3246120"/>
            <a:ext cx="10241280" cy="1005840"/>
          </a:xfrm>
          <a:prstGeom prst="rect">
            <a:avLst/>
          </a:prstGeom>
          <a:noFill/>
        </p:spPr>
        <p:txBody>
          <a:bodyPr wrap="square" anchor="t" lIns="0" rIns="0" tIns="0" bIns="0">
            <a:spAutoFit/>
          </a:bodyPr>
          <a:lstStyle/>
          <a:p>
            <a:pPr algn="l">
              <a:spcAft>
                <a:spcPts val="600"/>
              </a:spcAft>
            </a:pPr>
            <a:r>
              <a:rPr sz="2200" b="0" i="0">
                <a:solidFill>
                  <a:srgbClr val="CADCDB"/>
                </a:solidFill>
                <a:latin typeface="Calibri"/>
              </a:rPr>
              <a:t>A repeat run now loads in 0.4 seconds with 0 tokens - instead of two to three minutes and about 33,000 tokens</a:t>
            </a:r>
          </a:p>
        </p:txBody>
      </p:sp>
      <p:sp>
        <p:nvSpPr>
          <p:cNvPr id="5" name="Byline"/>
          <p:cNvSpPr txBox="1"/>
          <p:nvPr/>
        </p:nvSpPr>
        <p:spPr>
          <a:xfrm>
            <a:off x="822960" y="5212080"/>
            <a:ext cx="10515600" cy="822960"/>
          </a:xfrm>
          <a:prstGeom prst="rect">
            <a:avLst/>
          </a:prstGeom>
          <a:noFill/>
        </p:spPr>
        <p:txBody>
          <a:bodyPr wrap="square" anchor="t" lIns="0" rIns="0" tIns="0" bIns="0">
            <a:spAutoFit/>
          </a:bodyPr>
          <a:lstStyle/>
          <a:p>
            <a:pPr algn="l">
              <a:spcAft>
                <a:spcPts val="600"/>
              </a:spcAft>
            </a:pPr>
            <a:r>
              <a:rPr sz="1500" b="0" i="0">
                <a:solidFill>
                  <a:srgbClr val="CADCDB"/>
                </a:solidFill>
                <a:latin typeface="Calibri"/>
              </a:rPr>
              <a:t>XenAnalyticTransl  -  PLC Logic Builder AI layer</a:t>
            </a:r>
          </a:p>
          <a:p>
            <a:pPr algn="l">
              <a:spcAft>
                <a:spcPts val="600"/>
              </a:spcAft>
            </a:pPr>
            <a:r>
              <a:rPr sz="1500" b="0" i="0">
                <a:solidFill>
                  <a:srgbClr val="CADCDB"/>
                </a:solidFill>
                <a:latin typeface="Calibri"/>
              </a:rPr>
              <a:t>Siti Syaziyah  |  22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Before: every click re-translated every scenario</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Even when nothing had changed since the last run</a:t>
            </a:r>
          </a:p>
        </p:txBody>
      </p:sp>
      <p:sp>
        <p:nvSpPr>
          <p:cNvPr id="4" name="Stat card 1"/>
          <p:cNvSpPr/>
          <p:nvPr/>
        </p:nvSpPr>
        <p:spPr>
          <a:xfrm>
            <a:off x="548640"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tat 1"/>
          <p:cNvSpPr txBox="1"/>
          <p:nvPr/>
        </p:nvSpPr>
        <p:spPr>
          <a:xfrm>
            <a:off x="868680"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7</a:t>
            </a:r>
          </a:p>
        </p:txBody>
      </p:sp>
      <p:sp>
        <p:nvSpPr>
          <p:cNvPr id="6" name="Stat label 1"/>
          <p:cNvSpPr txBox="1"/>
          <p:nvPr/>
        </p:nvSpPr>
        <p:spPr>
          <a:xfrm>
            <a:off x="868680"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AI calls per click</a:t>
            </a:r>
          </a:p>
        </p:txBody>
      </p:sp>
      <p:sp>
        <p:nvSpPr>
          <p:cNvPr id="7" name="Stat note 1"/>
          <p:cNvSpPr txBox="1"/>
          <p:nvPr/>
        </p:nvSpPr>
        <p:spPr>
          <a:xfrm>
            <a:off x="868680"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One per scenario - all seven, every time</a:t>
            </a:r>
          </a:p>
        </p:txBody>
      </p:sp>
      <p:sp>
        <p:nvSpPr>
          <p:cNvPr id="8" name="Stat card 2"/>
          <p:cNvSpPr/>
          <p:nvPr/>
        </p:nvSpPr>
        <p:spPr>
          <a:xfrm>
            <a:off x="4297679"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2"/>
          <p:cNvSpPr txBox="1"/>
          <p:nvPr/>
        </p:nvSpPr>
        <p:spPr>
          <a:xfrm>
            <a:off x="4617719"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~33K</a:t>
            </a:r>
          </a:p>
        </p:txBody>
      </p:sp>
      <p:sp>
        <p:nvSpPr>
          <p:cNvPr id="10" name="Stat label 2"/>
          <p:cNvSpPr txBox="1"/>
          <p:nvPr/>
        </p:nvSpPr>
        <p:spPr>
          <a:xfrm>
            <a:off x="4617719"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tokens per full run</a:t>
            </a:r>
          </a:p>
        </p:txBody>
      </p:sp>
      <p:sp>
        <p:nvSpPr>
          <p:cNvPr id="11" name="Stat note 2"/>
          <p:cNvSpPr txBox="1"/>
          <p:nvPr/>
        </p:nvSpPr>
        <p:spPr>
          <a:xfrm>
            <a:off x="4617719"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About 4,700 tokens per scenario</a:t>
            </a:r>
          </a:p>
        </p:txBody>
      </p:sp>
      <p:sp>
        <p:nvSpPr>
          <p:cNvPr id="12" name="Stat card 3"/>
          <p:cNvSpPr/>
          <p:nvPr/>
        </p:nvSpPr>
        <p:spPr>
          <a:xfrm>
            <a:off x="8046719" y="1828800"/>
            <a:ext cx="3474720" cy="2743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at 3"/>
          <p:cNvSpPr txBox="1"/>
          <p:nvPr/>
        </p:nvSpPr>
        <p:spPr>
          <a:xfrm>
            <a:off x="8366759" y="2057400"/>
            <a:ext cx="2926080" cy="1097280"/>
          </a:xfrm>
          <a:prstGeom prst="rect">
            <a:avLst/>
          </a:prstGeom>
          <a:noFill/>
        </p:spPr>
        <p:txBody>
          <a:bodyPr wrap="square" anchor="t" lIns="0" rIns="0" tIns="0" bIns="0">
            <a:spAutoFit/>
          </a:bodyPr>
          <a:lstStyle/>
          <a:p>
            <a:pPr algn="l">
              <a:spcAft>
                <a:spcPts val="600"/>
              </a:spcAft>
            </a:pPr>
            <a:r>
              <a:rPr sz="6000" b="1" i="0">
                <a:solidFill>
                  <a:srgbClr val="1D7874"/>
                </a:solidFill>
                <a:latin typeface="Cambria"/>
              </a:rPr>
              <a:t>~5</a:t>
            </a:r>
          </a:p>
        </p:txBody>
      </p:sp>
      <p:sp>
        <p:nvSpPr>
          <p:cNvPr id="14" name="Stat label 3"/>
          <p:cNvSpPr txBox="1"/>
          <p:nvPr/>
        </p:nvSpPr>
        <p:spPr>
          <a:xfrm>
            <a:off x="8366759" y="3154680"/>
            <a:ext cx="2926080" cy="41148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full runs per day</a:t>
            </a:r>
          </a:p>
        </p:txBody>
      </p:sp>
      <p:sp>
        <p:nvSpPr>
          <p:cNvPr id="15" name="Stat note 3"/>
          <p:cNvSpPr txBox="1"/>
          <p:nvPr/>
        </p:nvSpPr>
        <p:spPr>
          <a:xfrm>
            <a:off x="8366759" y="3611880"/>
            <a:ext cx="2926080" cy="82296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Groq free tier: ~200K tokens a day</a:t>
            </a:r>
          </a:p>
        </p:txBody>
      </p:sp>
      <p:sp>
        <p:nvSpPr>
          <p:cNvPr id="16" name="Problem callout"/>
          <p:cNvSpPr/>
          <p:nvPr/>
        </p:nvSpPr>
        <p:spPr>
          <a:xfrm>
            <a:off x="548640" y="4983480"/>
            <a:ext cx="11064240"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1600" b="1" i="0">
                <a:solidFill>
                  <a:srgbClr val="FFFFFF"/>
                </a:solidFill>
                <a:latin typeface="Calibri"/>
              </a:rPr>
              <a:t>Most of those calls repeated work already done.  </a:t>
            </a:r>
            <a:r>
              <a:rPr sz="1600" b="0" i="0">
                <a:solidFill>
                  <a:srgbClr val="CADCDB"/>
                </a:solidFill>
                <a:latin typeface="Calibri"/>
              </a:rPr>
              <a:t>On a free tier, that limit decided how much we could test.</a:t>
            </a:r>
          </a:p>
        </p:txBody>
      </p:sp>
      <p:sp>
        <p:nvSpPr>
          <p:cNvPr id="17"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18"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Translate once, save it, reuse it</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The database remembers every result; the AI is called only for what is new</a:t>
            </a:r>
          </a:p>
        </p:txBody>
      </p:sp>
      <p:sp>
        <p:nvSpPr>
          <p:cNvPr id="4" name="Case card 1"/>
          <p:cNvSpPr/>
          <p:nvPr/>
        </p:nvSpPr>
        <p:spPr>
          <a:xfrm>
            <a:off x="548640"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s 1"/>
          <p:cNvSpPr txBox="1"/>
          <p:nvPr/>
        </p:nvSpPr>
        <p:spPr>
          <a:xfrm>
            <a:off x="868680" y="1965960"/>
            <a:ext cx="1645920" cy="1097280"/>
          </a:xfrm>
          <a:prstGeom prst="rect">
            <a:avLst/>
          </a:prstGeom>
          <a:noFill/>
        </p:spPr>
        <p:txBody>
          <a:bodyPr wrap="square" anchor="t" lIns="0" rIns="0" tIns="0" bIns="0">
            <a:spAutoFit/>
          </a:bodyPr>
          <a:lstStyle/>
          <a:p>
            <a:pPr algn="l">
              <a:spcAft>
                <a:spcPts val="600"/>
              </a:spcAft>
            </a:pPr>
            <a:r>
              <a:rPr sz="6400" b="1" i="0">
                <a:solidFill>
                  <a:srgbClr val="1D7874"/>
                </a:solidFill>
                <a:latin typeface="Cambria"/>
              </a:rPr>
              <a:t>7</a:t>
            </a:r>
          </a:p>
        </p:txBody>
      </p:sp>
      <p:sp>
        <p:nvSpPr>
          <p:cNvPr id="6" name="Calls label 1"/>
          <p:cNvSpPr txBox="1"/>
          <p:nvPr/>
        </p:nvSpPr>
        <p:spPr>
          <a:xfrm>
            <a:off x="1508760"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7" name="Case 1"/>
          <p:cNvSpPr txBox="1"/>
          <p:nvPr/>
        </p:nvSpPr>
        <p:spPr>
          <a:xfrm>
            <a:off x="868680"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First launch</a:t>
            </a:r>
          </a:p>
        </p:txBody>
      </p:sp>
      <p:sp>
        <p:nvSpPr>
          <p:cNvPr id="8" name="Case note 1"/>
          <p:cNvSpPr txBox="1"/>
          <p:nvPr/>
        </p:nvSpPr>
        <p:spPr>
          <a:xfrm>
            <a:off x="868680"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Database is empty. Translate all seven and save them.</a:t>
            </a:r>
          </a:p>
        </p:txBody>
      </p:sp>
      <p:sp>
        <p:nvSpPr>
          <p:cNvPr id="9" name="Case card 2"/>
          <p:cNvSpPr/>
          <p:nvPr/>
        </p:nvSpPr>
        <p:spPr>
          <a:xfrm>
            <a:off x="4297679"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alls 2"/>
          <p:cNvSpPr txBox="1"/>
          <p:nvPr/>
        </p:nvSpPr>
        <p:spPr>
          <a:xfrm>
            <a:off x="4617719" y="1965960"/>
            <a:ext cx="1645920" cy="1097280"/>
          </a:xfrm>
          <a:prstGeom prst="rect">
            <a:avLst/>
          </a:prstGeom>
          <a:noFill/>
        </p:spPr>
        <p:txBody>
          <a:bodyPr wrap="square" anchor="t" lIns="0" rIns="0" tIns="0" bIns="0">
            <a:spAutoFit/>
          </a:bodyPr>
          <a:lstStyle/>
          <a:p>
            <a:pPr algn="l">
              <a:spcAft>
                <a:spcPts val="600"/>
              </a:spcAft>
            </a:pPr>
            <a:r>
              <a:rPr sz="6400" b="1" i="0">
                <a:solidFill>
                  <a:srgbClr val="E8A33D"/>
                </a:solidFill>
                <a:latin typeface="Cambria"/>
              </a:rPr>
              <a:t>0</a:t>
            </a:r>
          </a:p>
        </p:txBody>
      </p:sp>
      <p:sp>
        <p:nvSpPr>
          <p:cNvPr id="11" name="Calls label 2"/>
          <p:cNvSpPr txBox="1"/>
          <p:nvPr/>
        </p:nvSpPr>
        <p:spPr>
          <a:xfrm>
            <a:off x="5257799"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12" name="Case 2"/>
          <p:cNvSpPr txBox="1"/>
          <p:nvPr/>
        </p:nvSpPr>
        <p:spPr>
          <a:xfrm>
            <a:off x="4617719"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Click again, nothing changed</a:t>
            </a:r>
          </a:p>
        </p:txBody>
      </p:sp>
      <p:sp>
        <p:nvSpPr>
          <p:cNvPr id="13" name="Case note 2"/>
          <p:cNvSpPr txBox="1"/>
          <p:nvPr/>
        </p:nvSpPr>
        <p:spPr>
          <a:xfrm>
            <a:off x="4617719"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All seven load straight from the database.</a:t>
            </a:r>
          </a:p>
        </p:txBody>
      </p:sp>
      <p:sp>
        <p:nvSpPr>
          <p:cNvPr id="14" name="Case card 3"/>
          <p:cNvSpPr/>
          <p:nvPr/>
        </p:nvSpPr>
        <p:spPr>
          <a:xfrm>
            <a:off x="8046719" y="1783080"/>
            <a:ext cx="3474720" cy="315468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Calls 3"/>
          <p:cNvSpPr txBox="1"/>
          <p:nvPr/>
        </p:nvSpPr>
        <p:spPr>
          <a:xfrm>
            <a:off x="8366759" y="1965960"/>
            <a:ext cx="1645920" cy="1097280"/>
          </a:xfrm>
          <a:prstGeom prst="rect">
            <a:avLst/>
          </a:prstGeom>
          <a:noFill/>
        </p:spPr>
        <p:txBody>
          <a:bodyPr wrap="square" anchor="t" lIns="0" rIns="0" tIns="0" bIns="0">
            <a:spAutoFit/>
          </a:bodyPr>
          <a:lstStyle/>
          <a:p>
            <a:pPr algn="l">
              <a:spcAft>
                <a:spcPts val="600"/>
              </a:spcAft>
            </a:pPr>
            <a:r>
              <a:rPr sz="6400" b="1" i="0">
                <a:solidFill>
                  <a:srgbClr val="E8A33D"/>
                </a:solidFill>
                <a:latin typeface="Cambria"/>
              </a:rPr>
              <a:t>1</a:t>
            </a:r>
          </a:p>
        </p:txBody>
      </p:sp>
      <p:sp>
        <p:nvSpPr>
          <p:cNvPr id="16" name="Calls label 3"/>
          <p:cNvSpPr txBox="1"/>
          <p:nvPr/>
        </p:nvSpPr>
        <p:spPr>
          <a:xfrm>
            <a:off x="9006840" y="2395728"/>
            <a:ext cx="1920240" cy="45720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AI calls</a:t>
            </a:r>
          </a:p>
        </p:txBody>
      </p:sp>
      <p:sp>
        <p:nvSpPr>
          <p:cNvPr id="17" name="Case 3"/>
          <p:cNvSpPr txBox="1"/>
          <p:nvPr/>
        </p:nvSpPr>
        <p:spPr>
          <a:xfrm>
            <a:off x="8366759" y="3154680"/>
            <a:ext cx="2926080" cy="457200"/>
          </a:xfrm>
          <a:prstGeom prst="rect">
            <a:avLst/>
          </a:prstGeom>
          <a:noFill/>
        </p:spPr>
        <p:txBody>
          <a:bodyPr wrap="square" anchor="t" lIns="0" rIns="0" tIns="0" bIns="0">
            <a:spAutoFit/>
          </a:bodyPr>
          <a:lstStyle/>
          <a:p>
            <a:pPr algn="l">
              <a:spcAft>
                <a:spcPts val="600"/>
              </a:spcAft>
            </a:pPr>
            <a:r>
              <a:rPr sz="1800" b="1" i="0">
                <a:solidFill>
                  <a:srgbClr val="1F2A30"/>
                </a:solidFill>
                <a:latin typeface="Calibri"/>
              </a:rPr>
              <a:t>One scenario edited</a:t>
            </a:r>
          </a:p>
        </p:txBody>
      </p:sp>
      <p:sp>
        <p:nvSpPr>
          <p:cNvPr id="18" name="Case note 3"/>
          <p:cNvSpPr txBox="1"/>
          <p:nvPr/>
        </p:nvSpPr>
        <p:spPr>
          <a:xfrm>
            <a:off x="8366759" y="3611880"/>
            <a:ext cx="2880360" cy="1188720"/>
          </a:xfrm>
          <a:prstGeom prst="rect">
            <a:avLst/>
          </a:prstGeom>
          <a:noFill/>
        </p:spPr>
        <p:txBody>
          <a:bodyPr wrap="square" anchor="t" lIns="0" rIns="0" tIns="0" bIns="0">
            <a:spAutoFit/>
          </a:bodyPr>
          <a:lstStyle/>
          <a:p>
            <a:pPr algn="l">
              <a:spcAft>
                <a:spcPts val="600"/>
              </a:spcAft>
            </a:pPr>
            <a:r>
              <a:rPr sz="1500" b="0" i="0">
                <a:solidFill>
                  <a:srgbClr val="5B6B73"/>
                </a:solidFill>
                <a:latin typeface="Calibri"/>
              </a:rPr>
              <a:t>Translate that one. Load the other six from the database.</a:t>
            </a:r>
          </a:p>
        </p:txBody>
      </p:sp>
      <p:sp>
        <p:nvSpPr>
          <p:cNvPr id="19" name="Saving callout"/>
          <p:cNvSpPr/>
          <p:nvPr/>
        </p:nvSpPr>
        <p:spPr>
          <a:xfrm>
            <a:off x="548640" y="5257800"/>
            <a:ext cx="11064240" cy="73152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200"/>
              </a:spcAft>
            </a:pPr>
            <a:r>
              <a:rPr sz="1600" b="1" i="0">
                <a:solidFill>
                  <a:srgbClr val="12343B"/>
                </a:solidFill>
                <a:latin typeface="Calibri"/>
              </a:rPr>
              <a:t>Measured:  </a:t>
            </a:r>
            <a:r>
              <a:rPr sz="1600" b="0" i="0">
                <a:solidFill>
                  <a:srgbClr val="1F2A30"/>
                </a:solidFill>
                <a:latin typeface="Calibri"/>
              </a:rPr>
              <a:t>a repeat run of all 7 Motor scenarios loaded in 0.4 s with 0 tokens. Editing one scenario costs about 4,700 tokens instead of 33,000.</a:t>
            </a:r>
          </a:p>
        </p:txBody>
      </p:sp>
      <p:sp>
        <p:nvSpPr>
          <p:cNvPr id="20"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21"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How it works, for each scenario</a:t>
            </a:r>
          </a:p>
        </p:txBody>
      </p:sp>
      <p:sp>
        <p:nvSpPr>
          <p:cNvPr id="3" name="Step click"/>
          <p:cNvSpPr/>
          <p:nvPr/>
        </p:nvSpPr>
        <p:spPr>
          <a:xfrm>
            <a:off x="502920" y="2628900"/>
            <a:ext cx="1965960"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CADCDB"/>
                </a:solidFill>
                <a:latin typeface="Calibri"/>
              </a:rPr>
              <a:t>User clicks</a:t>
            </a:r>
          </a:p>
          <a:p>
            <a:pPr algn="ctr">
              <a:spcAft>
                <a:spcPts val="200"/>
              </a:spcAft>
            </a:pPr>
            <a:r>
              <a:rPr sz="1400" b="1" i="0">
                <a:solidFill>
                  <a:srgbClr val="FFFFFF"/>
                </a:solidFill>
                <a:latin typeface="Calibri"/>
              </a:rPr>
              <a:t>Request AI Translator</a:t>
            </a:r>
          </a:p>
        </p:txBody>
      </p:sp>
      <p:sp>
        <p:nvSpPr>
          <p:cNvPr id="4" name="Step fingerprint"/>
          <p:cNvSpPr/>
          <p:nvPr/>
        </p:nvSpPr>
        <p:spPr>
          <a:xfrm>
            <a:off x="2788920" y="2628900"/>
            <a:ext cx="1965960" cy="8686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5B6B73"/>
                </a:solidFill>
                <a:latin typeface="Calibri"/>
              </a:rPr>
              <a:t>Build the</a:t>
            </a:r>
          </a:p>
          <a:p>
            <a:pPr algn="ctr">
              <a:spcAft>
                <a:spcPts val="200"/>
              </a:spcAft>
            </a:pPr>
            <a:r>
              <a:rPr sz="1500" b="1" i="0">
                <a:solidFill>
                  <a:srgbClr val="1F2A30"/>
                </a:solidFill>
                <a:latin typeface="Calibri"/>
              </a:rPr>
              <a:t>fingerprint</a:t>
            </a:r>
          </a:p>
        </p:txBody>
      </p:sp>
      <p:sp>
        <p:nvSpPr>
          <p:cNvPr id="5" name="Decision saved"/>
          <p:cNvSpPr/>
          <p:nvPr/>
        </p:nvSpPr>
        <p:spPr>
          <a:xfrm>
            <a:off x="5074920" y="2400300"/>
            <a:ext cx="1828800" cy="1325880"/>
          </a:xfrm>
          <a:prstGeom prst="diamond">
            <a:avLst/>
          </a:prstGeom>
          <a:solidFill>
            <a:srgbClr val="FFFFFF"/>
          </a:solidFill>
          <a:ln w="15875">
            <a:solidFill>
              <a:srgbClr val="1D7874"/>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200"/>
              </a:spcAft>
            </a:pPr>
            <a:r>
              <a:rPr sz="1400" b="1" i="0">
                <a:solidFill>
                  <a:srgbClr val="1F2A30"/>
                </a:solidFill>
                <a:latin typeface="Calibri"/>
              </a:rPr>
              <a:t>Already saved?</a:t>
            </a:r>
          </a:p>
        </p:txBody>
      </p:sp>
      <p:sp>
        <p:nvSpPr>
          <p:cNvPr id="6" name="Step load"/>
          <p:cNvSpPr/>
          <p:nvPr/>
        </p:nvSpPr>
        <p:spPr>
          <a:xfrm>
            <a:off x="7360920" y="1165860"/>
            <a:ext cx="2057400" cy="868680"/>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1F2A30"/>
                </a:solidFill>
                <a:latin typeface="Calibri"/>
              </a:rPr>
              <a:t>Load from database</a:t>
            </a:r>
          </a:p>
          <a:p>
            <a:pPr algn="ctr">
              <a:spcAft>
                <a:spcPts val="200"/>
              </a:spcAft>
            </a:pPr>
            <a:r>
              <a:rPr sz="1300" b="0" i="0">
                <a:solidFill>
                  <a:srgbClr val="1F2A30"/>
                </a:solidFill>
                <a:latin typeface="Calibri"/>
              </a:rPr>
              <a:t>0 tokens, instant</a:t>
            </a:r>
          </a:p>
        </p:txBody>
      </p:sp>
      <p:sp>
        <p:nvSpPr>
          <p:cNvPr id="7" name="Step call AI"/>
          <p:cNvSpPr/>
          <p:nvPr/>
        </p:nvSpPr>
        <p:spPr>
          <a:xfrm>
            <a:off x="7360920" y="3909060"/>
            <a:ext cx="2057400" cy="868680"/>
          </a:xfrm>
          <a:prstGeom prst="roundRect">
            <a:avLst>
              <a:gd name="adj" fmla="val 12000"/>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FFFFFF"/>
                </a:solidFill>
                <a:latin typeface="Calibri"/>
              </a:rPr>
              <a:t>Call the AI (Groq)</a:t>
            </a:r>
          </a:p>
          <a:p>
            <a:pPr algn="ctr">
              <a:spcAft>
                <a:spcPts val="200"/>
              </a:spcAft>
            </a:pPr>
            <a:r>
              <a:rPr sz="1300" b="0" i="0">
                <a:solidFill>
                  <a:srgbClr val="DCEBEA"/>
                </a:solidFill>
                <a:latin typeface="Calibri"/>
              </a:rPr>
              <a:t>uses tokens</a:t>
            </a:r>
          </a:p>
        </p:txBody>
      </p:sp>
      <p:sp>
        <p:nvSpPr>
          <p:cNvPr id="8" name="Step save"/>
          <p:cNvSpPr/>
          <p:nvPr/>
        </p:nvSpPr>
        <p:spPr>
          <a:xfrm>
            <a:off x="9784080" y="3909060"/>
            <a:ext cx="1874519" cy="8686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300" b="0" i="0">
                <a:solidFill>
                  <a:srgbClr val="5B6B73"/>
                </a:solidFill>
                <a:latin typeface="Calibri"/>
              </a:rPr>
              <a:t>Save to</a:t>
            </a:r>
          </a:p>
          <a:p>
            <a:pPr algn="ctr">
              <a:spcAft>
                <a:spcPts val="200"/>
              </a:spcAft>
            </a:pPr>
            <a:r>
              <a:rPr sz="1500" b="1" i="0">
                <a:solidFill>
                  <a:srgbClr val="1F2A30"/>
                </a:solidFill>
                <a:latin typeface="Calibri"/>
              </a:rPr>
              <a:t>database</a:t>
            </a:r>
          </a:p>
        </p:txBody>
      </p:sp>
      <p:sp>
        <p:nvSpPr>
          <p:cNvPr id="9" name="Step show"/>
          <p:cNvSpPr/>
          <p:nvPr/>
        </p:nvSpPr>
        <p:spPr>
          <a:xfrm>
            <a:off x="9784080" y="1165860"/>
            <a:ext cx="1874519" cy="86868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500" b="1" i="0">
                <a:solidFill>
                  <a:srgbClr val="FFFFFF"/>
                </a:solidFill>
                <a:latin typeface="Calibri"/>
              </a:rPr>
              <a:t>Show result</a:t>
            </a:r>
          </a:p>
        </p:txBody>
      </p:sp>
      <p:cxnSp>
        <p:nvCxnSpPr>
          <p:cNvPr id="10" name="Connector 9"/>
          <p:cNvCxnSpPr/>
          <p:nvPr/>
        </p:nvCxnSpPr>
        <p:spPr>
          <a:xfrm>
            <a:off x="2468880" y="3063240"/>
            <a:ext cx="32004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4754880" y="3063240"/>
            <a:ext cx="32004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5989320" y="1600200"/>
            <a:ext cx="0" cy="800100"/>
          </a:xfrm>
          <a:prstGeom prst="line">
            <a:avLst/>
          </a:prstGeom>
          <a:ln w="25400">
            <a:solidFill>
              <a:srgbClr val="1D7874"/>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989320" y="1600200"/>
            <a:ext cx="137160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989320" y="3726180"/>
            <a:ext cx="0" cy="617220"/>
          </a:xfrm>
          <a:prstGeom prst="line">
            <a:avLst/>
          </a:prstGeom>
          <a:ln w="25400">
            <a:solidFill>
              <a:srgbClr val="1D7874"/>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989320" y="4343400"/>
            <a:ext cx="137160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418320" y="1600200"/>
            <a:ext cx="36576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418320" y="4343400"/>
            <a:ext cx="365760"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0721340" y="2034540"/>
            <a:ext cx="0" cy="187452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Label yes"/>
          <p:cNvSpPr txBox="1"/>
          <p:nvPr/>
        </p:nvSpPr>
        <p:spPr>
          <a:xfrm>
            <a:off x="6099048" y="1216152"/>
            <a:ext cx="822960" cy="320040"/>
          </a:xfrm>
          <a:prstGeom prst="rect">
            <a:avLst/>
          </a:prstGeom>
          <a:noFill/>
        </p:spPr>
        <p:txBody>
          <a:bodyPr wrap="square" anchor="t" lIns="0" rIns="0" tIns="0" bIns="0">
            <a:spAutoFit/>
          </a:bodyPr>
          <a:lstStyle/>
          <a:p>
            <a:pPr algn="l">
              <a:spcAft>
                <a:spcPts val="600"/>
              </a:spcAft>
            </a:pPr>
            <a:r>
              <a:rPr sz="1300" b="1" i="0">
                <a:solidFill>
                  <a:srgbClr val="1D7874"/>
                </a:solidFill>
                <a:latin typeface="Calibri"/>
              </a:rPr>
              <a:t>Yes</a:t>
            </a:r>
          </a:p>
        </p:txBody>
      </p:sp>
      <p:sp>
        <p:nvSpPr>
          <p:cNvPr id="20" name="Label no"/>
          <p:cNvSpPr txBox="1"/>
          <p:nvPr/>
        </p:nvSpPr>
        <p:spPr>
          <a:xfrm>
            <a:off x="6099048" y="3959352"/>
            <a:ext cx="822960" cy="320040"/>
          </a:xfrm>
          <a:prstGeom prst="rect">
            <a:avLst/>
          </a:prstGeom>
          <a:noFill/>
        </p:spPr>
        <p:txBody>
          <a:bodyPr wrap="square" anchor="t" lIns="0" rIns="0" tIns="0" bIns="0">
            <a:spAutoFit/>
          </a:bodyPr>
          <a:lstStyle/>
          <a:p>
            <a:pPr algn="l">
              <a:spcAft>
                <a:spcPts val="600"/>
              </a:spcAft>
            </a:pPr>
            <a:r>
              <a:rPr sz="1300" b="1" i="0">
                <a:solidFill>
                  <a:srgbClr val="1D7874"/>
                </a:solidFill>
                <a:latin typeface="Calibri"/>
              </a:rPr>
              <a:t>No</a:t>
            </a:r>
          </a:p>
        </p:txBody>
      </p:sp>
      <p:sp>
        <p:nvSpPr>
          <p:cNvPr id="21" name="Note loop"/>
          <p:cNvSpPr/>
          <p:nvPr/>
        </p:nvSpPr>
        <p:spPr>
          <a:xfrm>
            <a:off x="548640" y="5349240"/>
            <a:ext cx="5349240" cy="73152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1F2A30"/>
                </a:solidFill>
                <a:latin typeface="Calibri"/>
              </a:rPr>
              <a:t>Repeats for all 7 scenarios, </a:t>
            </a:r>
            <a:r>
              <a:rPr sz="1400" b="0" i="0">
                <a:solidFill>
                  <a:srgbClr val="1F2A30"/>
                </a:solidFill>
                <a:latin typeface="Calibri"/>
              </a:rPr>
              <a:t>then shows a short summary.</a:t>
            </a:r>
          </a:p>
        </p:txBody>
      </p:sp>
      <p:sp>
        <p:nvSpPr>
          <p:cNvPr id="22" name="Note failures"/>
          <p:cNvSpPr/>
          <p:nvPr/>
        </p:nvSpPr>
        <p:spPr>
          <a:xfrm>
            <a:off x="6263640" y="5349240"/>
            <a:ext cx="5349240" cy="73152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82880" bIns="182880"/>
          <a:lstStyle/>
          <a:p>
            <a:pPr algn="l">
              <a:spcAft>
                <a:spcPts val="200"/>
              </a:spcAft>
            </a:pPr>
            <a:r>
              <a:rPr sz="1400" b="1" i="0">
                <a:solidFill>
                  <a:srgbClr val="1F2A30"/>
                </a:solidFill>
                <a:latin typeface="Calibri"/>
              </a:rPr>
              <a:t>A failed AI call is never saved. </a:t>
            </a:r>
            <a:r>
              <a:rPr sz="1400" b="0" i="0">
                <a:solidFill>
                  <a:srgbClr val="1F2A30"/>
                </a:solidFill>
                <a:latin typeface="Calibri"/>
              </a:rPr>
              <a:t>It shows as an error, so it is retried next time.</a:t>
            </a:r>
          </a:p>
        </p:txBody>
      </p:sp>
      <p:sp>
        <p:nvSpPr>
          <p:cNvPr id="23"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24"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The fingerprint decides: reuse or translate</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Same inputs give the same code. Change one letter and the code changes</a:t>
            </a:r>
          </a:p>
        </p:txBody>
      </p:sp>
      <p:sp>
        <p:nvSpPr>
          <p:cNvPr id="4" name="Badge 1"/>
          <p:cNvSpPr/>
          <p:nvPr/>
        </p:nvSpPr>
        <p:spPr>
          <a:xfrm>
            <a:off x="548640" y="1783080"/>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1</a:t>
            </a:r>
          </a:p>
        </p:txBody>
      </p:sp>
      <p:sp>
        <p:nvSpPr>
          <p:cNvPr id="5" name="Input 1"/>
          <p:cNvSpPr/>
          <p:nvPr/>
        </p:nvSpPr>
        <p:spPr>
          <a:xfrm>
            <a:off x="1143000" y="1783080"/>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Scenario text</a:t>
            </a:r>
          </a:p>
        </p:txBody>
      </p:sp>
      <p:sp>
        <p:nvSpPr>
          <p:cNvPr id="6" name="Badge 2"/>
          <p:cNvSpPr/>
          <p:nvPr/>
        </p:nvSpPr>
        <p:spPr>
          <a:xfrm>
            <a:off x="548640" y="2404872"/>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2</a:t>
            </a:r>
          </a:p>
        </p:txBody>
      </p:sp>
      <p:sp>
        <p:nvSpPr>
          <p:cNvPr id="7" name="Input 2"/>
          <p:cNvSpPr/>
          <p:nvPr/>
        </p:nvSpPr>
        <p:spPr>
          <a:xfrm>
            <a:off x="1143000" y="2404872"/>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Scenarios it refers to</a:t>
            </a:r>
          </a:p>
        </p:txBody>
      </p:sp>
      <p:sp>
        <p:nvSpPr>
          <p:cNvPr id="8" name="Badge 3"/>
          <p:cNvSpPr/>
          <p:nvPr/>
        </p:nvSpPr>
        <p:spPr>
          <a:xfrm>
            <a:off x="548640" y="3026664"/>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3</a:t>
            </a:r>
          </a:p>
        </p:txBody>
      </p:sp>
      <p:sp>
        <p:nvSpPr>
          <p:cNvPr id="9" name="Input 3"/>
          <p:cNvSpPr/>
          <p:nvPr/>
        </p:nvSpPr>
        <p:spPr>
          <a:xfrm>
            <a:off x="1143000" y="3026664"/>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Property list</a:t>
            </a:r>
          </a:p>
        </p:txBody>
      </p:sp>
      <p:sp>
        <p:nvSpPr>
          <p:cNvPr id="10" name="Badge 4"/>
          <p:cNvSpPr/>
          <p:nvPr/>
        </p:nvSpPr>
        <p:spPr>
          <a:xfrm>
            <a:off x="548640" y="3648456"/>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4</a:t>
            </a:r>
          </a:p>
        </p:txBody>
      </p:sp>
      <p:sp>
        <p:nvSpPr>
          <p:cNvPr id="11" name="Input 4"/>
          <p:cNvSpPr/>
          <p:nvPr/>
        </p:nvSpPr>
        <p:spPr>
          <a:xfrm>
            <a:off x="1143000" y="3648456"/>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Model and output type</a:t>
            </a:r>
          </a:p>
        </p:txBody>
      </p:sp>
      <p:sp>
        <p:nvSpPr>
          <p:cNvPr id="12" name="Badge 5"/>
          <p:cNvSpPr/>
          <p:nvPr/>
        </p:nvSpPr>
        <p:spPr>
          <a:xfrm>
            <a:off x="548640" y="4270248"/>
            <a:ext cx="457200" cy="45720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400" b="1" i="0">
                <a:solidFill>
                  <a:srgbClr val="FFFFFF"/>
                </a:solidFill>
                <a:latin typeface="Calibri"/>
              </a:rPr>
              <a:t>5</a:t>
            </a:r>
          </a:p>
        </p:txBody>
      </p:sp>
      <p:sp>
        <p:nvSpPr>
          <p:cNvPr id="13" name="Input 5"/>
          <p:cNvSpPr/>
          <p:nvPr/>
        </p:nvSpPr>
        <p:spPr>
          <a:xfrm>
            <a:off x="1143000" y="4270248"/>
            <a:ext cx="2697480" cy="45720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l">
              <a:spcAft>
                <a:spcPts val="200"/>
              </a:spcAft>
            </a:pPr>
            <a:r>
              <a:rPr sz="1400" b="0" i="0">
                <a:solidFill>
                  <a:srgbClr val="1F2A30"/>
                </a:solidFill>
                <a:latin typeface="Calibri"/>
              </a:rPr>
              <a:t>Translation rule version</a:t>
            </a:r>
          </a:p>
        </p:txBody>
      </p:sp>
      <p:cxnSp>
        <p:nvCxnSpPr>
          <p:cNvPr id="14" name="Connector 13"/>
          <p:cNvCxnSpPr/>
          <p:nvPr/>
        </p:nvCxnSpPr>
        <p:spPr>
          <a:xfrm>
            <a:off x="3977639" y="3246120"/>
            <a:ext cx="548641" cy="0"/>
          </a:xfrm>
          <a:prstGeom prst="line">
            <a:avLst/>
          </a:prstGeom>
          <a:ln w="25400">
            <a:solidFill>
              <a:srgbClr val="1D787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Fingerprint"/>
          <p:cNvSpPr/>
          <p:nvPr/>
        </p:nvSpPr>
        <p:spPr>
          <a:xfrm>
            <a:off x="4526280" y="2377440"/>
            <a:ext cx="2926080" cy="173736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91440" bIns="91440"/>
          <a:lstStyle/>
          <a:p>
            <a:pPr algn="ctr">
              <a:spcAft>
                <a:spcPts val="200"/>
              </a:spcAft>
            </a:pPr>
            <a:r>
              <a:rPr sz="1800" b="1" i="0">
                <a:solidFill>
                  <a:srgbClr val="FFFFFF"/>
                </a:solidFill>
                <a:latin typeface="Calibri"/>
              </a:rPr>
              <a:t>Fingerprint</a:t>
            </a:r>
          </a:p>
          <a:p>
            <a:pPr algn="ctr">
              <a:spcAft>
                <a:spcPts val="200"/>
              </a:spcAft>
            </a:pPr>
            <a:r>
              <a:rPr sz="1400" b="0" i="0">
                <a:solidFill>
                  <a:srgbClr val="E8A33D"/>
                </a:solidFill>
                <a:latin typeface="Courier New"/>
              </a:rPr>
              <a:t>7f3a 9c21 ... c91e</a:t>
            </a:r>
          </a:p>
          <a:p>
            <a:pPr algn="ctr">
              <a:spcAft>
                <a:spcPts val="200"/>
              </a:spcAft>
            </a:pPr>
            <a:r>
              <a:rPr sz="1200" b="0" i="0">
                <a:solidFill>
                  <a:srgbClr val="CADCDB"/>
                </a:solidFill>
                <a:latin typeface="Calibri"/>
              </a:rPr>
              <a:t>SHA-256 code</a:t>
            </a:r>
          </a:p>
        </p:txBody>
      </p:sp>
      <p:sp>
        <p:nvSpPr>
          <p:cNvPr id="16" name="Catch card"/>
          <p:cNvSpPr/>
          <p:nvPr/>
        </p:nvSpPr>
        <p:spPr>
          <a:xfrm>
            <a:off x="7863840" y="1783080"/>
            <a:ext cx="3749039" cy="205740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Catch head"/>
          <p:cNvSpPr txBox="1"/>
          <p:nvPr/>
        </p:nvSpPr>
        <p:spPr>
          <a:xfrm>
            <a:off x="8092440" y="1920240"/>
            <a:ext cx="338328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The catch it handles</a:t>
            </a:r>
          </a:p>
        </p:txBody>
      </p:sp>
      <p:sp>
        <p:nvSpPr>
          <p:cNvPr id="18" name="Catch body"/>
          <p:cNvSpPr txBox="1"/>
          <p:nvPr/>
        </p:nvSpPr>
        <p:spPr>
          <a:xfrm>
            <a:off x="8092440" y="2331720"/>
            <a:ext cx="3337560" cy="1463040"/>
          </a:xfrm>
          <a:prstGeom prst="rect">
            <a:avLst/>
          </a:prstGeom>
          <a:noFill/>
        </p:spPr>
        <p:txBody>
          <a:bodyPr wrap="square" anchor="t" lIns="0" rIns="0" tIns="0" bIns="0">
            <a:spAutoFit/>
          </a:bodyPr>
          <a:lstStyle/>
          <a:p>
            <a:pPr algn="l">
              <a:spcAft>
                <a:spcPts val="500"/>
              </a:spcAft>
            </a:pPr>
            <a:r>
              <a:rPr sz="1300" b="0" i="0">
                <a:solidFill>
                  <a:srgbClr val="1F2A30"/>
                </a:solidFill>
                <a:latin typeface="Calibri"/>
              </a:rPr>
              <a:t>Operation refers to Auto Run Ready. Edit Auto Run Ready and Operation's answer must change too - even though its own text did not.</a:t>
            </a:r>
          </a:p>
          <a:p>
            <a:pPr algn="l">
              <a:spcAft>
                <a:spcPts val="500"/>
              </a:spcAft>
            </a:pPr>
            <a:r>
              <a:rPr sz="1300" b="1" i="0">
                <a:solidFill>
                  <a:srgbClr val="1F2A30"/>
                </a:solidFill>
                <a:latin typeface="Calibri"/>
              </a:rPr>
              <a:t>Because input 2 is included, both are refreshed.</a:t>
            </a:r>
          </a:p>
        </p:txBody>
      </p:sp>
      <p:sp>
        <p:nvSpPr>
          <p:cNvPr id="19" name="Change card"/>
          <p:cNvSpPr/>
          <p:nvPr/>
        </p:nvSpPr>
        <p:spPr>
          <a:xfrm>
            <a:off x="7863840" y="4023360"/>
            <a:ext cx="3749039" cy="196596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Change head"/>
          <p:cNvSpPr txBox="1"/>
          <p:nvPr/>
        </p:nvSpPr>
        <p:spPr>
          <a:xfrm>
            <a:off x="8092440" y="4160520"/>
            <a:ext cx="338328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Change made</a:t>
            </a:r>
          </a:p>
        </p:txBody>
      </p:sp>
      <p:sp>
        <p:nvSpPr>
          <p:cNvPr id="21" name="Change body"/>
          <p:cNvSpPr txBox="1"/>
          <p:nvPr/>
        </p:nvSpPr>
        <p:spPr>
          <a:xfrm>
            <a:off x="8092440" y="4572000"/>
            <a:ext cx="3337560" cy="1371600"/>
          </a:xfrm>
          <a:prstGeom prst="rect">
            <a:avLst/>
          </a:prstGeom>
          <a:noFill/>
        </p:spPr>
        <p:txBody>
          <a:bodyPr wrap="square" anchor="t" lIns="0" rIns="0" tIns="0" bIns="0">
            <a:spAutoFit/>
          </a:bodyPr>
          <a:lstStyle/>
          <a:p>
            <a:pPr algn="l">
              <a:spcAft>
                <a:spcPts val="500"/>
              </a:spcAft>
            </a:pPr>
            <a:r>
              <a:rPr sz="1300" b="0" i="0">
                <a:solidFill>
                  <a:srgbClr val="1F2A30"/>
                </a:solidFill>
                <a:latin typeface="Calibri"/>
              </a:rPr>
              <a:t>Requests used to carry all 7 scenarios, so one edit changed all 7 fingerprints. Now only the scenarios actually mentioned are sent.</a:t>
            </a:r>
          </a:p>
          <a:p>
            <a:pPr algn="l">
              <a:spcAft>
                <a:spcPts val="500"/>
              </a:spcAft>
            </a:pPr>
            <a:r>
              <a:rPr sz="1300" b="1" i="0">
                <a:solidFill>
                  <a:srgbClr val="1F2A30"/>
                </a:solidFill>
                <a:latin typeface="Calibri"/>
              </a:rPr>
              <a:t>Bonus: smaller requests on every call.</a:t>
            </a:r>
          </a:p>
        </p:txBody>
      </p:sp>
      <p:sp>
        <p:nvSpPr>
          <p:cNvPr id="22" name="Rule note"/>
          <p:cNvSpPr txBox="1"/>
          <p:nvPr/>
        </p:nvSpPr>
        <p:spPr>
          <a:xfrm>
            <a:off x="548640" y="5120640"/>
            <a:ext cx="6949440" cy="731520"/>
          </a:xfrm>
          <a:prstGeom prst="rect">
            <a:avLst/>
          </a:prstGeom>
          <a:noFill/>
        </p:spPr>
        <p:txBody>
          <a:bodyPr wrap="square" anchor="t" lIns="0" rIns="0" tIns="0" bIns="0">
            <a:spAutoFit/>
          </a:bodyPr>
          <a:lstStyle/>
          <a:p>
            <a:pPr algn="l">
              <a:spcAft>
                <a:spcPts val="600"/>
              </a:spcAft>
            </a:pPr>
            <a:r>
              <a:rPr sz="1400" b="0" i="0">
                <a:solidFill>
                  <a:srgbClr val="5B6B73"/>
                </a:solidFill>
                <a:latin typeface="Calibri"/>
              </a:rPr>
              <a:t>If anyone edits the translation rules, input 5 changes and old results are translated again instead of reused.</a:t>
            </a:r>
          </a:p>
        </p:txBody>
      </p:sp>
      <p:sp>
        <p:nvSpPr>
          <p:cNvPr id="23"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24"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Where it is stored</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A new table inside the existing XenCreator database - created and in use</a:t>
            </a:r>
          </a:p>
        </p:txBody>
      </p:sp>
      <p:sp>
        <p:nvSpPr>
          <p:cNvPr id="4" name="Level Server"/>
          <p:cNvSpPr/>
          <p:nvPr/>
        </p:nvSpPr>
        <p:spPr>
          <a:xfrm>
            <a:off x="548640" y="1783080"/>
            <a:ext cx="5120640" cy="77724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CADCDB"/>
                </a:solidFill>
                <a:latin typeface="Calibri"/>
              </a:rPr>
              <a:t>SERVER   </a:t>
            </a:r>
            <a:r>
              <a:rPr sz="1700" b="1" i="0">
                <a:solidFill>
                  <a:srgbClr val="FFFFFF"/>
                </a:solidFill>
                <a:latin typeface="Calibri"/>
              </a:rPr>
              <a:t>128.100.20.33\neptune</a:t>
            </a:r>
          </a:p>
        </p:txBody>
      </p:sp>
      <p:sp>
        <p:nvSpPr>
          <p:cNvPr id="5" name="Level Database"/>
          <p:cNvSpPr/>
          <p:nvPr/>
        </p:nvSpPr>
        <p:spPr>
          <a:xfrm>
            <a:off x="1051560" y="2743200"/>
            <a:ext cx="5120640" cy="777240"/>
          </a:xfrm>
          <a:prstGeom prst="roundRect">
            <a:avLst>
              <a:gd name="adj" fmla="val 12000"/>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DCEBEA"/>
                </a:solidFill>
                <a:latin typeface="Calibri"/>
              </a:rPr>
              <a:t>DATABASE   </a:t>
            </a:r>
            <a:r>
              <a:rPr sz="1700" b="1" i="0">
                <a:solidFill>
                  <a:srgbClr val="FFFFFF"/>
                </a:solidFill>
                <a:latin typeface="Calibri"/>
              </a:rPr>
              <a:t>XenCreator  (exists)</a:t>
            </a:r>
          </a:p>
        </p:txBody>
      </p:sp>
      <p:cxnSp>
        <p:nvCxnSpPr>
          <p:cNvPr id="6" name="Connector 5"/>
          <p:cNvCxnSpPr/>
          <p:nvPr/>
        </p:nvCxnSpPr>
        <p:spPr>
          <a:xfrm>
            <a:off x="777239" y="2560320"/>
            <a:ext cx="0" cy="566928"/>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777239" y="3127248"/>
            <a:ext cx="274321"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Level Schema"/>
          <p:cNvSpPr/>
          <p:nvPr/>
        </p:nvSpPr>
        <p:spPr>
          <a:xfrm>
            <a:off x="1554480" y="3703320"/>
            <a:ext cx="5120640" cy="7772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5B6B73"/>
                </a:solidFill>
                <a:latin typeface="Calibri"/>
              </a:rPr>
              <a:t>SCHEMA   </a:t>
            </a:r>
            <a:r>
              <a:rPr sz="1700" b="1" i="0">
                <a:solidFill>
                  <a:srgbClr val="1F2A30"/>
                </a:solidFill>
                <a:latin typeface="Calibri"/>
              </a:rPr>
              <a:t>dbo  (exists)</a:t>
            </a:r>
          </a:p>
        </p:txBody>
      </p:sp>
      <p:cxnSp>
        <p:nvCxnSpPr>
          <p:cNvPr id="9" name="Connector 8"/>
          <p:cNvCxnSpPr/>
          <p:nvPr/>
        </p:nvCxnSpPr>
        <p:spPr>
          <a:xfrm>
            <a:off x="1280160" y="3520439"/>
            <a:ext cx="0" cy="566929"/>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280160" y="4087368"/>
            <a:ext cx="274320"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Level Table"/>
          <p:cNvSpPr/>
          <p:nvPr/>
        </p:nvSpPr>
        <p:spPr>
          <a:xfrm>
            <a:off x="2057400" y="4663440"/>
            <a:ext cx="5120640" cy="777240"/>
          </a:xfrm>
          <a:prstGeom prst="roundRect">
            <a:avLst>
              <a:gd name="adj" fmla="val 12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200" b="1" i="0">
                <a:solidFill>
                  <a:srgbClr val="1F2A30"/>
                </a:solidFill>
                <a:latin typeface="Calibri"/>
              </a:rPr>
              <a:t>TABLE   </a:t>
            </a:r>
            <a:r>
              <a:rPr sz="1700" b="1" i="0">
                <a:solidFill>
                  <a:srgbClr val="1F2A30"/>
                </a:solidFill>
                <a:latin typeface="Calibri"/>
              </a:rPr>
              <a:t>OutputXenTrans  (NEW)</a:t>
            </a:r>
          </a:p>
        </p:txBody>
      </p:sp>
      <p:cxnSp>
        <p:nvCxnSpPr>
          <p:cNvPr id="12" name="Connector 11"/>
          <p:cNvCxnSpPr/>
          <p:nvPr/>
        </p:nvCxnSpPr>
        <p:spPr>
          <a:xfrm>
            <a:off x="1783080" y="4480560"/>
            <a:ext cx="0" cy="566928"/>
          </a:xfrm>
          <a:prstGeom prst="line">
            <a:avLst/>
          </a:prstGeom>
          <a:ln w="19050">
            <a:solidFill>
              <a:srgbClr val="C9D6D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783080" y="5047488"/>
            <a:ext cx="274320" cy="0"/>
          </a:xfrm>
          <a:prstGeom prst="line">
            <a:avLst/>
          </a:prstGeom>
          <a:ln w="19050">
            <a:solidFill>
              <a:srgbClr val="C9D6D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Name card"/>
          <p:cNvSpPr/>
          <p:nvPr/>
        </p:nvSpPr>
        <p:spPr>
          <a:xfrm>
            <a:off x="7315200" y="1783080"/>
            <a:ext cx="4297680" cy="155448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Name head"/>
          <p:cNvSpPr txBox="1"/>
          <p:nvPr/>
        </p:nvSpPr>
        <p:spPr>
          <a:xfrm>
            <a:off x="7543800" y="1920240"/>
            <a:ext cx="393192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Full name</a:t>
            </a:r>
          </a:p>
        </p:txBody>
      </p:sp>
      <p:sp>
        <p:nvSpPr>
          <p:cNvPr id="16" name="Full name"/>
          <p:cNvSpPr txBox="1"/>
          <p:nvPr/>
        </p:nvSpPr>
        <p:spPr>
          <a:xfrm>
            <a:off x="7543800" y="2286000"/>
            <a:ext cx="3931920" cy="457200"/>
          </a:xfrm>
          <a:prstGeom prst="rect">
            <a:avLst/>
          </a:prstGeom>
          <a:noFill/>
        </p:spPr>
        <p:txBody>
          <a:bodyPr wrap="square" anchor="t" lIns="0" rIns="0" tIns="0" bIns="0">
            <a:spAutoFit/>
          </a:bodyPr>
          <a:lstStyle/>
          <a:p>
            <a:pPr algn="l">
              <a:spcAft>
                <a:spcPts val="600"/>
              </a:spcAft>
            </a:pPr>
            <a:r>
              <a:rPr sz="1700" b="1" i="0">
                <a:solidFill>
                  <a:srgbClr val="12343B"/>
                </a:solidFill>
                <a:latin typeface="Courier New"/>
              </a:rPr>
              <a:t>XenCreator.dbo.OutputXenTrans</a:t>
            </a:r>
          </a:p>
        </p:txBody>
      </p:sp>
      <p:sp>
        <p:nvSpPr>
          <p:cNvPr id="17" name="Name note"/>
          <p:cNvSpPr txBox="1"/>
          <p:nvPr/>
        </p:nvSpPr>
        <p:spPr>
          <a:xfrm>
            <a:off x="7543800" y="2743200"/>
            <a:ext cx="3931920" cy="548640"/>
          </a:xfrm>
          <a:prstGeom prst="rect">
            <a:avLst/>
          </a:prstGeom>
          <a:noFill/>
        </p:spPr>
        <p:txBody>
          <a:bodyPr wrap="square" anchor="t" lIns="0" rIns="0" tIns="0" bIns="0">
            <a:spAutoFit/>
          </a:bodyPr>
          <a:lstStyle/>
          <a:p>
            <a:pPr algn="l">
              <a:spcAft>
                <a:spcPts val="600"/>
              </a:spcAft>
            </a:pPr>
            <a:r>
              <a:rPr sz="1200" b="0" i="0">
                <a:solidFill>
                  <a:srgbClr val="5B6B73"/>
                </a:solidFill>
                <a:latin typeface="Calibri"/>
              </a:rPr>
              <a:t>"OutputXenTrans.dbo" would read as a new database.</a:t>
            </a:r>
          </a:p>
        </p:txBody>
      </p:sp>
      <p:sp>
        <p:nvSpPr>
          <p:cNvPr id="18" name="History card"/>
          <p:cNvSpPr/>
          <p:nvPr/>
        </p:nvSpPr>
        <p:spPr>
          <a:xfrm>
            <a:off x="7315200" y="3566160"/>
            <a:ext cx="4297680" cy="233172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History head"/>
          <p:cNvSpPr txBox="1"/>
          <p:nvPr/>
        </p:nvSpPr>
        <p:spPr>
          <a:xfrm>
            <a:off x="7543800" y="3703320"/>
            <a:ext cx="3931920" cy="365760"/>
          </a:xfrm>
          <a:prstGeom prst="rect">
            <a:avLst/>
          </a:prstGeom>
          <a:noFill/>
        </p:spPr>
        <p:txBody>
          <a:bodyPr wrap="square" anchor="t" lIns="0" rIns="0" tIns="0" bIns="0">
            <a:spAutoFit/>
          </a:bodyPr>
          <a:lstStyle/>
          <a:p>
            <a:pPr algn="l">
              <a:spcAft>
                <a:spcPts val="600"/>
              </a:spcAft>
            </a:pPr>
            <a:r>
              <a:rPr sz="1600" b="1" i="0">
                <a:solidFill>
                  <a:srgbClr val="12343B"/>
                </a:solidFill>
                <a:latin typeface="Calibri"/>
              </a:rPr>
              <a:t>History is kept</a:t>
            </a:r>
          </a:p>
        </p:txBody>
      </p:sp>
      <p:sp>
        <p:nvSpPr>
          <p:cNvPr id="20" name="History body"/>
          <p:cNvSpPr txBox="1"/>
          <p:nvPr/>
        </p:nvSpPr>
        <p:spPr>
          <a:xfrm>
            <a:off x="7543800" y="4114800"/>
            <a:ext cx="3886200" cy="173736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Each run adds a row instead of overwriting one.</a:t>
            </a:r>
          </a:p>
          <a:p>
            <a:pPr algn="l">
              <a:spcAft>
                <a:spcPts val="600"/>
              </a:spcAft>
            </a:pPr>
            <a:r>
              <a:rPr sz="1400" b="0" i="0">
                <a:solidFill>
                  <a:srgbClr val="1F2A30"/>
                </a:solidFill>
                <a:latin typeface="Calibri"/>
              </a:rPr>
              <a:t>The app always loads the newest matching row.</a:t>
            </a:r>
          </a:p>
          <a:p>
            <a:pPr algn="l">
              <a:spcAft>
                <a:spcPts val="600"/>
              </a:spcAft>
            </a:pPr>
            <a:r>
              <a:rPr sz="1400" b="0" i="0">
                <a:solidFill>
                  <a:srgbClr val="1F2A30"/>
                </a:solidFill>
                <a:latin typeface="Calibri"/>
              </a:rPr>
              <a:t>Old rows stay, so runs and models can be compared later.</a:t>
            </a:r>
          </a:p>
        </p:txBody>
      </p:sp>
      <p:sp>
        <p:nvSpPr>
          <p:cNvPr id="21"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22"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one saved row holds</a:t>
            </a:r>
          </a:p>
        </p:txBody>
      </p:sp>
      <p:graphicFrame>
        <p:nvGraphicFramePr>
          <p:cNvPr id="3" name="Table"/>
          <p:cNvGraphicFramePr>
            <a:graphicFrameLocks noGrp="1"/>
          </p:cNvGraphicFramePr>
          <p:nvPr/>
        </p:nvGraphicFramePr>
        <p:xfrm>
          <a:off x="548640" y="1371600"/>
          <a:ext cx="11064240" cy="4325112"/>
        </p:xfrm>
        <a:graphic>
          <a:graphicData uri="http://schemas.openxmlformats.org/drawingml/2006/table">
            <a:tbl>
              <a:tblPr firstRow="0" bandRow="0">
                <a:tableStyleId>{5C22544A-7EE6-4342-B048-85BDC9FD1C3A}</a:tableStyleId>
              </a:tblPr>
              <a:tblGrid>
                <a:gridCol w="3291840"/>
                <a:gridCol w="4434840"/>
                <a:gridCol w="3337560"/>
              </a:tblGrid>
              <a:tr h="393192">
                <a:tc>
                  <a:txBody>
                    <a:bodyPr wrap="square"/>
                    <a:lstStyle/>
                    <a:p>
                      <a:r>
                        <a:rPr sz="1400" b="1" i="0">
                          <a:solidFill>
                            <a:srgbClr val="FFFFFF"/>
                          </a:solidFill>
                          <a:latin typeface="Calibri"/>
                        </a:rPr>
                        <a:t>Column</a:t>
                      </a:r>
                    </a:p>
                  </a:txBody>
                  <a:tcPr marL="91440" marR="91440" marT="36576" marB="36576" anchor="ctr">
                    <a:solidFill>
                      <a:srgbClr val="12343B"/>
                    </a:solidFill>
                  </a:tcPr>
                </a:tc>
                <a:tc>
                  <a:txBody>
                    <a:bodyPr wrap="square"/>
                    <a:lstStyle/>
                    <a:p>
                      <a:r>
                        <a:rPr sz="1400" b="1" i="0">
                          <a:solidFill>
                            <a:srgbClr val="FFFFFF"/>
                          </a:solidFill>
                          <a:latin typeface="Calibri"/>
                        </a:rPr>
                        <a:t>Holds</a:t>
                      </a:r>
                    </a:p>
                  </a:txBody>
                  <a:tcPr marL="91440" marR="91440" marT="36576" marB="36576" anchor="ctr">
                    <a:solidFill>
                      <a:srgbClr val="12343B"/>
                    </a:solidFill>
                  </a:tcPr>
                </a:tc>
                <a:tc>
                  <a:txBody>
                    <a:bodyPr wrap="square"/>
                    <a:lstStyle/>
                    <a:p>
                      <a:r>
                        <a:rPr sz="1400" b="1" i="0">
                          <a:solidFill>
                            <a:srgbClr val="FFFFFF"/>
                          </a:solidFill>
                          <a:latin typeface="Calibri"/>
                        </a:rPr>
                        <a:t>Example</a:t>
                      </a:r>
                    </a:p>
                  </a:txBody>
                  <a:tcPr marL="91440" marR="91440" marT="36576" marB="36576" anchor="ctr">
                    <a:solidFill>
                      <a:srgbClr val="12343B"/>
                    </a:solidFill>
                  </a:tcPr>
                </a:tc>
              </a:tr>
              <a:tr h="393192">
                <a:tc>
                  <a:txBody>
                    <a:bodyPr wrap="square"/>
                    <a:lstStyle/>
                    <a:p>
                      <a:r>
                        <a:rPr sz="1400" b="0" i="0">
                          <a:solidFill>
                            <a:srgbClr val="1F2A30"/>
                          </a:solidFill>
                          <a:latin typeface="Calibri"/>
                        </a:rPr>
                        <a:t>CacheKey</a:t>
                      </a:r>
                    </a:p>
                  </a:txBody>
                  <a:tcPr marL="91440" marR="91440" marT="36576" marB="36576" anchor="ctr">
                    <a:solidFill>
                      <a:srgbClr val="FFFFFF"/>
                    </a:solidFill>
                  </a:tcPr>
                </a:tc>
                <a:tc>
                  <a:txBody>
                    <a:bodyPr wrap="square"/>
                    <a:lstStyle/>
                    <a:p>
                      <a:r>
                        <a:rPr sz="1400" b="0" i="0">
                          <a:solidFill>
                            <a:srgbClr val="1F2A30"/>
                          </a:solidFill>
                          <a:latin typeface="Calibri"/>
                        </a:rPr>
                        <a:t>The fingerprint - used to find a match</a:t>
                      </a:r>
                    </a:p>
                  </a:txBody>
                  <a:tcPr marL="91440" marR="91440" marT="36576" marB="36576" anchor="ctr">
                    <a:solidFill>
                      <a:srgbClr val="FFFFFF"/>
                    </a:solidFill>
                  </a:tcPr>
                </a:tc>
                <a:tc>
                  <a:txBody>
                    <a:bodyPr wrap="square"/>
                    <a:lstStyle/>
                    <a:p>
                      <a:r>
                        <a:rPr sz="1300" b="0" i="0">
                          <a:solidFill>
                            <a:srgbClr val="1F2A30"/>
                          </a:solidFill>
                          <a:latin typeface="Courier New"/>
                        </a:rPr>
                        <a:t>7f3a9c21...c91e</a:t>
                      </a:r>
                    </a:p>
                  </a:txBody>
                  <a:tcPr marL="91440" marR="91440" marT="36576" marB="36576" anchor="ctr">
                    <a:solidFill>
                      <a:srgbClr val="FFFFFF"/>
                    </a:solidFill>
                  </a:tcPr>
                </a:tc>
              </a:tr>
              <a:tr h="393192">
                <a:tc>
                  <a:txBody>
                    <a:bodyPr wrap="square"/>
                    <a:lstStyle/>
                    <a:p>
                      <a:r>
                        <a:rPr sz="1400" b="0" i="0">
                          <a:solidFill>
                            <a:srgbClr val="1F2A30"/>
                          </a:solidFill>
                          <a:latin typeface="Calibri"/>
                        </a:rPr>
                        <a:t>Equipment, ScenarioName</a:t>
                      </a:r>
                    </a:p>
                  </a:txBody>
                  <a:tcPr marL="91440" marR="91440" marT="36576" marB="36576" anchor="ctr">
                    <a:solidFill>
                      <a:srgbClr val="F4F8F8"/>
                    </a:solidFill>
                  </a:tcPr>
                </a:tc>
                <a:tc>
                  <a:txBody>
                    <a:bodyPr wrap="square"/>
                    <a:lstStyle/>
                    <a:p>
                      <a:r>
                        <a:rPr sz="1400" b="0" i="0">
                          <a:solidFill>
                            <a:srgbClr val="1F2A30"/>
                          </a:solidFill>
                          <a:latin typeface="Calibri"/>
                        </a:rPr>
                        <a:t>Which scenario this is</a:t>
                      </a:r>
                    </a:p>
                  </a:txBody>
                  <a:tcPr marL="91440" marR="91440" marT="36576" marB="36576" anchor="ctr">
                    <a:solidFill>
                      <a:srgbClr val="F4F8F8"/>
                    </a:solidFill>
                  </a:tcPr>
                </a:tc>
                <a:tc>
                  <a:txBody>
                    <a:bodyPr wrap="square"/>
                    <a:lstStyle/>
                    <a:p>
                      <a:r>
                        <a:rPr sz="1300" b="0" i="0">
                          <a:solidFill>
                            <a:srgbClr val="1F2A30"/>
                          </a:solidFill>
                          <a:latin typeface="Courier New"/>
                        </a:rPr>
                        <a:t>Motor, Trip</a:t>
                      </a:r>
                    </a:p>
                  </a:txBody>
                  <a:tcPr marL="91440" marR="91440" marT="36576" marB="36576" anchor="ctr">
                    <a:solidFill>
                      <a:srgbClr val="F4F8F8"/>
                    </a:solidFill>
                  </a:tcPr>
                </a:tc>
              </a:tr>
              <a:tr h="393192">
                <a:tc>
                  <a:txBody>
                    <a:bodyPr wrap="square"/>
                    <a:lstStyle/>
                    <a:p>
                      <a:r>
                        <a:rPr sz="1400" b="0" i="0">
                          <a:solidFill>
                            <a:srgbClr val="1F2A30"/>
                          </a:solidFill>
                          <a:latin typeface="Calibri"/>
                        </a:rPr>
                        <a:t>ScenarioText</a:t>
                      </a:r>
                    </a:p>
                  </a:txBody>
                  <a:tcPr marL="91440" marR="91440" marT="36576" marB="36576" anchor="ctr">
                    <a:solidFill>
                      <a:srgbClr val="FFFFFF"/>
                    </a:solidFill>
                  </a:tcPr>
                </a:tc>
                <a:tc>
                  <a:txBody>
                    <a:bodyPr wrap="square"/>
                    <a:lstStyle/>
                    <a:p>
                      <a:r>
                        <a:rPr sz="1400" b="0" i="0">
                          <a:solidFill>
                            <a:srgbClr val="1F2A30"/>
                          </a:solidFill>
                          <a:latin typeface="Calibri"/>
                        </a:rPr>
                        <a:t>The scenario exactly as translated</a:t>
                      </a:r>
                    </a:p>
                  </a:txBody>
                  <a:tcPr marL="91440" marR="91440" marT="36576" marB="36576" anchor="ctr">
                    <a:solidFill>
                      <a:srgbClr val="FFFFFF"/>
                    </a:solidFill>
                  </a:tcPr>
                </a:tc>
                <a:tc>
                  <a:txBody>
                    <a:bodyPr wrap="square"/>
                    <a:lstStyle/>
                    <a:p>
                      <a:r>
                        <a:rPr sz="1300" b="0" i="0">
                          <a:solidFill>
                            <a:srgbClr val="1F2A30"/>
                          </a:solidFill>
                          <a:latin typeface="Courier New"/>
                        </a:rPr>
                        <a:t>When Trip Signal is On...</a:t>
                      </a:r>
                    </a:p>
                  </a:txBody>
                  <a:tcPr marL="91440" marR="91440" marT="36576" marB="36576" anchor="ctr">
                    <a:solidFill>
                      <a:srgbClr val="FFFFFF"/>
                    </a:solidFill>
                  </a:tcPr>
                </a:tc>
              </a:tr>
              <a:tr h="393192">
                <a:tc>
                  <a:txBody>
                    <a:bodyPr wrap="square"/>
                    <a:lstStyle/>
                    <a:p>
                      <a:r>
                        <a:rPr sz="1400" b="0" i="0">
                          <a:solidFill>
                            <a:srgbClr val="1F2A30"/>
                          </a:solidFill>
                          <a:latin typeface="Calibri"/>
                        </a:rPr>
                        <a:t>OutputTarget</a:t>
                      </a:r>
                    </a:p>
                  </a:txBody>
                  <a:tcPr marL="91440" marR="91440" marT="36576" marB="36576" anchor="ctr">
                    <a:solidFill>
                      <a:srgbClr val="F4F8F8"/>
                    </a:solidFill>
                  </a:tcPr>
                </a:tc>
                <a:tc>
                  <a:txBody>
                    <a:bodyPr wrap="square"/>
                    <a:lstStyle/>
                    <a:p>
                      <a:r>
                        <a:rPr sz="1400" b="0" i="0">
                          <a:solidFill>
                            <a:srgbClr val="1F2A30"/>
                          </a:solidFill>
                          <a:latin typeface="Calibri"/>
                        </a:rPr>
                        <a:t>Which output was asked for</a:t>
                      </a:r>
                    </a:p>
                  </a:txBody>
                  <a:tcPr marL="91440" marR="91440" marT="36576" marB="36576" anchor="ctr">
                    <a:solidFill>
                      <a:srgbClr val="F4F8F8"/>
                    </a:solidFill>
                  </a:tcPr>
                </a:tc>
                <a:tc>
                  <a:txBody>
                    <a:bodyPr wrap="square"/>
                    <a:lstStyle/>
                    <a:p>
                      <a:r>
                        <a:rPr sz="1300" b="0" i="0">
                          <a:solidFill>
                            <a:srgbClr val="1F2A30"/>
                          </a:solidFill>
                          <a:latin typeface="Courier New"/>
                        </a:rPr>
                        <a:t>Pseudocode</a:t>
                      </a:r>
                    </a:p>
                  </a:txBody>
                  <a:tcPr marL="91440" marR="91440" marT="36576" marB="36576" anchor="ctr">
                    <a:solidFill>
                      <a:srgbClr val="F4F8F8"/>
                    </a:solidFill>
                  </a:tcPr>
                </a:tc>
              </a:tr>
              <a:tr h="393192">
                <a:tc>
                  <a:txBody>
                    <a:bodyPr wrap="square"/>
                    <a:lstStyle/>
                    <a:p>
                      <a:r>
                        <a:rPr sz="1400" b="0" i="0">
                          <a:solidFill>
                            <a:srgbClr val="1F2A30"/>
                          </a:solidFill>
                          <a:latin typeface="Calibri"/>
                        </a:rPr>
                        <a:t>Provider, Model</a:t>
                      </a:r>
                    </a:p>
                  </a:txBody>
                  <a:tcPr marL="91440" marR="91440" marT="36576" marB="36576" anchor="ctr">
                    <a:solidFill>
                      <a:srgbClr val="FFFFFF"/>
                    </a:solidFill>
                  </a:tcPr>
                </a:tc>
                <a:tc>
                  <a:txBody>
                    <a:bodyPr wrap="square"/>
                    <a:lstStyle/>
                    <a:p>
                      <a:r>
                        <a:rPr sz="1400" b="0" i="0">
                          <a:solidFill>
                            <a:srgbClr val="1F2A30"/>
                          </a:solidFill>
                          <a:latin typeface="Calibri"/>
                        </a:rPr>
                        <a:t>Which AI produced it</a:t>
                      </a:r>
                    </a:p>
                  </a:txBody>
                  <a:tcPr marL="91440" marR="91440" marT="36576" marB="36576" anchor="ctr">
                    <a:solidFill>
                      <a:srgbClr val="FFFFFF"/>
                    </a:solidFill>
                  </a:tcPr>
                </a:tc>
                <a:tc>
                  <a:txBody>
                    <a:bodyPr wrap="square"/>
                    <a:lstStyle/>
                    <a:p>
                      <a:r>
                        <a:rPr sz="1300" b="0" i="0">
                          <a:solidFill>
                            <a:srgbClr val="1F2A30"/>
                          </a:solidFill>
                          <a:latin typeface="Courier New"/>
                        </a:rPr>
                        <a:t>Groq, qwen3.8-27b</a:t>
                      </a:r>
                    </a:p>
                  </a:txBody>
                  <a:tcPr marL="91440" marR="91440" marT="36576" marB="36576" anchor="ctr">
                    <a:solidFill>
                      <a:srgbClr val="FFFFFF"/>
                    </a:solidFill>
                  </a:tcPr>
                </a:tc>
              </a:tr>
              <a:tr h="393192">
                <a:tc>
                  <a:txBody>
                    <a:bodyPr wrap="square"/>
                    <a:lstStyle/>
                    <a:p>
                      <a:r>
                        <a:rPr sz="1400" b="0" i="0">
                          <a:solidFill>
                            <a:srgbClr val="1F2A30"/>
                          </a:solidFill>
                          <a:latin typeface="Calibri"/>
                        </a:rPr>
                        <a:t>Code</a:t>
                      </a:r>
                    </a:p>
                  </a:txBody>
                  <a:tcPr marL="91440" marR="91440" marT="36576" marB="36576" anchor="ctr">
                    <a:solidFill>
                      <a:srgbClr val="F4F8F8"/>
                    </a:solidFill>
                  </a:tcPr>
                </a:tc>
                <a:tc>
                  <a:txBody>
                    <a:bodyPr wrap="square"/>
                    <a:lstStyle/>
                    <a:p>
                      <a:r>
                        <a:rPr sz="1400" b="0" i="0">
                          <a:solidFill>
                            <a:srgbClr val="1F2A30"/>
                          </a:solidFill>
                          <a:latin typeface="Calibri"/>
                        </a:rPr>
                        <a:t>The generated pseudocode</a:t>
                      </a:r>
                    </a:p>
                  </a:txBody>
                  <a:tcPr marL="91440" marR="91440" marT="36576" marB="36576" anchor="ctr">
                    <a:solidFill>
                      <a:srgbClr val="F4F8F8"/>
                    </a:solidFill>
                  </a:tcPr>
                </a:tc>
                <a:tc>
                  <a:txBody>
                    <a:bodyPr wrap="square"/>
                    <a:lstStyle/>
                    <a:p>
                      <a:r>
                        <a:rPr sz="1300" b="0" i="0">
                          <a:solidFill>
                            <a:srgbClr val="1F2A30"/>
                          </a:solidFill>
                          <a:latin typeface="Courier New"/>
                        </a:rPr>
                        <a:t>IF Trip Signal == ON THEN...</a:t>
                      </a:r>
                    </a:p>
                  </a:txBody>
                  <a:tcPr marL="91440" marR="91440" marT="36576" marB="36576" anchor="ctr">
                    <a:solidFill>
                      <a:srgbClr val="F4F8F8"/>
                    </a:solidFill>
                  </a:tcPr>
                </a:tc>
              </a:tr>
              <a:tr h="393192">
                <a:tc>
                  <a:txBody>
                    <a:bodyPr wrap="square"/>
                    <a:lstStyle/>
                    <a:p>
                      <a:r>
                        <a:rPr sz="1400" b="0" i="0">
                          <a:solidFill>
                            <a:srgbClr val="1F2A30"/>
                          </a:solidFill>
                          <a:latin typeface="Calibri"/>
                        </a:rPr>
                        <a:t>Explanation, Warnings</a:t>
                      </a:r>
                    </a:p>
                  </a:txBody>
                  <a:tcPr marL="91440" marR="91440" marT="36576" marB="36576" anchor="ctr">
                    <a:solidFill>
                      <a:srgbClr val="FFFFFF"/>
                    </a:solidFill>
                  </a:tcPr>
                </a:tc>
                <a:tc>
                  <a:txBody>
                    <a:bodyPr wrap="square"/>
                    <a:lstStyle/>
                    <a:p>
                      <a:r>
                        <a:rPr sz="1400" b="0" i="0">
                          <a:solidFill>
                            <a:srgbClr val="1F2A30"/>
                          </a:solidFill>
                          <a:latin typeface="Calibri"/>
                        </a:rPr>
                        <a:t>What the AI explained and flagged</a:t>
                      </a:r>
                    </a:p>
                  </a:txBody>
                  <a:tcPr marL="91440" marR="91440" marT="36576" marB="36576" anchor="ctr">
                    <a:solidFill>
                      <a:srgbClr val="FFFFFF"/>
                    </a:solidFill>
                  </a:tcPr>
                </a:tc>
                <a:tc>
                  <a:txBody>
                    <a:bodyPr wrap="square"/>
                    <a:lstStyle/>
                    <a:p>
                      <a:r>
                        <a:rPr sz="1300" b="0" i="0">
                          <a:solidFill>
                            <a:srgbClr val="1F2A30"/>
                          </a:solidFill>
                          <a:latin typeface="Courier New"/>
                        </a:rPr>
                        <a:t>["Trip Alarm never OFF"]</a:t>
                      </a:r>
                    </a:p>
                  </a:txBody>
                  <a:tcPr marL="91440" marR="91440" marT="36576" marB="36576" anchor="ctr">
                    <a:solidFill>
                      <a:srgbClr val="FFFFFF"/>
                    </a:solidFill>
                  </a:tcPr>
                </a:tc>
              </a:tr>
              <a:tr h="393192">
                <a:tc>
                  <a:txBody>
                    <a:bodyPr wrap="square"/>
                    <a:lstStyle/>
                    <a:p>
                      <a:r>
                        <a:rPr sz="1400" b="0" i="0">
                          <a:solidFill>
                            <a:srgbClr val="1F2A30"/>
                          </a:solidFill>
                          <a:latin typeface="Calibri"/>
                        </a:rPr>
                        <a:t>VariablesUsed</a:t>
                      </a:r>
                    </a:p>
                  </a:txBody>
                  <a:tcPr marL="91440" marR="91440" marT="36576" marB="36576" anchor="ctr">
                    <a:solidFill>
                      <a:srgbClr val="F4F8F8"/>
                    </a:solidFill>
                  </a:tcPr>
                </a:tc>
                <a:tc>
                  <a:txBody>
                    <a:bodyPr wrap="square"/>
                    <a:lstStyle/>
                    <a:p>
                      <a:r>
                        <a:rPr sz="1400" b="0" i="0">
                          <a:solidFill>
                            <a:srgbClr val="1F2A30"/>
                          </a:solidFill>
                          <a:latin typeface="Calibri"/>
                        </a:rPr>
                        <a:t>Names the AI used - SCL results are re-checked on load</a:t>
                      </a:r>
                    </a:p>
                  </a:txBody>
                  <a:tcPr marL="91440" marR="91440" marT="36576" marB="36576" anchor="ctr">
                    <a:solidFill>
                      <a:srgbClr val="F4F8F8"/>
                    </a:solidFill>
                  </a:tcPr>
                </a:tc>
                <a:tc>
                  <a:txBody>
                    <a:bodyPr wrap="square"/>
                    <a:lstStyle/>
                    <a:p>
                      <a:r>
                        <a:rPr sz="1300" b="0" i="0">
                          <a:solidFill>
                            <a:srgbClr val="1F2A30"/>
                          </a:solidFill>
                          <a:latin typeface="Courier New"/>
                        </a:rPr>
                        <a:t>["Trip Signal"]</a:t>
                      </a:r>
                    </a:p>
                  </a:txBody>
                  <a:tcPr marL="91440" marR="91440" marT="36576" marB="36576" anchor="ctr">
                    <a:solidFill>
                      <a:srgbClr val="F4F8F8"/>
                    </a:solidFill>
                  </a:tcPr>
                </a:tc>
              </a:tr>
              <a:tr h="393192">
                <a:tc>
                  <a:txBody>
                    <a:bodyPr wrap="square"/>
                    <a:lstStyle/>
                    <a:p>
                      <a:r>
                        <a:rPr sz="1400" b="0" i="0">
                          <a:solidFill>
                            <a:srgbClr val="1F2A30"/>
                          </a:solidFill>
                          <a:latin typeface="Calibri"/>
                        </a:rPr>
                        <a:t>PromptTokens, CompletionTokens</a:t>
                      </a:r>
                    </a:p>
                  </a:txBody>
                  <a:tcPr marL="91440" marR="91440" marT="36576" marB="36576" anchor="ctr">
                    <a:solidFill>
                      <a:srgbClr val="FFFFFF"/>
                    </a:solidFill>
                  </a:tcPr>
                </a:tc>
                <a:tc>
                  <a:txBody>
                    <a:bodyPr wrap="square"/>
                    <a:lstStyle/>
                    <a:p>
                      <a:r>
                        <a:rPr sz="1400" b="0" i="0">
                          <a:solidFill>
                            <a:srgbClr val="1F2A30"/>
                          </a:solidFill>
                          <a:latin typeface="Calibri"/>
                        </a:rPr>
                        <a:t>Tokens used - to measure the saving</a:t>
                      </a:r>
                    </a:p>
                  </a:txBody>
                  <a:tcPr marL="91440" marR="91440" marT="36576" marB="36576" anchor="ctr">
                    <a:solidFill>
                      <a:srgbClr val="FFFFFF"/>
                    </a:solidFill>
                  </a:tcPr>
                </a:tc>
                <a:tc>
                  <a:txBody>
                    <a:bodyPr wrap="square"/>
                    <a:lstStyle/>
                    <a:p>
                      <a:r>
                        <a:rPr sz="1300" b="0" i="0">
                          <a:solidFill>
                            <a:srgbClr val="1F2A30"/>
                          </a:solidFill>
                          <a:latin typeface="Courier New"/>
                        </a:rPr>
                        <a:t>4,422  /  296</a:t>
                      </a:r>
                    </a:p>
                  </a:txBody>
                  <a:tcPr marL="91440" marR="91440" marT="36576" marB="36576" anchor="ctr">
                    <a:solidFill>
                      <a:srgbClr val="FFFFFF"/>
                    </a:solidFill>
                  </a:tcPr>
                </a:tc>
              </a:tr>
              <a:tr h="393192">
                <a:tc>
                  <a:txBody>
                    <a:bodyPr wrap="square"/>
                    <a:lstStyle/>
                    <a:p>
                      <a:r>
                        <a:rPr sz="1400" b="0" i="0">
                          <a:solidFill>
                            <a:srgbClr val="1F2A30"/>
                          </a:solidFill>
                          <a:latin typeface="Calibri"/>
                        </a:rPr>
                        <a:t>CreatedAt</a:t>
                      </a:r>
                    </a:p>
                  </a:txBody>
                  <a:tcPr marL="91440" marR="91440" marT="36576" marB="36576" anchor="ctr">
                    <a:solidFill>
                      <a:srgbClr val="F4F8F8"/>
                    </a:solidFill>
                  </a:tcPr>
                </a:tc>
                <a:tc>
                  <a:txBody>
                    <a:bodyPr wrap="square"/>
                    <a:lstStyle/>
                    <a:p>
                      <a:r>
                        <a:rPr sz="1400" b="0" i="0">
                          <a:solidFill>
                            <a:srgbClr val="1F2A30"/>
                          </a:solidFill>
                          <a:latin typeface="Calibri"/>
                        </a:rPr>
                        <a:t>When it was saved</a:t>
                      </a:r>
                    </a:p>
                  </a:txBody>
                  <a:tcPr marL="91440" marR="91440" marT="36576" marB="36576" anchor="ctr">
                    <a:solidFill>
                      <a:srgbClr val="F4F8F8"/>
                    </a:solidFill>
                  </a:tcPr>
                </a:tc>
                <a:tc>
                  <a:txBody>
                    <a:bodyPr wrap="square"/>
                    <a:lstStyle/>
                    <a:p>
                      <a:r>
                        <a:rPr sz="1300" b="0" i="0">
                          <a:solidFill>
                            <a:srgbClr val="1F2A30"/>
                          </a:solidFill>
                          <a:latin typeface="Courier New"/>
                        </a:rPr>
                        <a:t>2026-10-21 15:47</a:t>
                      </a:r>
                    </a:p>
                  </a:txBody>
                  <a:tcPr marL="91440" marR="91440" marT="36576" marB="36576" anchor="ctr">
                    <a:solidFill>
                      <a:srgbClr val="F4F8F8"/>
                    </a:solidFill>
                  </a:tcPr>
                </a:tc>
              </a:tr>
            </a:tbl>
          </a:graphicData>
        </a:graphic>
      </p:graphicFrame>
      <p:sp>
        <p:nvSpPr>
          <p:cNvPr id="4" name="Appendix pointer"/>
          <p:cNvSpPr txBox="1"/>
          <p:nvPr/>
        </p:nvSpPr>
        <p:spPr>
          <a:xfrm>
            <a:off x="548640" y="5806440"/>
            <a:ext cx="11064240" cy="365760"/>
          </a:xfrm>
          <a:prstGeom prst="rect">
            <a:avLst/>
          </a:prstGeom>
          <a:noFill/>
        </p:spPr>
        <p:txBody>
          <a:bodyPr wrap="square" anchor="t" lIns="0" rIns="0" tIns="0" bIns="0">
            <a:spAutoFit/>
          </a:bodyPr>
          <a:lstStyle/>
          <a:p>
            <a:pPr algn="l">
              <a:spcAft>
                <a:spcPts val="600"/>
              </a:spcAft>
            </a:pPr>
            <a:r>
              <a:rPr sz="1300" b="0" i="0">
                <a:solidFill>
                  <a:srgbClr val="5B6B73"/>
                </a:solidFill>
                <a:latin typeface="Calibri"/>
              </a:rPr>
              <a:t>VariablesUsed was added during the build: without it a reloaded SCL result could not keep its tick or warning mark. The script is in the appendix.</a:t>
            </a:r>
          </a:p>
        </p:txBody>
      </p:sp>
      <p:sp>
        <p:nvSpPr>
          <p:cNvPr id="5"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6"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changed in the code</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Three new files, four changes - the AI call and the rules stayed as they were</a:t>
            </a:r>
          </a:p>
        </p:txBody>
      </p:sp>
      <p:graphicFrame>
        <p:nvGraphicFramePr>
          <p:cNvPr id="4" name="Table"/>
          <p:cNvGraphicFramePr>
            <a:graphicFrameLocks noGrp="1"/>
          </p:cNvGraphicFramePr>
          <p:nvPr/>
        </p:nvGraphicFramePr>
        <p:xfrm>
          <a:off x="548640" y="1737360"/>
          <a:ext cx="11064240" cy="3657600"/>
        </p:xfrm>
        <a:graphic>
          <a:graphicData uri="http://schemas.openxmlformats.org/drawingml/2006/table">
            <a:tbl>
              <a:tblPr firstRow="0" bandRow="0">
                <a:tableStyleId>{5C22544A-7EE6-4342-B048-85BDC9FD1C3A}</a:tableStyleId>
              </a:tblPr>
              <a:tblGrid>
                <a:gridCol w="3566160"/>
                <a:gridCol w="6126480"/>
                <a:gridCol w="1371600"/>
              </a:tblGrid>
              <a:tr h="457200">
                <a:tc>
                  <a:txBody>
                    <a:bodyPr wrap="square"/>
                    <a:lstStyle/>
                    <a:p>
                      <a:r>
                        <a:rPr sz="1400" b="1" i="0">
                          <a:solidFill>
                            <a:srgbClr val="FFFFFF"/>
                          </a:solidFill>
                          <a:latin typeface="Calibri"/>
                        </a:rPr>
                        <a:t>File</a:t>
                      </a:r>
                    </a:p>
                  </a:txBody>
                  <a:tcPr marL="91440" marR="91440" marT="36576" marB="36576" anchor="ctr">
                    <a:solidFill>
                      <a:srgbClr val="12343B"/>
                    </a:solidFill>
                  </a:tcPr>
                </a:tc>
                <a:tc>
                  <a:txBody>
                    <a:bodyPr wrap="square"/>
                    <a:lstStyle/>
                    <a:p>
                      <a:r>
                        <a:rPr sz="1400" b="1" i="0">
                          <a:solidFill>
                            <a:srgbClr val="FFFFFF"/>
                          </a:solidFill>
                          <a:latin typeface="Calibri"/>
                        </a:rPr>
                        <a:t>Change</a:t>
                      </a:r>
                    </a:p>
                  </a:txBody>
                  <a:tcPr marL="91440" marR="91440" marT="36576" marB="36576" anchor="ctr">
                    <a:solidFill>
                      <a:srgbClr val="12343B"/>
                    </a:solidFill>
                  </a:tcPr>
                </a:tc>
                <a:tc>
                  <a:txBody>
                    <a:bodyPr wrap="square"/>
                    <a:lstStyle/>
                    <a:p>
                      <a:r>
                        <a:rPr sz="1400" b="1" i="0">
                          <a:solidFill>
                            <a:srgbClr val="FFFFFF"/>
                          </a:solidFill>
                          <a:latin typeface="Calibri"/>
                        </a:rPr>
                        <a:t>Type</a:t>
                      </a:r>
                    </a:p>
                  </a:txBody>
                  <a:tcPr marL="91440" marR="91440" marT="36576" marB="36576" anchor="ctr">
                    <a:solidFill>
                      <a:srgbClr val="12343B"/>
                    </a:solidFill>
                  </a:tcPr>
                </a:tc>
              </a:tr>
              <a:tr h="457200">
                <a:tc>
                  <a:txBody>
                    <a:bodyPr wrap="square"/>
                    <a:lstStyle/>
                    <a:p>
                      <a:r>
                        <a:rPr sz="1400" b="0" i="0">
                          <a:solidFill>
                            <a:srgbClr val="1F2A30"/>
                          </a:solidFill>
                          <a:latin typeface="Calibri"/>
                        </a:rPr>
                        <a:t>AI / ResultStore.cs</a:t>
                      </a:r>
                    </a:p>
                  </a:txBody>
                  <a:tcPr marL="91440" marR="91440" marT="36576" marB="36576" anchor="ctr">
                    <a:solidFill>
                      <a:srgbClr val="FFFFFF"/>
                    </a:solidFill>
                  </a:tcPr>
                </a:tc>
                <a:tc>
                  <a:txBody>
                    <a:bodyPr wrap="square"/>
                    <a:lstStyle/>
                    <a:p>
                      <a:r>
                        <a:rPr sz="1400" b="0" i="0">
                          <a:solidFill>
                            <a:srgbClr val="1F2A30"/>
                          </a:solidFill>
                          <a:latin typeface="Calibri"/>
                        </a:rPr>
                        <a:t>Connects, checks the table, loads and saves results, builds the fingerprint</a:t>
                      </a:r>
                    </a:p>
                  </a:txBody>
                  <a:tcPr marL="91440" marR="91440" marT="36576" marB="36576" anchor="ctr">
                    <a:solidFill>
                      <a:srgbClr val="FFFFFF"/>
                    </a:solidFill>
                  </a:tcPr>
                </a:tc>
                <a:tc>
                  <a:txBody>
                    <a:bodyPr wrap="square"/>
                    <a:lstStyle/>
                    <a:p>
                      <a:r>
                        <a:rPr sz="1400" b="1" i="0">
                          <a:solidFill>
                            <a:srgbClr val="E8A33D"/>
                          </a:solidFill>
                          <a:latin typeface="Calibri"/>
                        </a:rPr>
                        <a:t>New</a:t>
                      </a:r>
                    </a:p>
                  </a:txBody>
                  <a:tcPr marL="91440" marR="91440" marT="36576" marB="36576" anchor="ctr">
                    <a:solidFill>
                      <a:srgbClr val="FFFFFF"/>
                    </a:solidFill>
                  </a:tcPr>
                </a:tc>
              </a:tr>
              <a:tr h="457200">
                <a:tc>
                  <a:txBody>
                    <a:bodyPr wrap="square"/>
                    <a:lstStyle/>
                    <a:p>
                      <a:r>
                        <a:rPr sz="1400" b="0" i="0">
                          <a:solidFill>
                            <a:srgbClr val="1F2A30"/>
                          </a:solidFill>
                          <a:latin typeface="Calibri"/>
                        </a:rPr>
                        <a:t>Reference / sql / OutputXenTrans.sql</a:t>
                      </a:r>
                    </a:p>
                  </a:txBody>
                  <a:tcPr marL="91440" marR="91440" marT="36576" marB="36576" anchor="ctr">
                    <a:solidFill>
                      <a:srgbClr val="F4F8F8"/>
                    </a:solidFill>
                  </a:tcPr>
                </a:tc>
                <a:tc>
                  <a:txBody>
                    <a:bodyPr wrap="square"/>
                    <a:lstStyle/>
                    <a:p>
                      <a:r>
                        <a:rPr sz="1400" b="0" i="0">
                          <a:solidFill>
                            <a:srgbClr val="1F2A30"/>
                          </a:solidFill>
                          <a:latin typeface="Calibri"/>
                        </a:rPr>
                        <a:t>The table script - safe to run twice</a:t>
                      </a:r>
                    </a:p>
                  </a:txBody>
                  <a:tcPr marL="91440" marR="91440" marT="36576" marB="36576" anchor="ctr">
                    <a:solidFill>
                      <a:srgbClr val="F4F8F8"/>
                    </a:solidFill>
                  </a:tcPr>
                </a:tc>
                <a:tc>
                  <a:txBody>
                    <a:bodyPr wrap="square"/>
                    <a:lstStyle/>
                    <a:p>
                      <a:r>
                        <a:rPr sz="1400" b="1" i="0">
                          <a:solidFill>
                            <a:srgbClr val="E8A33D"/>
                          </a:solidFill>
                          <a:latin typeface="Calibri"/>
                        </a:rPr>
                        <a:t>New</a:t>
                      </a:r>
                    </a:p>
                  </a:txBody>
                  <a:tcPr marL="91440" marR="91440" marT="36576" marB="36576" anchor="ctr">
                    <a:solidFill>
                      <a:srgbClr val="F4F8F8"/>
                    </a:solidFill>
                  </a:tcPr>
                </a:tc>
              </a:tr>
              <a:tr h="457200">
                <a:tc>
                  <a:txBody>
                    <a:bodyPr wrap="square"/>
                    <a:lstStyle/>
                    <a:p>
                      <a:r>
                        <a:rPr sz="1400" b="0" i="0">
                          <a:solidFill>
                            <a:srgbClr val="1F2A30"/>
                          </a:solidFill>
                          <a:latin typeface="Calibri"/>
                        </a:rPr>
                        <a:t>Reference / sql / Setup-XenTransDb.ps1</a:t>
                      </a:r>
                    </a:p>
                  </a:txBody>
                  <a:tcPr marL="91440" marR="91440" marT="36576" marB="36576" anchor="ctr">
                    <a:solidFill>
                      <a:srgbClr val="FFFFFF"/>
                    </a:solidFill>
                  </a:tcPr>
                </a:tc>
                <a:tc>
                  <a:txBody>
                    <a:bodyPr wrap="square"/>
                    <a:lstStyle/>
                    <a:p>
                      <a:r>
                        <a:rPr sz="1400" b="0" i="0">
                          <a:solidFill>
                            <a:srgbClr val="1F2A30"/>
                          </a:solidFill>
                          <a:latin typeface="Calibri"/>
                        </a:rPr>
                        <a:t>One-command setup; asks for the password hidden</a:t>
                      </a:r>
                    </a:p>
                  </a:txBody>
                  <a:tcPr marL="91440" marR="91440" marT="36576" marB="36576" anchor="ctr">
                    <a:solidFill>
                      <a:srgbClr val="FFFFFF"/>
                    </a:solidFill>
                  </a:tcPr>
                </a:tc>
                <a:tc>
                  <a:txBody>
                    <a:bodyPr wrap="square"/>
                    <a:lstStyle/>
                    <a:p>
                      <a:r>
                        <a:rPr sz="1400" b="1" i="0">
                          <a:solidFill>
                            <a:srgbClr val="E8A33D"/>
                          </a:solidFill>
                          <a:latin typeface="Calibri"/>
                        </a:rPr>
                        <a:t>New</a:t>
                      </a:r>
                    </a:p>
                  </a:txBody>
                  <a:tcPr marL="91440" marR="91440" marT="36576" marB="36576" anchor="ctr">
                    <a:solidFill>
                      <a:srgbClr val="FFFFFF"/>
                    </a:solidFill>
                  </a:tcPr>
                </a:tc>
              </a:tr>
              <a:tr h="457200">
                <a:tc>
                  <a:txBody>
                    <a:bodyPr wrap="square"/>
                    <a:lstStyle/>
                    <a:p>
                      <a:r>
                        <a:rPr sz="1400" b="0" i="0">
                          <a:solidFill>
                            <a:srgbClr val="1F2A30"/>
                          </a:solidFill>
                          <a:latin typeface="Calibri"/>
                        </a:rPr>
                        <a:t>Studio / MainWindow.xaml.cs</a:t>
                      </a:r>
                    </a:p>
                  </a:txBody>
                  <a:tcPr marL="91440" marR="91440" marT="36576" marB="36576" anchor="ctr">
                    <a:solidFill>
                      <a:srgbClr val="F4F8F8"/>
                    </a:solidFill>
                  </a:tcPr>
                </a:tc>
                <a:tc>
                  <a:txBody>
                    <a:bodyPr wrap="square"/>
                    <a:lstStyle/>
                    <a:p>
                      <a:r>
                        <a:rPr sz="1400" b="0" i="0">
                          <a:solidFill>
                            <a:srgbClr val="1F2A30"/>
                          </a:solidFill>
                          <a:latin typeface="Calibri"/>
                        </a:rPr>
                        <a:t>Checks the database before the AI; sends only referenced scenarios</a:t>
                      </a:r>
                    </a:p>
                  </a:txBody>
                  <a:tcPr marL="91440" marR="91440" marT="36576" marB="36576" anchor="ctr">
                    <a:solidFill>
                      <a:srgbClr val="F4F8F8"/>
                    </a:solidFill>
                  </a:tcPr>
                </a:tc>
                <a:tc>
                  <a:txBody>
                    <a:bodyPr wrap="square"/>
                    <a:lstStyle/>
                    <a:p>
                      <a:r>
                        <a:rPr sz="1400" b="1" i="0">
                          <a:solidFill>
                            <a:srgbClr val="1D7874"/>
                          </a:solidFill>
                          <a:latin typeface="Calibri"/>
                        </a:rPr>
                        <a:t>Changed</a:t>
                      </a:r>
                    </a:p>
                  </a:txBody>
                  <a:tcPr marL="91440" marR="91440" marT="36576" marB="36576" anchor="ctr">
                    <a:solidFill>
                      <a:srgbClr val="F4F8F8"/>
                    </a:solidFill>
                  </a:tcPr>
                </a:tc>
              </a:tr>
              <a:tr h="457200">
                <a:tc>
                  <a:txBody>
                    <a:bodyPr wrap="square"/>
                    <a:lstStyle/>
                    <a:p>
                      <a:r>
                        <a:rPr sz="1400" b="0" i="0">
                          <a:solidFill>
                            <a:srgbClr val="1F2A30"/>
                          </a:solidFill>
                          <a:latin typeface="Calibri"/>
                        </a:rPr>
                        <a:t>Studio / MainWindow.xaml</a:t>
                      </a:r>
                    </a:p>
                  </a:txBody>
                  <a:tcPr marL="91440" marR="91440" marT="36576" marB="36576" anchor="ctr">
                    <a:solidFill>
                      <a:srgbClr val="FFFFFF"/>
                    </a:solidFill>
                  </a:tcPr>
                </a:tc>
                <a:tc>
                  <a:txBody>
                    <a:bodyPr wrap="square"/>
                    <a:lstStyle/>
                    <a:p>
                      <a:r>
                        <a:rPr sz="1400" b="0" i="0">
                          <a:solidFill>
                            <a:srgbClr val="1F2A30"/>
                          </a:solidFill>
                          <a:latin typeface="Calibri"/>
                        </a:rPr>
                        <a:t>"Ignore saved" checkbox</a:t>
                      </a:r>
                    </a:p>
                  </a:txBody>
                  <a:tcPr marL="91440" marR="91440" marT="36576" marB="36576" anchor="ctr">
                    <a:solidFill>
                      <a:srgbClr val="FFFFFF"/>
                    </a:solidFill>
                  </a:tcPr>
                </a:tc>
                <a:tc>
                  <a:txBody>
                    <a:bodyPr wrap="square"/>
                    <a:lstStyle/>
                    <a:p>
                      <a:r>
                        <a:rPr sz="1400" b="1" i="0">
                          <a:solidFill>
                            <a:srgbClr val="1D7874"/>
                          </a:solidFill>
                          <a:latin typeface="Calibri"/>
                        </a:rPr>
                        <a:t>Changed</a:t>
                      </a:r>
                    </a:p>
                  </a:txBody>
                  <a:tcPr marL="91440" marR="91440" marT="36576" marB="36576" anchor="ctr">
                    <a:solidFill>
                      <a:srgbClr val="FFFFFF"/>
                    </a:solidFill>
                  </a:tcPr>
                </a:tc>
              </a:tr>
              <a:tr h="457200">
                <a:tc>
                  <a:txBody>
                    <a:bodyPr wrap="square"/>
                    <a:lstStyle/>
                    <a:p>
                      <a:r>
                        <a:rPr sz="1400" b="0" i="0">
                          <a:solidFill>
                            <a:srgbClr val="1F2A30"/>
                          </a:solidFill>
                          <a:latin typeface="Calibri"/>
                        </a:rPr>
                        <a:t>AI / Models.cs</a:t>
                      </a:r>
                    </a:p>
                  </a:txBody>
                  <a:tcPr marL="91440" marR="91440" marT="36576" marB="36576" anchor="ctr">
                    <a:solidFill>
                      <a:srgbClr val="F4F8F8"/>
                    </a:solidFill>
                  </a:tcPr>
                </a:tc>
                <a:tc>
                  <a:txBody>
                    <a:bodyPr wrap="square"/>
                    <a:lstStyle/>
                    <a:p>
                      <a:r>
                        <a:rPr sz="1400" b="0" i="0">
                          <a:solidFill>
                            <a:srgbClr val="1F2A30"/>
                          </a:solidFill>
                          <a:latin typeface="Calibri"/>
                        </a:rPr>
                        <a:t>A result can be marked as loaded from the database</a:t>
                      </a:r>
                    </a:p>
                  </a:txBody>
                  <a:tcPr marL="91440" marR="91440" marT="36576" marB="36576" anchor="ctr">
                    <a:solidFill>
                      <a:srgbClr val="F4F8F8"/>
                    </a:solidFill>
                  </a:tcPr>
                </a:tc>
                <a:tc>
                  <a:txBody>
                    <a:bodyPr wrap="square"/>
                    <a:lstStyle/>
                    <a:p>
                      <a:r>
                        <a:rPr sz="1400" b="1" i="0">
                          <a:solidFill>
                            <a:srgbClr val="1D7874"/>
                          </a:solidFill>
                          <a:latin typeface="Calibri"/>
                        </a:rPr>
                        <a:t>Changed</a:t>
                      </a:r>
                    </a:p>
                  </a:txBody>
                  <a:tcPr marL="91440" marR="91440" marT="36576" marB="36576" anchor="ctr">
                    <a:solidFill>
                      <a:srgbClr val="F4F8F8"/>
                    </a:solidFill>
                  </a:tcPr>
                </a:tc>
              </a:tr>
              <a:tr h="457200">
                <a:tc>
                  <a:txBody>
                    <a:bodyPr wrap="square"/>
                    <a:lstStyle/>
                    <a:p>
                      <a:r>
                        <a:rPr sz="1400" b="0" i="0">
                          <a:solidFill>
                            <a:srgbClr val="1F2A30"/>
                          </a:solidFill>
                          <a:latin typeface="Calibri"/>
                        </a:rPr>
                        <a:t>AI / XenAnalyticTransl.AI.csproj</a:t>
                      </a:r>
                    </a:p>
                  </a:txBody>
                  <a:tcPr marL="91440" marR="91440" marT="36576" marB="36576" anchor="ctr">
                    <a:solidFill>
                      <a:srgbClr val="FFFFFF"/>
                    </a:solidFill>
                  </a:tcPr>
                </a:tc>
                <a:tc>
                  <a:txBody>
                    <a:bodyPr wrap="square"/>
                    <a:lstStyle/>
                    <a:p>
                      <a:r>
                        <a:rPr sz="1400" b="0" i="0">
                          <a:solidFill>
                            <a:srgbClr val="1F2A30"/>
                          </a:solidFill>
                          <a:latin typeface="Calibri"/>
                        </a:rPr>
                        <a:t>SQL Server package, plus a patched security component</a:t>
                      </a:r>
                    </a:p>
                  </a:txBody>
                  <a:tcPr marL="91440" marR="91440" marT="36576" marB="36576" anchor="ctr">
                    <a:solidFill>
                      <a:srgbClr val="FFFFFF"/>
                    </a:solidFill>
                  </a:tcPr>
                </a:tc>
                <a:tc>
                  <a:txBody>
                    <a:bodyPr wrap="square"/>
                    <a:lstStyle/>
                    <a:p>
                      <a:r>
                        <a:rPr sz="1400" b="1" i="0">
                          <a:solidFill>
                            <a:srgbClr val="1D7874"/>
                          </a:solidFill>
                          <a:latin typeface="Calibri"/>
                        </a:rPr>
                        <a:t>Changed</a:t>
                      </a:r>
                    </a:p>
                  </a:txBody>
                  <a:tcPr marL="91440" marR="91440" marT="36576" marB="36576" anchor="ctr">
                    <a:solidFill>
                      <a:srgbClr val="FFFFFF"/>
                    </a:solidFill>
                  </a:tcPr>
                </a:tc>
              </a:tr>
            </a:tbl>
          </a:graphicData>
        </a:graphic>
      </p:graphicFrame>
      <p:sp>
        <p:nvSpPr>
          <p:cNvPr id="5" name="Unchanged note"/>
          <p:cNvSpPr/>
          <p:nvPr/>
        </p:nvSpPr>
        <p:spPr>
          <a:xfrm>
            <a:off x="548640" y="5577840"/>
            <a:ext cx="11064240" cy="59436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400" b="1" i="0">
                <a:solidFill>
                  <a:srgbClr val="1F2A30"/>
                </a:solidFill>
                <a:latin typeface="Calibri"/>
              </a:rPr>
              <a:t>Unchanged:  </a:t>
            </a:r>
            <a:r>
              <a:rPr sz="1400" b="0" i="0">
                <a:solidFill>
                  <a:srgbClr val="1F2A30"/>
                </a:solidFill>
                <a:latin typeface="Calibri"/>
              </a:rPr>
              <a:t>LlmTranslator.cs (the AI call) and PromptBuilder.cs (the translation rules).</a:t>
            </a:r>
          </a:p>
        </p:txBody>
      </p:sp>
      <p:sp>
        <p:nvSpPr>
          <p:cNvPr id="6"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7"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What the user sees</a:t>
            </a:r>
          </a:p>
        </p:txBody>
      </p:sp>
      <p:sp>
        <p:nvSpPr>
          <p:cNvPr id="3" name="Status head"/>
          <p:cNvSpPr txBox="1"/>
          <p:nvPr/>
        </p:nvSpPr>
        <p:spPr>
          <a:xfrm>
            <a:off x="548640" y="1371600"/>
            <a:ext cx="731520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Status bar after a repeat run</a:t>
            </a:r>
          </a:p>
        </p:txBody>
      </p:sp>
      <p:sp>
        <p:nvSpPr>
          <p:cNvPr id="4" name="Status mock"/>
          <p:cNvSpPr/>
          <p:nvPr/>
        </p:nvSpPr>
        <p:spPr>
          <a:xfrm>
            <a:off x="548640" y="1737360"/>
            <a:ext cx="11064240" cy="685800"/>
          </a:xfrm>
          <a:prstGeom prst="roundRect">
            <a:avLst>
              <a:gd name="adj" fmla="val 12000"/>
            </a:avLst>
          </a:prstGeom>
          <a:solidFill>
            <a:srgbClr val="1234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400" b="0" i="0">
                <a:solidFill>
                  <a:srgbClr val="CADCDB"/>
                </a:solidFill>
                <a:latin typeface="Courier New"/>
              </a:rPr>
              <a:t>Done: 7 scenario(s) in 0.4s  |  </a:t>
            </a:r>
            <a:r>
              <a:rPr sz="1400" b="1" i="0">
                <a:solidFill>
                  <a:srgbClr val="E8A33D"/>
                </a:solidFill>
                <a:latin typeface="Courier New"/>
              </a:rPr>
              <a:t>0 translated (0 tokens), 7 loaded from DB</a:t>
            </a:r>
            <a:r>
              <a:rPr sz="1400" b="0" i="0">
                <a:solidFill>
                  <a:srgbClr val="CADCDB"/>
                </a:solidFill>
                <a:latin typeface="Courier New"/>
              </a:rPr>
              <a:t>  |  7 clean</a:t>
            </a:r>
          </a:p>
        </p:txBody>
      </p:sp>
      <p:sp>
        <p:nvSpPr>
          <p:cNvPr id="5" name="Header head"/>
          <p:cNvSpPr txBox="1"/>
          <p:nvPr/>
        </p:nvSpPr>
        <p:spPr>
          <a:xfrm>
            <a:off x="548640" y="2697480"/>
            <a:ext cx="548640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Result header</a:t>
            </a:r>
          </a:p>
        </p:txBody>
      </p:sp>
      <p:sp>
        <p:nvSpPr>
          <p:cNvPr id="6" name="Header mock"/>
          <p:cNvSpPr/>
          <p:nvPr/>
        </p:nvSpPr>
        <p:spPr>
          <a:xfrm>
            <a:off x="548640" y="3063240"/>
            <a:ext cx="5486400" cy="1920240"/>
          </a:xfrm>
          <a:prstGeom prst="roundRect">
            <a:avLst>
              <a:gd name="adj" fmla="val 12000"/>
            </a:avLst>
          </a:prstGeom>
          <a:solidFill>
            <a:srgbClr val="FFFFFF"/>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0" rIns="274320" tIns="274320" bIns="274320"/>
          <a:lstStyle/>
          <a:p>
            <a:pPr algn="l">
              <a:spcAft>
                <a:spcPts val="500"/>
              </a:spcAft>
            </a:pPr>
            <a:r>
              <a:rPr sz="1500" b="1" i="0">
                <a:solidFill>
                  <a:srgbClr val="12343B"/>
                </a:solidFill>
                <a:latin typeface="Calibri"/>
              </a:rPr>
              <a:t>AI Translation Result (Pseudocode)</a:t>
            </a:r>
          </a:p>
          <a:p>
            <a:pPr algn="l">
              <a:spcAft>
                <a:spcPts val="500"/>
              </a:spcAft>
            </a:pPr>
            <a:r>
              <a:rPr sz="1400" b="0" i="0">
                <a:solidFill>
                  <a:srgbClr val="5B6B73"/>
                </a:solidFill>
                <a:latin typeface="Calibri"/>
              </a:rPr>
              <a:t>Loaded from DB successfully</a:t>
            </a:r>
          </a:p>
          <a:p>
            <a:pPr algn="l">
              <a:spcAft>
                <a:spcPts val="500"/>
              </a:spcAft>
            </a:pPr>
            <a:r>
              <a:rPr sz="1200" b="1" i="0">
                <a:solidFill>
                  <a:srgbClr val="12343B"/>
                </a:solidFill>
                <a:latin typeface="Courier New"/>
              </a:rPr>
              <a:t>0.1 s   qwen3.8-27b</a:t>
            </a:r>
          </a:p>
          <a:p>
            <a:pPr algn="l">
              <a:spcAft>
                <a:spcPts val="500"/>
              </a:spcAft>
            </a:pPr>
            <a:r>
              <a:rPr sz="1200" b="0" i="0">
                <a:solidFill>
                  <a:srgbClr val="1F2A30"/>
                </a:solidFill>
                <a:latin typeface="Courier New"/>
              </a:rPr>
              <a:t>loaded from DB, saved 21 Oct 15:47</a:t>
            </a:r>
          </a:p>
          <a:p>
            <a:pPr algn="l">
              <a:spcAft>
                <a:spcPts val="500"/>
              </a:spcAft>
            </a:pPr>
            <a:r>
              <a:rPr sz="1200" b="1" i="0">
                <a:solidFill>
                  <a:srgbClr val="1D7874"/>
                </a:solidFill>
                <a:latin typeface="Courier New"/>
              </a:rPr>
              <a:t>0 tokens used now</a:t>
            </a:r>
          </a:p>
        </p:txBody>
      </p:sp>
      <p:sp>
        <p:nvSpPr>
          <p:cNvPr id="7" name="Rows head"/>
          <p:cNvSpPr txBox="1"/>
          <p:nvPr/>
        </p:nvSpPr>
        <p:spPr>
          <a:xfrm>
            <a:off x="6355080" y="2697480"/>
            <a:ext cx="5303520" cy="365760"/>
          </a:xfrm>
          <a:prstGeom prst="rect">
            <a:avLst/>
          </a:prstGeom>
          <a:noFill/>
        </p:spPr>
        <p:txBody>
          <a:bodyPr wrap="square" anchor="t" lIns="0" rIns="0" tIns="0" bIns="0">
            <a:spAutoFit/>
          </a:bodyPr>
          <a:lstStyle/>
          <a:p>
            <a:pPr algn="l">
              <a:spcAft>
                <a:spcPts val="600"/>
              </a:spcAft>
            </a:pPr>
            <a:r>
              <a:rPr sz="1400" b="1" i="0">
                <a:solidFill>
                  <a:srgbClr val="5B6B73"/>
                </a:solidFill>
                <a:latin typeface="Calibri"/>
              </a:rPr>
              <a:t>Rows in XenCreator.dbo.OutputXenTrans</a:t>
            </a:r>
          </a:p>
        </p:txBody>
      </p:sp>
      <p:graphicFrame>
        <p:nvGraphicFramePr>
          <p:cNvPr id="8" name="Table"/>
          <p:cNvGraphicFramePr>
            <a:graphicFrameLocks noGrp="1"/>
          </p:cNvGraphicFramePr>
          <p:nvPr/>
        </p:nvGraphicFramePr>
        <p:xfrm>
          <a:off x="6355080" y="3063240"/>
          <a:ext cx="5257800" cy="1682496"/>
        </p:xfrm>
        <a:graphic>
          <a:graphicData uri="http://schemas.openxmlformats.org/drawingml/2006/table">
            <a:tbl>
              <a:tblPr firstRow="0" bandRow="0">
                <a:tableStyleId>{5C22544A-7EE6-4342-B048-85BDC9FD1C3A}</a:tableStyleId>
              </a:tblPr>
              <a:tblGrid>
                <a:gridCol w="548640"/>
                <a:gridCol w="1600200"/>
                <a:gridCol w="1463040"/>
                <a:gridCol w="1645920"/>
              </a:tblGrid>
              <a:tr h="420624">
                <a:tc>
                  <a:txBody>
                    <a:bodyPr wrap="square"/>
                    <a:lstStyle/>
                    <a:p>
                      <a:r>
                        <a:rPr sz="1300" b="1" i="0">
                          <a:solidFill>
                            <a:srgbClr val="FFFFFF"/>
                          </a:solidFill>
                          <a:latin typeface="Calibri"/>
                        </a:rPr>
                        <a:t>Id</a:t>
                      </a:r>
                    </a:p>
                  </a:txBody>
                  <a:tcPr marL="91440" marR="91440" marT="36576" marB="36576" anchor="ctr">
                    <a:solidFill>
                      <a:srgbClr val="12343B"/>
                    </a:solidFill>
                  </a:tcPr>
                </a:tc>
                <a:tc>
                  <a:txBody>
                    <a:bodyPr wrap="square"/>
                    <a:lstStyle/>
                    <a:p>
                      <a:r>
                        <a:rPr sz="1300" b="1" i="0">
                          <a:solidFill>
                            <a:srgbClr val="FFFFFF"/>
                          </a:solidFill>
                          <a:latin typeface="Calibri"/>
                        </a:rPr>
                        <a:t>Scenario</a:t>
                      </a:r>
                    </a:p>
                  </a:txBody>
                  <a:tcPr marL="91440" marR="91440" marT="36576" marB="36576" anchor="ctr">
                    <a:solidFill>
                      <a:srgbClr val="12343B"/>
                    </a:solidFill>
                  </a:tcPr>
                </a:tc>
                <a:tc>
                  <a:txBody>
                    <a:bodyPr wrap="square"/>
                    <a:lstStyle/>
                    <a:p>
                      <a:r>
                        <a:rPr sz="1300" b="1" i="0">
                          <a:solidFill>
                            <a:srgbClr val="FFFFFF"/>
                          </a:solidFill>
                          <a:latin typeface="Calibri"/>
                        </a:rPr>
                        <a:t>Output</a:t>
                      </a:r>
                    </a:p>
                  </a:txBody>
                  <a:tcPr marL="91440" marR="91440" marT="36576" marB="36576" anchor="ctr">
                    <a:solidFill>
                      <a:srgbClr val="12343B"/>
                    </a:solidFill>
                  </a:tcPr>
                </a:tc>
                <a:tc>
                  <a:txBody>
                    <a:bodyPr wrap="square"/>
                    <a:lstStyle/>
                    <a:p>
                      <a:r>
                        <a:rPr sz="1300" b="1" i="0">
                          <a:solidFill>
                            <a:srgbClr val="FFFFFF"/>
                          </a:solidFill>
                          <a:latin typeface="Calibri"/>
                        </a:rPr>
                        <a:t>CreatedAt</a:t>
                      </a:r>
                    </a:p>
                  </a:txBody>
                  <a:tcPr marL="91440" marR="91440" marT="36576" marB="36576" anchor="ctr">
                    <a:solidFill>
                      <a:srgbClr val="12343B"/>
                    </a:solidFill>
                  </a:tcPr>
                </a:tc>
              </a:tr>
              <a:tr h="420624">
                <a:tc>
                  <a:txBody>
                    <a:bodyPr wrap="square"/>
                    <a:lstStyle/>
                    <a:p>
                      <a:r>
                        <a:rPr sz="1300" b="0" i="0">
                          <a:solidFill>
                            <a:srgbClr val="1F2A30"/>
                          </a:solidFill>
                          <a:latin typeface="Calibri"/>
                        </a:rPr>
                        <a:t>1</a:t>
                      </a:r>
                    </a:p>
                  </a:txBody>
                  <a:tcPr marL="91440" marR="91440" marT="36576" marB="36576" anchor="ctr">
                    <a:solidFill>
                      <a:srgbClr val="FFFFFF"/>
                    </a:solidFill>
                  </a:tcPr>
                </a:tc>
                <a:tc>
                  <a:txBody>
                    <a:bodyPr wrap="square"/>
                    <a:lstStyle/>
                    <a:p>
                      <a:r>
                        <a:rPr sz="1300" b="0" i="0">
                          <a:solidFill>
                            <a:srgbClr val="1F2A30"/>
                          </a:solidFill>
                          <a:latin typeface="Calibri"/>
                        </a:rPr>
                        <a:t>Operation</a:t>
                      </a:r>
                    </a:p>
                  </a:txBody>
                  <a:tcPr marL="91440" marR="91440" marT="36576" marB="36576" anchor="ctr">
                    <a:solidFill>
                      <a:srgbClr val="FFFFFF"/>
                    </a:solidFill>
                  </a:tcPr>
                </a:tc>
                <a:tc>
                  <a:txBody>
                    <a:bodyPr wrap="square"/>
                    <a:lstStyle/>
                    <a:p>
                      <a:r>
                        <a:rPr sz="1300" b="0" i="0">
                          <a:solidFill>
                            <a:srgbClr val="1F2A30"/>
                          </a:solidFill>
                          <a:latin typeface="Calibri"/>
                        </a:rPr>
                        <a:t>Pseudocode</a:t>
                      </a:r>
                    </a:p>
                  </a:txBody>
                  <a:tcPr marL="91440" marR="91440" marT="36576" marB="36576" anchor="ctr">
                    <a:solidFill>
                      <a:srgbClr val="FFFFFF"/>
                    </a:solidFill>
                  </a:tcPr>
                </a:tc>
                <a:tc>
                  <a:txBody>
                    <a:bodyPr wrap="square"/>
                    <a:lstStyle/>
                    <a:p>
                      <a:r>
                        <a:rPr sz="1300" b="0" i="0">
                          <a:solidFill>
                            <a:srgbClr val="1F2A30"/>
                          </a:solidFill>
                          <a:latin typeface="Calibri"/>
                        </a:rPr>
                        <a:t>21 Oct 15:47</a:t>
                      </a:r>
                    </a:p>
                  </a:txBody>
                  <a:tcPr marL="91440" marR="91440" marT="36576" marB="36576" anchor="ctr">
                    <a:solidFill>
                      <a:srgbClr val="FFFFFF"/>
                    </a:solidFill>
                  </a:tcPr>
                </a:tc>
              </a:tr>
              <a:tr h="420624">
                <a:tc>
                  <a:txBody>
                    <a:bodyPr wrap="square"/>
                    <a:lstStyle/>
                    <a:p>
                      <a:r>
                        <a:rPr sz="1300" b="0" i="0">
                          <a:solidFill>
                            <a:srgbClr val="1F2A30"/>
                          </a:solidFill>
                          <a:latin typeface="Calibri"/>
                        </a:rPr>
                        <a:t>7</a:t>
                      </a:r>
                    </a:p>
                  </a:txBody>
                  <a:tcPr marL="91440" marR="91440" marT="36576" marB="36576" anchor="ctr">
                    <a:solidFill>
                      <a:srgbClr val="F4F8F8"/>
                    </a:solidFill>
                  </a:tcPr>
                </a:tc>
                <a:tc>
                  <a:txBody>
                    <a:bodyPr wrap="square"/>
                    <a:lstStyle/>
                    <a:p>
                      <a:r>
                        <a:rPr sz="1300" b="0" i="0">
                          <a:solidFill>
                            <a:srgbClr val="1F2A30"/>
                          </a:solidFill>
                          <a:latin typeface="Calibri"/>
                        </a:rPr>
                        <a:t>Trip</a:t>
                      </a:r>
                    </a:p>
                  </a:txBody>
                  <a:tcPr marL="91440" marR="91440" marT="36576" marB="36576" anchor="ctr">
                    <a:solidFill>
                      <a:srgbClr val="F4F8F8"/>
                    </a:solidFill>
                  </a:tcPr>
                </a:tc>
                <a:tc>
                  <a:txBody>
                    <a:bodyPr wrap="square"/>
                    <a:lstStyle/>
                    <a:p>
                      <a:r>
                        <a:rPr sz="1300" b="0" i="0">
                          <a:solidFill>
                            <a:srgbClr val="1F2A30"/>
                          </a:solidFill>
                          <a:latin typeface="Calibri"/>
                        </a:rPr>
                        <a:t>Pseudocode</a:t>
                      </a:r>
                    </a:p>
                  </a:txBody>
                  <a:tcPr marL="91440" marR="91440" marT="36576" marB="36576" anchor="ctr">
                    <a:solidFill>
                      <a:srgbClr val="F4F8F8"/>
                    </a:solidFill>
                  </a:tcPr>
                </a:tc>
                <a:tc>
                  <a:txBody>
                    <a:bodyPr wrap="square"/>
                    <a:lstStyle/>
                    <a:p>
                      <a:r>
                        <a:rPr sz="1300" b="0" i="0">
                          <a:solidFill>
                            <a:srgbClr val="1F2A30"/>
                          </a:solidFill>
                          <a:latin typeface="Calibri"/>
                        </a:rPr>
                        <a:t>21 Oct 15:47</a:t>
                      </a:r>
                    </a:p>
                  </a:txBody>
                  <a:tcPr marL="91440" marR="91440" marT="36576" marB="36576" anchor="ctr">
                    <a:solidFill>
                      <a:srgbClr val="F4F8F8"/>
                    </a:solidFill>
                  </a:tcPr>
                </a:tc>
              </a:tr>
              <a:tr h="420624">
                <a:tc>
                  <a:txBody>
                    <a:bodyPr wrap="square"/>
                    <a:lstStyle/>
                    <a:p>
                      <a:r>
                        <a:rPr sz="1300" b="0" i="0">
                          <a:solidFill>
                            <a:srgbClr val="1F2A30"/>
                          </a:solidFill>
                          <a:latin typeface="Calibri"/>
                        </a:rPr>
                        <a:t>8</a:t>
                      </a:r>
                    </a:p>
                  </a:txBody>
                  <a:tcPr marL="91440" marR="91440" marT="36576" marB="36576" anchor="ctr">
                    <a:solidFill>
                      <a:srgbClr val="FFFFFF"/>
                    </a:solidFill>
                  </a:tcPr>
                </a:tc>
                <a:tc>
                  <a:txBody>
                    <a:bodyPr wrap="square"/>
                    <a:lstStyle/>
                    <a:p>
                      <a:r>
                        <a:rPr sz="1300" b="0" i="0">
                          <a:solidFill>
                            <a:srgbClr val="1F2A30"/>
                          </a:solidFill>
                          <a:latin typeface="Calibri"/>
                        </a:rPr>
                        <a:t>Trip</a:t>
                      </a:r>
                    </a:p>
                  </a:txBody>
                  <a:tcPr marL="91440" marR="91440" marT="36576" marB="36576" anchor="ctr">
                    <a:solidFill>
                      <a:srgbClr val="FFFFFF"/>
                    </a:solidFill>
                  </a:tcPr>
                </a:tc>
                <a:tc>
                  <a:txBody>
                    <a:bodyPr wrap="square"/>
                    <a:lstStyle/>
                    <a:p>
                      <a:r>
                        <a:rPr sz="1300" b="0" i="0">
                          <a:solidFill>
                            <a:srgbClr val="1F2A30"/>
                          </a:solidFill>
                          <a:latin typeface="Calibri"/>
                        </a:rPr>
                        <a:t>Pseudocode</a:t>
                      </a:r>
                    </a:p>
                  </a:txBody>
                  <a:tcPr marL="91440" marR="91440" marT="36576" marB="36576" anchor="ctr">
                    <a:solidFill>
                      <a:srgbClr val="FFFFFF"/>
                    </a:solidFill>
                  </a:tcPr>
                </a:tc>
                <a:tc>
                  <a:txBody>
                    <a:bodyPr wrap="square"/>
                    <a:lstStyle/>
                    <a:p>
                      <a:r>
                        <a:rPr sz="1300" b="0" i="0">
                          <a:solidFill>
                            <a:srgbClr val="1F2A30"/>
                          </a:solidFill>
                          <a:latin typeface="Calibri"/>
                        </a:rPr>
                        <a:t>22 Oct 10:47</a:t>
                      </a:r>
                    </a:p>
                  </a:txBody>
                  <a:tcPr marL="91440" marR="91440" marT="36576" marB="36576" anchor="ctr">
                    <a:solidFill>
                      <a:srgbClr val="FFFFFF"/>
                    </a:solidFill>
                  </a:tcPr>
                </a:tc>
              </a:tr>
            </a:tbl>
          </a:graphicData>
        </a:graphic>
      </p:graphicFrame>
      <p:sp>
        <p:nvSpPr>
          <p:cNvPr id="9" name="Rows note"/>
          <p:cNvSpPr txBox="1"/>
          <p:nvPr/>
        </p:nvSpPr>
        <p:spPr>
          <a:xfrm>
            <a:off x="6355080" y="4846320"/>
            <a:ext cx="5257800" cy="548640"/>
          </a:xfrm>
          <a:prstGeom prst="rect">
            <a:avLst/>
          </a:prstGeom>
          <a:noFill/>
        </p:spPr>
        <p:txBody>
          <a:bodyPr wrap="square" anchor="t" lIns="0" rIns="0" tIns="0" bIns="0">
            <a:spAutoFit/>
          </a:bodyPr>
          <a:lstStyle/>
          <a:p>
            <a:pPr algn="l">
              <a:spcAft>
                <a:spcPts val="600"/>
              </a:spcAft>
            </a:pPr>
            <a:r>
              <a:rPr sz="1300" b="0" i="0">
                <a:solidFill>
                  <a:srgbClr val="5B6B73"/>
                </a:solidFill>
                <a:latin typeface="Calibri"/>
              </a:rPr>
              <a:t>Row 8 is Trip re-translated after an edit. Row 7 stays as history.</a:t>
            </a:r>
          </a:p>
        </p:txBody>
      </p:sp>
      <p:sp>
        <p:nvSpPr>
          <p:cNvPr id="10" name="Keep note"/>
          <p:cNvSpPr/>
          <p:nvPr/>
        </p:nvSpPr>
        <p:spPr>
          <a:xfrm>
            <a:off x="548640" y="5440680"/>
            <a:ext cx="11064240" cy="68580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228600" bIns="228600"/>
          <a:lstStyle/>
          <a:p>
            <a:pPr algn="l">
              <a:spcAft>
                <a:spcPts val="200"/>
              </a:spcAft>
            </a:pPr>
            <a:r>
              <a:rPr sz="1400" b="1" i="0">
                <a:solidFill>
                  <a:srgbClr val="1F2A30"/>
                </a:solidFill>
                <a:latin typeface="Calibri"/>
              </a:rPr>
              <a:t>Results stay on screen while the app is open. </a:t>
            </a:r>
            <a:r>
              <a:rPr sz="1400" b="0" i="0">
                <a:solidFill>
                  <a:srgbClr val="1F2A30"/>
                </a:solidFill>
                <a:latin typeface="Calibri"/>
              </a:rPr>
              <a:t>Click between scenarios, or switch Motor to Valve and back - each keeps its output.</a:t>
            </a:r>
          </a:p>
        </p:txBody>
      </p:sp>
      <p:sp>
        <p:nvSpPr>
          <p:cNvPr id="11"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12"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Tested before use</a:t>
            </a:r>
          </a:p>
        </p:txBody>
      </p:sp>
      <p:sp>
        <p:nvSpPr>
          <p:cNvPr id="3" name="Subtitle"/>
          <p:cNvSpPr txBox="1"/>
          <p:nvPr/>
        </p:nvSpPr>
        <p:spPr>
          <a:xfrm>
            <a:off x="548640" y="1078992"/>
            <a:ext cx="11064240" cy="411480"/>
          </a:xfrm>
          <a:prstGeom prst="rect">
            <a:avLst/>
          </a:prstGeom>
          <a:noFill/>
        </p:spPr>
        <p:txBody>
          <a:bodyPr wrap="square" anchor="t" lIns="0" rIns="0" tIns="0" bIns="0">
            <a:spAutoFit/>
          </a:bodyPr>
          <a:lstStyle/>
          <a:p>
            <a:pPr algn="l">
              <a:spcAft>
                <a:spcPts val="600"/>
              </a:spcAft>
            </a:pPr>
            <a:r>
              <a:rPr sz="1600" b="0" i="0">
                <a:solidFill>
                  <a:srgbClr val="5B6B73"/>
                </a:solidFill>
                <a:latin typeface="Calibri"/>
              </a:rPr>
              <a:t>21 automated checks on a throwaway local database, then on the real server</a:t>
            </a:r>
          </a:p>
        </p:txBody>
      </p:sp>
      <p:graphicFrame>
        <p:nvGraphicFramePr>
          <p:cNvPr id="4" name="Table"/>
          <p:cNvGraphicFramePr>
            <a:graphicFrameLocks noGrp="1"/>
          </p:cNvGraphicFramePr>
          <p:nvPr/>
        </p:nvGraphicFramePr>
        <p:xfrm>
          <a:off x="548640" y="1691640"/>
          <a:ext cx="11064240" cy="4297680"/>
        </p:xfrm>
        <a:graphic>
          <a:graphicData uri="http://schemas.openxmlformats.org/drawingml/2006/table">
            <a:tbl>
              <a:tblPr firstRow="0" bandRow="0">
                <a:tableStyleId>{5C22544A-7EE6-4342-B048-85BDC9FD1C3A}</a:tableStyleId>
              </a:tblPr>
              <a:tblGrid>
                <a:gridCol w="9509760"/>
                <a:gridCol w="1554480"/>
              </a:tblGrid>
              <a:tr h="429768">
                <a:tc>
                  <a:txBody>
                    <a:bodyPr wrap="square"/>
                    <a:lstStyle/>
                    <a:p>
                      <a:r>
                        <a:rPr sz="1400" b="1" i="0">
                          <a:solidFill>
                            <a:srgbClr val="FFFFFF"/>
                          </a:solidFill>
                          <a:latin typeface="Calibri"/>
                        </a:rPr>
                        <a:t>Check</a:t>
                      </a:r>
                    </a:p>
                  </a:txBody>
                  <a:tcPr marL="91440" marR="91440" marT="36576" marB="36576" anchor="ctr">
                    <a:solidFill>
                      <a:srgbClr val="12343B"/>
                    </a:solidFill>
                  </a:tcPr>
                </a:tc>
                <a:tc>
                  <a:txBody>
                    <a:bodyPr wrap="square"/>
                    <a:lstStyle/>
                    <a:p>
                      <a:r>
                        <a:rPr sz="1400" b="1" i="0">
                          <a:solidFill>
                            <a:srgbClr val="FFFFFF"/>
                          </a:solidFill>
                          <a:latin typeface="Calibri"/>
                        </a:rPr>
                        <a:t>Result</a:t>
                      </a:r>
                    </a:p>
                  </a:txBody>
                  <a:tcPr marL="91440" marR="91440" marT="36576" marB="36576" anchor="ctr">
                    <a:solidFill>
                      <a:srgbClr val="12343B"/>
                    </a:solidFill>
                  </a:tcPr>
                </a:tc>
              </a:tr>
              <a:tr h="429768">
                <a:tc>
                  <a:txBody>
                    <a:bodyPr wrap="square"/>
                    <a:lstStyle/>
                    <a:p>
                      <a:r>
                        <a:rPr sz="1400" b="0" i="0">
                          <a:solidFill>
                            <a:srgbClr val="1F2A30"/>
                          </a:solidFill>
                          <a:latin typeface="Calibri"/>
                        </a:rPr>
                        <a:t>The table script runs - and runs a second time without errors</a:t>
                      </a:r>
                    </a:p>
                  </a:txBody>
                  <a:tcPr marL="91440" marR="91440" marT="36576" marB="36576" anchor="ctr">
                    <a:solidFill>
                      <a:srgbClr val="FFFFFF"/>
                    </a:solidFill>
                  </a:tcPr>
                </a:tc>
                <a:tc>
                  <a:txBody>
                    <a:bodyPr wrap="square"/>
                    <a:lstStyle/>
                    <a:p>
                      <a:r>
                        <a:rPr sz="1400" b="1" i="0">
                          <a:solidFill>
                            <a:srgbClr val="1D7874"/>
                          </a:solidFill>
                          <a:latin typeface="Calibri"/>
                        </a:rPr>
                        <a:t>Pass</a:t>
                      </a:r>
                    </a:p>
                  </a:txBody>
                  <a:tcPr marL="91440" marR="91440" marT="36576" marB="36576" anchor="ctr">
                    <a:solidFill>
                      <a:srgbClr val="FFFFFF"/>
                    </a:solidFill>
                  </a:tcPr>
                </a:tc>
              </a:tr>
              <a:tr h="429768">
                <a:tc>
                  <a:txBody>
                    <a:bodyPr wrap="square"/>
                    <a:lstStyle/>
                    <a:p>
                      <a:r>
                        <a:rPr sz="1400" b="0" i="0">
                          <a:solidFill>
                            <a:srgbClr val="1F2A30"/>
                          </a:solidFill>
                          <a:latin typeface="Calibri"/>
                        </a:rPr>
                        <a:t>A saved result loads back identically, line breaks and warnings included</a:t>
                      </a:r>
                    </a:p>
                  </a:txBody>
                  <a:tcPr marL="91440" marR="91440" marT="36576" marB="36576" anchor="ctr">
                    <a:solidFill>
                      <a:srgbClr val="F4F8F8"/>
                    </a:solidFill>
                  </a:tcPr>
                </a:tc>
                <a:tc>
                  <a:txBody>
                    <a:bodyPr wrap="square"/>
                    <a:lstStyle/>
                    <a:p>
                      <a:r>
                        <a:rPr sz="1400" b="1" i="0">
                          <a:solidFill>
                            <a:srgbClr val="1D7874"/>
                          </a:solidFill>
                          <a:latin typeface="Calibri"/>
                        </a:rPr>
                        <a:t>Pass</a:t>
                      </a:r>
                    </a:p>
                  </a:txBody>
                  <a:tcPr marL="91440" marR="91440" marT="36576" marB="36576" anchor="ctr">
                    <a:solidFill>
                      <a:srgbClr val="F4F8F8"/>
                    </a:solidFill>
                  </a:tcPr>
                </a:tc>
              </a:tr>
              <a:tr h="429768">
                <a:tc>
                  <a:txBody>
                    <a:bodyPr wrap="square"/>
                    <a:lstStyle/>
                    <a:p>
                      <a:r>
                        <a:rPr sz="1400" b="0" i="0">
                          <a:solidFill>
                            <a:srgbClr val="1F2A30"/>
                          </a:solidFill>
                          <a:latin typeface="Calibri"/>
                        </a:rPr>
                        <a:t>Failed results are never saved</a:t>
                      </a:r>
                    </a:p>
                  </a:txBody>
                  <a:tcPr marL="91440" marR="91440" marT="36576" marB="36576" anchor="ctr">
                    <a:solidFill>
                      <a:srgbClr val="FFFFFF"/>
                    </a:solidFill>
                  </a:tcPr>
                </a:tc>
                <a:tc>
                  <a:txBody>
                    <a:bodyPr wrap="square"/>
                    <a:lstStyle/>
                    <a:p>
                      <a:r>
                        <a:rPr sz="1400" b="1" i="0">
                          <a:solidFill>
                            <a:srgbClr val="1D7874"/>
                          </a:solidFill>
                          <a:latin typeface="Calibri"/>
                        </a:rPr>
                        <a:t>Pass</a:t>
                      </a:r>
                    </a:p>
                  </a:txBody>
                  <a:tcPr marL="91440" marR="91440" marT="36576" marB="36576" anchor="ctr">
                    <a:solidFill>
                      <a:srgbClr val="FFFFFF"/>
                    </a:solidFill>
                  </a:tcPr>
                </a:tc>
              </a:tr>
              <a:tr h="429768">
                <a:tc>
                  <a:txBody>
                    <a:bodyPr wrap="square"/>
                    <a:lstStyle/>
                    <a:p>
                      <a:r>
                        <a:rPr sz="1400" b="0" i="0">
                          <a:solidFill>
                            <a:srgbClr val="1F2A30"/>
                          </a:solidFill>
                          <a:latin typeface="Calibri"/>
                        </a:rPr>
                        <a:t>History is kept, and the newest saved row wins</a:t>
                      </a:r>
                    </a:p>
                  </a:txBody>
                  <a:tcPr marL="91440" marR="91440" marT="36576" marB="36576" anchor="ctr">
                    <a:solidFill>
                      <a:srgbClr val="F4F8F8"/>
                    </a:solidFill>
                  </a:tcPr>
                </a:tc>
                <a:tc>
                  <a:txBody>
                    <a:bodyPr wrap="square"/>
                    <a:lstStyle/>
                    <a:p>
                      <a:r>
                        <a:rPr sz="1400" b="1" i="0">
                          <a:solidFill>
                            <a:srgbClr val="1D7874"/>
                          </a:solidFill>
                          <a:latin typeface="Calibri"/>
                        </a:rPr>
                        <a:t>Pass</a:t>
                      </a:r>
                    </a:p>
                  </a:txBody>
                  <a:tcPr marL="91440" marR="91440" marT="36576" marB="36576" anchor="ctr">
                    <a:solidFill>
                      <a:srgbClr val="F4F8F8"/>
                    </a:solidFill>
                  </a:tcPr>
                </a:tc>
              </a:tr>
              <a:tr h="429768">
                <a:tc>
                  <a:txBody>
                    <a:bodyPr wrap="square"/>
                    <a:lstStyle/>
                    <a:p>
                      <a:r>
                        <a:rPr sz="1400" b="0" i="0">
                          <a:solidFill>
                            <a:srgbClr val="1F2A30"/>
                          </a:solidFill>
                          <a:latin typeface="Calibri"/>
                        </a:rPr>
                        <a:t>Editing Trip re-translates only Trip</a:t>
                      </a:r>
                    </a:p>
                  </a:txBody>
                  <a:tcPr marL="91440" marR="91440" marT="36576" marB="36576" anchor="ctr">
                    <a:solidFill>
                      <a:srgbClr val="FFFFFF"/>
                    </a:solidFill>
                  </a:tcPr>
                </a:tc>
                <a:tc>
                  <a:txBody>
                    <a:bodyPr wrap="square"/>
                    <a:lstStyle/>
                    <a:p>
                      <a:r>
                        <a:rPr sz="1400" b="1" i="0">
                          <a:solidFill>
                            <a:srgbClr val="1D7874"/>
                          </a:solidFill>
                          <a:latin typeface="Calibri"/>
                        </a:rPr>
                        <a:t>Pass</a:t>
                      </a:r>
                    </a:p>
                  </a:txBody>
                  <a:tcPr marL="91440" marR="91440" marT="36576" marB="36576" anchor="ctr">
                    <a:solidFill>
                      <a:srgbClr val="FFFFFF"/>
                    </a:solidFill>
                  </a:tcPr>
                </a:tc>
              </a:tr>
              <a:tr h="429768">
                <a:tc>
                  <a:txBody>
                    <a:bodyPr wrap="square"/>
                    <a:lstStyle/>
                    <a:p>
                      <a:r>
                        <a:rPr sz="1400" b="0" i="0">
                          <a:solidFill>
                            <a:srgbClr val="1F2A30"/>
                          </a:solidFill>
                          <a:latin typeface="Calibri"/>
                        </a:rPr>
                        <a:t>Editing Auto Run Ready also refreshes Operation and System Handle</a:t>
                      </a:r>
                    </a:p>
                  </a:txBody>
                  <a:tcPr marL="91440" marR="91440" marT="36576" marB="36576" anchor="ctr">
                    <a:solidFill>
                      <a:srgbClr val="F4F8F8"/>
                    </a:solidFill>
                  </a:tcPr>
                </a:tc>
                <a:tc>
                  <a:txBody>
                    <a:bodyPr wrap="square"/>
                    <a:lstStyle/>
                    <a:p>
                      <a:r>
                        <a:rPr sz="1400" b="1" i="0">
                          <a:solidFill>
                            <a:srgbClr val="1D7874"/>
                          </a:solidFill>
                          <a:latin typeface="Calibri"/>
                        </a:rPr>
                        <a:t>Pass</a:t>
                      </a:r>
                    </a:p>
                  </a:txBody>
                  <a:tcPr marL="91440" marR="91440" marT="36576" marB="36576" anchor="ctr">
                    <a:solidFill>
                      <a:srgbClr val="F4F8F8"/>
                    </a:solidFill>
                  </a:tcPr>
                </a:tc>
              </a:tr>
              <a:tr h="429768">
                <a:tc>
                  <a:txBody>
                    <a:bodyPr wrap="square"/>
                    <a:lstStyle/>
                    <a:p>
                      <a:r>
                        <a:rPr sz="1400" b="0" i="0">
                          <a:solidFill>
                            <a:srgbClr val="1F2A30"/>
                          </a:solidFill>
                          <a:latin typeface="Calibri"/>
                        </a:rPr>
                        <a:t>Unreachable server: a plain message, and the password never appears</a:t>
                      </a:r>
                    </a:p>
                  </a:txBody>
                  <a:tcPr marL="91440" marR="91440" marT="36576" marB="36576" anchor="ctr">
                    <a:solidFill>
                      <a:srgbClr val="FFFFFF"/>
                    </a:solidFill>
                  </a:tcPr>
                </a:tc>
                <a:tc>
                  <a:txBody>
                    <a:bodyPr wrap="square"/>
                    <a:lstStyle/>
                    <a:p>
                      <a:r>
                        <a:rPr sz="1400" b="1" i="0">
                          <a:solidFill>
                            <a:srgbClr val="1D7874"/>
                          </a:solidFill>
                          <a:latin typeface="Calibri"/>
                        </a:rPr>
                        <a:t>Pass</a:t>
                      </a:r>
                    </a:p>
                  </a:txBody>
                  <a:tcPr marL="91440" marR="91440" marT="36576" marB="36576" anchor="ctr">
                    <a:solidFill>
                      <a:srgbClr val="FFFFFF"/>
                    </a:solidFill>
                  </a:tcPr>
                </a:tc>
              </a:tr>
              <a:tr h="429768">
                <a:tc>
                  <a:txBody>
                    <a:bodyPr wrap="square"/>
                    <a:lstStyle/>
                    <a:p>
                      <a:r>
                        <a:rPr sz="1400" b="0" i="0">
                          <a:solidFill>
                            <a:srgbClr val="1F2A30"/>
                          </a:solidFill>
                          <a:latin typeface="Calibri"/>
                        </a:rPr>
                        <a:t>Live: a Groq answer saved, then served from the database with 0 tokens</a:t>
                      </a:r>
                    </a:p>
                  </a:txBody>
                  <a:tcPr marL="91440" marR="91440" marT="36576" marB="36576" anchor="ctr">
                    <a:solidFill>
                      <a:srgbClr val="F4F8F8"/>
                    </a:solidFill>
                  </a:tcPr>
                </a:tc>
                <a:tc>
                  <a:txBody>
                    <a:bodyPr wrap="square"/>
                    <a:lstStyle/>
                    <a:p>
                      <a:r>
                        <a:rPr sz="1400" b="1" i="0">
                          <a:solidFill>
                            <a:srgbClr val="1D7874"/>
                          </a:solidFill>
                          <a:latin typeface="Calibri"/>
                        </a:rPr>
                        <a:t>Pass</a:t>
                      </a:r>
                    </a:p>
                  </a:txBody>
                  <a:tcPr marL="91440" marR="91440" marT="36576" marB="36576" anchor="ctr">
                    <a:solidFill>
                      <a:srgbClr val="F4F8F8"/>
                    </a:solidFill>
                  </a:tcPr>
                </a:tc>
              </a:tr>
              <a:tr h="429768">
                <a:tc>
                  <a:txBody>
                    <a:bodyPr wrap="square"/>
                    <a:lstStyle/>
                    <a:p>
                      <a:r>
                        <a:rPr sz="1400" b="0" i="0">
                          <a:solidFill>
                            <a:srgbClr val="1F2A30"/>
                          </a:solidFill>
                          <a:latin typeface="Calibri"/>
                        </a:rPr>
                        <a:t>Real server: 7 Motor scenarios loaded from DB in 0.4 seconds</a:t>
                      </a:r>
                    </a:p>
                  </a:txBody>
                  <a:tcPr marL="91440" marR="91440" marT="36576" marB="36576" anchor="ctr">
                    <a:solidFill>
                      <a:srgbClr val="FFFFFF"/>
                    </a:solidFill>
                  </a:tcPr>
                </a:tc>
                <a:tc>
                  <a:txBody>
                    <a:bodyPr wrap="square"/>
                    <a:lstStyle/>
                    <a:p>
                      <a:r>
                        <a:rPr sz="1400" b="1" i="0">
                          <a:solidFill>
                            <a:srgbClr val="1D7874"/>
                          </a:solidFill>
                          <a:latin typeface="Calibri"/>
                        </a:rPr>
                        <a:t>Pass</a:t>
                      </a:r>
                    </a:p>
                  </a:txBody>
                  <a:tcPr marL="91440" marR="91440" marT="36576" marB="36576" anchor="ctr">
                    <a:solidFill>
                      <a:srgbClr val="FFFFFF"/>
                    </a:solidFill>
                  </a:tcPr>
                </a:tc>
              </a:tr>
            </a:tbl>
          </a:graphicData>
        </a:graphic>
      </p:graphicFrame>
      <p:sp>
        <p:nvSpPr>
          <p:cNvPr id="5"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6"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Four decisions, now settled</a:t>
            </a:r>
          </a:p>
        </p:txBody>
      </p:sp>
      <p:sp>
        <p:nvSpPr>
          <p:cNvPr id="3" name="Decision card 1"/>
          <p:cNvSpPr/>
          <p:nvPr/>
        </p:nvSpPr>
        <p:spPr>
          <a:xfrm>
            <a:off x="548640" y="1463040"/>
            <a:ext cx="5440680" cy="21488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adge 1"/>
          <p:cNvSpPr/>
          <p:nvPr/>
        </p:nvSpPr>
        <p:spPr>
          <a:xfrm>
            <a:off x="822959" y="173736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1</a:t>
            </a:r>
          </a:p>
        </p:txBody>
      </p:sp>
      <p:sp>
        <p:nvSpPr>
          <p:cNvPr id="5" name="Decision head 1"/>
          <p:cNvSpPr txBox="1"/>
          <p:nvPr/>
        </p:nvSpPr>
        <p:spPr>
          <a:xfrm>
            <a:off x="1554480" y="173736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The login stays out of the code</a:t>
            </a:r>
          </a:p>
        </p:txBody>
      </p:sp>
      <p:sp>
        <p:nvSpPr>
          <p:cNvPr id="6" name="Decision body 1"/>
          <p:cNvSpPr txBox="1"/>
          <p:nvPr/>
        </p:nvSpPr>
        <p:spPr>
          <a:xfrm>
            <a:off x="1554480" y="235915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Stored in the XENTRANS_DB setting, like the API keys. Windows sign-in is refused on this server, so it uses the rndsa login; the setup script asks for it hidden.</a:t>
            </a:r>
          </a:p>
        </p:txBody>
      </p:sp>
      <p:sp>
        <p:nvSpPr>
          <p:cNvPr id="7" name="Decision card 2"/>
          <p:cNvSpPr/>
          <p:nvPr/>
        </p:nvSpPr>
        <p:spPr>
          <a:xfrm>
            <a:off x="6172200" y="1463040"/>
            <a:ext cx="5440680" cy="214884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dge 2"/>
          <p:cNvSpPr/>
          <p:nvPr/>
        </p:nvSpPr>
        <p:spPr>
          <a:xfrm>
            <a:off x="6446520" y="173736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2</a:t>
            </a:r>
          </a:p>
        </p:txBody>
      </p:sp>
      <p:sp>
        <p:nvSpPr>
          <p:cNvPr id="9" name="Decision head 2"/>
          <p:cNvSpPr txBox="1"/>
          <p:nvPr/>
        </p:nvSpPr>
        <p:spPr>
          <a:xfrm>
            <a:off x="7178040" y="173736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The table is created</a:t>
            </a:r>
          </a:p>
        </p:txBody>
      </p:sp>
      <p:sp>
        <p:nvSpPr>
          <p:cNvPr id="10" name="Decision body 2"/>
          <p:cNvSpPr txBox="1"/>
          <p:nvPr/>
        </p:nvSpPr>
        <p:spPr>
          <a:xfrm>
            <a:off x="7178040" y="235915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XenCreator.dbo.OutputXenTrans was created with OutputXenTrans.sql and is in use.</a:t>
            </a:r>
          </a:p>
        </p:txBody>
      </p:sp>
      <p:sp>
        <p:nvSpPr>
          <p:cNvPr id="11" name="Decision card 3"/>
          <p:cNvSpPr/>
          <p:nvPr/>
        </p:nvSpPr>
        <p:spPr>
          <a:xfrm>
            <a:off x="548640" y="3840480"/>
            <a:ext cx="5440680" cy="2148840"/>
          </a:xfrm>
          <a:prstGeom prst="roundRect">
            <a:avLst>
              <a:gd name="adj" fmla="val 12000"/>
            </a:avLst>
          </a:prstGeom>
          <a:solidFill>
            <a:srgbClr val="F4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dge 3"/>
          <p:cNvSpPr/>
          <p:nvPr/>
        </p:nvSpPr>
        <p:spPr>
          <a:xfrm>
            <a:off x="822959" y="411480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3</a:t>
            </a:r>
          </a:p>
        </p:txBody>
      </p:sp>
      <p:sp>
        <p:nvSpPr>
          <p:cNvPr id="13" name="Decision head 3"/>
          <p:cNvSpPr txBox="1"/>
          <p:nvPr/>
        </p:nvSpPr>
        <p:spPr>
          <a:xfrm>
            <a:off x="1554480" y="411480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Database down? The app still works</a:t>
            </a:r>
          </a:p>
        </p:txBody>
      </p:sp>
      <p:sp>
        <p:nvSpPr>
          <p:cNvPr id="14" name="Decision body 3"/>
          <p:cNvSpPr txBox="1"/>
          <p:nvPr/>
        </p:nvSpPr>
        <p:spPr>
          <a:xfrm>
            <a:off x="1554480" y="473659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It checks once per run. If the server cannot be reached, it carries on with the AI and says why in the status bar.</a:t>
            </a:r>
          </a:p>
        </p:txBody>
      </p:sp>
      <p:sp>
        <p:nvSpPr>
          <p:cNvPr id="15" name="Decision card 4"/>
          <p:cNvSpPr/>
          <p:nvPr/>
        </p:nvSpPr>
        <p:spPr>
          <a:xfrm>
            <a:off x="6172200" y="3840480"/>
            <a:ext cx="5440680" cy="2148840"/>
          </a:xfrm>
          <a:prstGeom prst="roundRect">
            <a:avLst>
              <a:gd name="adj" fmla="val 12000"/>
            </a:avLst>
          </a:prstGeom>
          <a:solidFill>
            <a:srgbClr val="E6F0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dge 4"/>
          <p:cNvSpPr/>
          <p:nvPr/>
        </p:nvSpPr>
        <p:spPr>
          <a:xfrm>
            <a:off x="6446520" y="4114800"/>
            <a:ext cx="548640" cy="548640"/>
          </a:xfrm>
          <a:prstGeom prst="ellipse">
            <a:avLst/>
          </a:prstGeom>
          <a:solidFill>
            <a:srgbClr val="1D787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FFFFFF"/>
                </a:solidFill>
                <a:latin typeface="Calibri"/>
              </a:rPr>
              <a:t>4</a:t>
            </a:r>
          </a:p>
        </p:txBody>
      </p:sp>
      <p:sp>
        <p:nvSpPr>
          <p:cNvPr id="17" name="Decision head 4"/>
          <p:cNvSpPr txBox="1"/>
          <p:nvPr/>
        </p:nvSpPr>
        <p:spPr>
          <a:xfrm>
            <a:off x="7178040" y="4114800"/>
            <a:ext cx="4206240" cy="548640"/>
          </a:xfrm>
          <a:prstGeom prst="rect">
            <a:avLst/>
          </a:prstGeom>
          <a:noFill/>
        </p:spPr>
        <p:txBody>
          <a:bodyPr wrap="square" anchor="ctr" lIns="0" rIns="0" tIns="0" bIns="0">
            <a:spAutoFit/>
          </a:bodyPr>
          <a:lstStyle/>
          <a:p>
            <a:pPr algn="l">
              <a:spcAft>
                <a:spcPts val="600"/>
              </a:spcAft>
            </a:pPr>
            <a:r>
              <a:rPr sz="1800" b="1" i="0">
                <a:solidFill>
                  <a:srgbClr val="12343B"/>
                </a:solidFill>
                <a:latin typeface="Calibri"/>
              </a:rPr>
              <a:t>Saved results are frozen - handled</a:t>
            </a:r>
          </a:p>
        </p:txBody>
      </p:sp>
      <p:sp>
        <p:nvSpPr>
          <p:cNvPr id="18" name="Decision body 4"/>
          <p:cNvSpPr txBox="1"/>
          <p:nvPr/>
        </p:nvSpPr>
        <p:spPr>
          <a:xfrm>
            <a:off x="7178040" y="4736592"/>
            <a:ext cx="4206240" cy="1188720"/>
          </a:xfrm>
          <a:prstGeom prst="rect">
            <a:avLst/>
          </a:prstGeom>
          <a:noFill/>
        </p:spPr>
        <p:txBody>
          <a:bodyPr wrap="square" anchor="t" lIns="0" rIns="0" tIns="0" bIns="0">
            <a:spAutoFit/>
          </a:bodyPr>
          <a:lstStyle/>
          <a:p>
            <a:pPr algn="l">
              <a:spcAft>
                <a:spcPts val="600"/>
              </a:spcAft>
            </a:pPr>
            <a:r>
              <a:rPr sz="1400" b="0" i="0">
                <a:solidFill>
                  <a:srgbClr val="1F2A30"/>
                </a:solidFill>
                <a:latin typeface="Calibri"/>
              </a:rPr>
              <a:t>"Ignore saved" forces a fresh translation. The new result is saved too, and is the one loaded next time.</a:t>
            </a:r>
          </a:p>
        </p:txBody>
      </p:sp>
      <p:sp>
        <p:nvSpPr>
          <p:cNvPr id="19"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20"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43B"/>
        </a:solidFill>
        <a:effectLst/>
      </p:bgPr>
    </p:bg>
    <p:spTree>
      <p:nvGrpSpPr>
        <p:cNvPr id="1" name=""/>
        <p:cNvGrpSpPr/>
        <p:nvPr/>
      </p:nvGrpSpPr>
      <p:grpSpPr/>
      <p:sp>
        <p:nvSpPr>
          <p:cNvPr id="2" name="Title"/>
          <p:cNvSpPr txBox="1"/>
          <p:nvPr/>
        </p:nvSpPr>
        <p:spPr>
          <a:xfrm>
            <a:off x="822960" y="822960"/>
            <a:ext cx="10515600" cy="822960"/>
          </a:xfrm>
          <a:prstGeom prst="rect">
            <a:avLst/>
          </a:prstGeom>
          <a:noFill/>
        </p:spPr>
        <p:txBody>
          <a:bodyPr wrap="square" anchor="t" lIns="0" rIns="0" tIns="0" bIns="0">
            <a:spAutoFit/>
          </a:bodyPr>
          <a:lstStyle/>
          <a:p>
            <a:pPr algn="l">
              <a:spcAft>
                <a:spcPts val="600"/>
              </a:spcAft>
            </a:pPr>
            <a:r>
              <a:rPr sz="4000" b="1" i="0">
                <a:solidFill>
                  <a:srgbClr val="FFFFFF"/>
                </a:solidFill>
                <a:latin typeface="Cambria"/>
              </a:rPr>
              <a:t>What is next</a:t>
            </a:r>
          </a:p>
        </p:txBody>
      </p:sp>
      <p:sp>
        <p:nvSpPr>
          <p:cNvPr id="3" name="Badge 1"/>
          <p:cNvSpPr/>
          <p:nvPr/>
        </p:nvSpPr>
        <p:spPr>
          <a:xfrm>
            <a:off x="822960" y="19659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1</a:t>
            </a:r>
          </a:p>
        </p:txBody>
      </p:sp>
      <p:sp>
        <p:nvSpPr>
          <p:cNvPr id="4" name="Step 1"/>
          <p:cNvSpPr txBox="1"/>
          <p:nvPr/>
        </p:nvSpPr>
        <p:spPr>
          <a:xfrm>
            <a:off x="1645920" y="1947672"/>
            <a:ext cx="530352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Measure the saving over time</a:t>
            </a:r>
          </a:p>
        </p:txBody>
      </p:sp>
      <p:sp>
        <p:nvSpPr>
          <p:cNvPr id="5" name="Step note 1"/>
          <p:cNvSpPr txBox="1"/>
          <p:nvPr/>
        </p:nvSpPr>
        <p:spPr>
          <a:xfrm>
            <a:off x="1645920" y="23317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Tokens per day, read from the table</a:t>
            </a:r>
          </a:p>
        </p:txBody>
      </p:sp>
      <p:sp>
        <p:nvSpPr>
          <p:cNvPr id="6" name="Badge 2"/>
          <p:cNvSpPr/>
          <p:nvPr/>
        </p:nvSpPr>
        <p:spPr>
          <a:xfrm>
            <a:off x="822960" y="28803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2</a:t>
            </a:r>
          </a:p>
        </p:txBody>
      </p:sp>
      <p:sp>
        <p:nvSpPr>
          <p:cNvPr id="7" name="Step 2"/>
          <p:cNvSpPr txBox="1"/>
          <p:nvPr/>
        </p:nvSpPr>
        <p:spPr>
          <a:xfrm>
            <a:off x="1645920" y="2862072"/>
            <a:ext cx="530352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Name the six New Instance tags</a:t>
            </a:r>
          </a:p>
        </p:txBody>
      </p:sp>
      <p:sp>
        <p:nvSpPr>
          <p:cNvPr id="8" name="Step note 2"/>
          <p:cNvSpPr txBox="1"/>
          <p:nvPr/>
        </p:nvSpPr>
        <p:spPr>
          <a:xfrm>
            <a:off x="1645920" y="32461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The biggest single limit on SCL quality</a:t>
            </a:r>
          </a:p>
        </p:txBody>
      </p:sp>
      <p:sp>
        <p:nvSpPr>
          <p:cNvPr id="9" name="Badge 3"/>
          <p:cNvSpPr/>
          <p:nvPr/>
        </p:nvSpPr>
        <p:spPr>
          <a:xfrm>
            <a:off x="822960" y="37947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3</a:t>
            </a:r>
          </a:p>
        </p:txBody>
      </p:sp>
      <p:sp>
        <p:nvSpPr>
          <p:cNvPr id="10" name="Step 3"/>
          <p:cNvSpPr txBox="1"/>
          <p:nvPr/>
        </p:nvSpPr>
        <p:spPr>
          <a:xfrm>
            <a:off x="1645920" y="3776472"/>
            <a:ext cx="530352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Compile the output in TIA Portal</a:t>
            </a:r>
          </a:p>
        </p:txBody>
      </p:sp>
      <p:sp>
        <p:nvSpPr>
          <p:cNvPr id="11" name="Step note 3"/>
          <p:cNvSpPr txBox="1"/>
          <p:nvPr/>
        </p:nvSpPr>
        <p:spPr>
          <a:xfrm>
            <a:off x="1645920" y="41605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Not done yet - the real test of correctness</a:t>
            </a:r>
          </a:p>
        </p:txBody>
      </p:sp>
      <p:sp>
        <p:nvSpPr>
          <p:cNvPr id="12" name="Badge 4"/>
          <p:cNvSpPr/>
          <p:nvPr/>
        </p:nvSpPr>
        <p:spPr>
          <a:xfrm>
            <a:off x="822960" y="4709160"/>
            <a:ext cx="566928" cy="5669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200"/>
              </a:spcAft>
            </a:pPr>
            <a:r>
              <a:rPr sz="1800" b="1" i="0">
                <a:solidFill>
                  <a:srgbClr val="1F2A30"/>
                </a:solidFill>
                <a:latin typeface="Calibri"/>
              </a:rPr>
              <a:t>4</a:t>
            </a:r>
          </a:p>
        </p:txBody>
      </p:sp>
      <p:sp>
        <p:nvSpPr>
          <p:cNvPr id="13" name="Step 4"/>
          <p:cNvSpPr txBox="1"/>
          <p:nvPr/>
        </p:nvSpPr>
        <p:spPr>
          <a:xfrm>
            <a:off x="1645920" y="4690872"/>
            <a:ext cx="5303520" cy="411480"/>
          </a:xfrm>
          <a:prstGeom prst="rect">
            <a:avLst/>
          </a:prstGeom>
          <a:noFill/>
        </p:spPr>
        <p:txBody>
          <a:bodyPr wrap="square" anchor="t" lIns="0" rIns="0" tIns="0" bIns="0">
            <a:spAutoFit/>
          </a:bodyPr>
          <a:lstStyle/>
          <a:p>
            <a:pPr algn="l">
              <a:spcAft>
                <a:spcPts val="600"/>
              </a:spcAft>
            </a:pPr>
            <a:r>
              <a:rPr sz="2000" b="1" i="0">
                <a:solidFill>
                  <a:srgbClr val="FFFFFF"/>
                </a:solidFill>
                <a:latin typeface="Calibri"/>
              </a:rPr>
              <a:t>Tidy the scenario wording</a:t>
            </a:r>
          </a:p>
        </p:txBody>
      </p:sp>
      <p:sp>
        <p:nvSpPr>
          <p:cNvPr id="14" name="Step note 4"/>
          <p:cNvSpPr txBox="1"/>
          <p:nvPr/>
        </p:nvSpPr>
        <p:spPr>
          <a:xfrm>
            <a:off x="1645920" y="5074920"/>
            <a:ext cx="5486400" cy="365760"/>
          </a:xfrm>
          <a:prstGeom prst="rect">
            <a:avLst/>
          </a:prstGeom>
          <a:noFill/>
        </p:spPr>
        <p:txBody>
          <a:bodyPr wrap="square" anchor="t" lIns="0" rIns="0" tIns="0" bIns="0">
            <a:spAutoFit/>
          </a:bodyPr>
          <a:lstStyle/>
          <a:p>
            <a:pPr algn="l">
              <a:spcAft>
                <a:spcPts val="600"/>
              </a:spcAft>
            </a:pPr>
            <a:r>
              <a:rPr sz="1400" b="0" i="0">
                <a:solidFill>
                  <a:srgbClr val="CADCDB"/>
                </a:solidFill>
                <a:latin typeface="Calibri"/>
              </a:rPr>
              <a:t>Valve names missing from the data</a:t>
            </a:r>
          </a:p>
        </p:txBody>
      </p:sp>
      <p:sp>
        <p:nvSpPr>
          <p:cNvPr id="15" name="Result card"/>
          <p:cNvSpPr/>
          <p:nvPr/>
        </p:nvSpPr>
        <p:spPr>
          <a:xfrm>
            <a:off x="7680960" y="1965960"/>
            <a:ext cx="3749039" cy="2926080"/>
          </a:xfrm>
          <a:prstGeom prst="roundRect">
            <a:avLst>
              <a:gd name="adj" fmla="val 12000"/>
            </a:avLst>
          </a:prstGeom>
          <a:solidFill>
            <a:srgbClr val="1C4A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ult kicker"/>
          <p:cNvSpPr txBox="1"/>
          <p:nvPr/>
        </p:nvSpPr>
        <p:spPr>
          <a:xfrm>
            <a:off x="7955279" y="2194560"/>
            <a:ext cx="3291840" cy="411480"/>
          </a:xfrm>
          <a:prstGeom prst="rect">
            <a:avLst/>
          </a:prstGeom>
          <a:noFill/>
        </p:spPr>
        <p:txBody>
          <a:bodyPr wrap="square" anchor="t" lIns="0" rIns="0" tIns="0" bIns="0">
            <a:spAutoFit/>
          </a:bodyPr>
          <a:lstStyle/>
          <a:p>
            <a:pPr algn="l">
              <a:spcAft>
                <a:spcPts val="600"/>
              </a:spcAft>
            </a:pPr>
            <a:r>
              <a:rPr sz="1400" b="1" i="0">
                <a:solidFill>
                  <a:srgbClr val="E8A33D"/>
                </a:solidFill>
                <a:latin typeface="Calibri"/>
              </a:rPr>
              <a:t>THE RESULT</a:t>
            </a:r>
          </a:p>
        </p:txBody>
      </p:sp>
      <p:sp>
        <p:nvSpPr>
          <p:cNvPr id="17" name="Result body"/>
          <p:cNvSpPr txBox="1"/>
          <p:nvPr/>
        </p:nvSpPr>
        <p:spPr>
          <a:xfrm>
            <a:off x="7955279" y="2651760"/>
            <a:ext cx="3246120" cy="2194560"/>
          </a:xfrm>
          <a:prstGeom prst="rect">
            <a:avLst/>
          </a:prstGeom>
          <a:noFill/>
        </p:spPr>
        <p:txBody>
          <a:bodyPr wrap="square" anchor="t" lIns="0" rIns="0" tIns="0" bIns="0">
            <a:spAutoFit/>
          </a:bodyPr>
          <a:lstStyle/>
          <a:p>
            <a:pPr algn="l">
              <a:spcAft>
                <a:spcPts val="1000"/>
              </a:spcAft>
            </a:pPr>
            <a:r>
              <a:rPr sz="1600" b="0" i="0">
                <a:solidFill>
                  <a:srgbClr val="FFFFFF"/>
                </a:solidFill>
                <a:latin typeface="Calibri"/>
              </a:rPr>
              <a:t>Repeat runs now cost nothing: 0.4 seconds and 0 tokens, instead of two to three minutes and about 33,000 tokens.</a:t>
            </a:r>
          </a:p>
          <a:p>
            <a:pPr algn="l">
              <a:spcAft>
                <a:spcPts val="1000"/>
              </a:spcAft>
            </a:pPr>
            <a:r>
              <a:rPr sz="1600" b="1" i="0">
                <a:solidFill>
                  <a:srgbClr val="FFFFFF"/>
                </a:solidFill>
                <a:latin typeface="Calibri"/>
              </a:rPr>
              <a:t>The free tier now stretches across far more testing.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548640" y="384048"/>
            <a:ext cx="11064240" cy="731520"/>
          </a:xfrm>
          <a:prstGeom prst="rect">
            <a:avLst/>
          </a:prstGeom>
          <a:noFill/>
        </p:spPr>
        <p:txBody>
          <a:bodyPr wrap="square" anchor="ctr" lIns="0" rIns="0" tIns="0" bIns="0">
            <a:spAutoFit/>
          </a:bodyPr>
          <a:lstStyle/>
          <a:p>
            <a:pPr algn="l">
              <a:spcAft>
                <a:spcPts val="600"/>
              </a:spcAft>
            </a:pPr>
            <a:r>
              <a:rPr sz="3400" b="1" i="0">
                <a:solidFill>
                  <a:srgbClr val="12343B"/>
                </a:solidFill>
                <a:latin typeface="Cambria"/>
              </a:rPr>
              <a:t>Appendix: the table script, as run</a:t>
            </a:r>
          </a:p>
        </p:txBody>
      </p:sp>
      <p:sp>
        <p:nvSpPr>
          <p:cNvPr id="3" name="SQL"/>
          <p:cNvSpPr/>
          <p:nvPr/>
        </p:nvSpPr>
        <p:spPr>
          <a:xfrm>
            <a:off x="548640" y="1280160"/>
            <a:ext cx="11064240" cy="4892040"/>
          </a:xfrm>
          <a:prstGeom prst="roundRect">
            <a:avLst>
              <a:gd name="adj" fmla="val 3000"/>
            </a:avLst>
          </a:prstGeom>
          <a:solidFill>
            <a:srgbClr val="F4F8F8"/>
          </a:solidFill>
          <a:ln w="15875">
            <a:solidFill>
              <a:srgbClr val="C9D6D5"/>
            </a:solidFill>
          </a:ln>
          <a:effectLst/>
        </p:spPr>
        <p:style>
          <a:lnRef idx="1">
            <a:schemeClr val="accent1"/>
          </a:lnRef>
          <a:fillRef idx="3">
            <a:schemeClr val="accent1"/>
          </a:fillRef>
          <a:effectRef idx="2">
            <a:schemeClr val="accent1"/>
          </a:effectRef>
          <a:fontRef idx="minor">
            <a:schemeClr val="lt1"/>
          </a:fontRef>
        </p:style>
        <p:txBody>
          <a:bodyPr rtlCol="0" anchor="t" wrap="square" lIns="228600" rIns="228600" tIns="228600" bIns="228600"/>
          <a:lstStyle/>
          <a:p>
            <a:pPr algn="l">
              <a:spcAft>
                <a:spcPts val="0"/>
              </a:spcAft>
            </a:pPr>
            <a:r>
              <a:rPr sz="1050" b="0" i="0">
                <a:solidFill>
                  <a:srgbClr val="1F2A30"/>
                </a:solidFill>
                <a:latin typeface="Courier New"/>
              </a:rPr>
              <a:t>USE XenCreator;</a:t>
            </a:r>
          </a:p>
          <a:p>
            <a:pPr>
              <a:spcAft>
                <a:spcPts val="0"/>
              </a:spcAft>
            </a:pPr>
            <a:r>
              <a:rPr sz="1050" b="0" i="0">
                <a:solidFill>
                  <a:srgbClr val="1F2A30"/>
                </a:solidFill>
                <a:latin typeface="Courier New"/>
              </a:rPr>
              <a:t>GO</a:t>
            </a:r>
          </a:p>
          <a:p>
            <a:pPr>
              <a:spcAft>
                <a:spcPts val="0"/>
              </a:spcAft>
            </a:pPr>
            <a:r>
              <a:rPr sz="1050" b="0" i="0">
                <a:solidFill>
                  <a:srgbClr val="1F2A30"/>
                </a:solidFill>
                <a:latin typeface="Courier New"/>
              </a:rPr>
              <a:t>IF OBJECT_ID(N'dbo.OutputXenTrans', N'U') IS NULL</a:t>
            </a:r>
          </a:p>
          <a:p>
            <a:pPr>
              <a:spcAft>
                <a:spcPts val="0"/>
              </a:spcAft>
            </a:pPr>
            <a:r>
              <a:rPr sz="1050" b="0" i="0">
                <a:solidFill>
                  <a:srgbClr val="1F2A30"/>
                </a:solidFill>
                <a:latin typeface="Courier New"/>
              </a:rPr>
              <a:t>BEGIN</a:t>
            </a:r>
          </a:p>
          <a:p>
            <a:pPr>
              <a:spcAft>
                <a:spcPts val="0"/>
              </a:spcAft>
            </a:pPr>
            <a:r>
              <a:rPr sz="1050" b="0" i="0">
                <a:solidFill>
                  <a:srgbClr val="1F2A30"/>
                </a:solidFill>
                <a:latin typeface="Courier New"/>
              </a:rPr>
              <a:t>    CREATE TABLE dbo.OutputXenTrans (</a:t>
            </a:r>
          </a:p>
          <a:p>
            <a:pPr>
              <a:spcAft>
                <a:spcPts val="0"/>
              </a:spcAft>
            </a:pPr>
            <a:r>
              <a:rPr sz="1050" b="0" i="0">
                <a:solidFill>
                  <a:srgbClr val="1F2A30"/>
                </a:solidFill>
                <a:latin typeface="Courier New"/>
              </a:rPr>
              <a:t>        Id               INT IDENTITY(1,1) PRIMARY KEY,</a:t>
            </a:r>
          </a:p>
          <a:p>
            <a:pPr>
              <a:spcAft>
                <a:spcPts val="0"/>
              </a:spcAft>
            </a:pPr>
            <a:r>
              <a:rPr sz="1050" b="0" i="0">
                <a:solidFill>
                  <a:srgbClr val="1F2A30"/>
                </a:solidFill>
                <a:latin typeface="Courier New"/>
              </a:rPr>
              <a:t>        CacheKey         CHAR(64)       NOT NULL,</a:t>
            </a:r>
          </a:p>
          <a:p>
            <a:pPr>
              <a:spcAft>
                <a:spcPts val="0"/>
              </a:spcAft>
            </a:pPr>
            <a:r>
              <a:rPr sz="1050" b="0" i="0">
                <a:solidFill>
                  <a:srgbClr val="1F2A30"/>
                </a:solidFill>
                <a:latin typeface="Courier New"/>
              </a:rPr>
              <a:t>        Equipment        NVARCHAR(50)   NOT NULL,</a:t>
            </a:r>
          </a:p>
          <a:p>
            <a:pPr>
              <a:spcAft>
                <a:spcPts val="0"/>
              </a:spcAft>
            </a:pPr>
            <a:r>
              <a:rPr sz="1050" b="0" i="0">
                <a:solidFill>
                  <a:srgbClr val="1F2A30"/>
                </a:solidFill>
                <a:latin typeface="Courier New"/>
              </a:rPr>
              <a:t>        ScenarioName     NVARCHAR(200)  NOT NULL,</a:t>
            </a:r>
          </a:p>
          <a:p>
            <a:pPr>
              <a:spcAft>
                <a:spcPts val="0"/>
              </a:spcAft>
            </a:pPr>
            <a:r>
              <a:rPr sz="1050" b="0" i="0">
                <a:solidFill>
                  <a:srgbClr val="1F2A30"/>
                </a:solidFill>
                <a:latin typeface="Courier New"/>
              </a:rPr>
              <a:t>        ScenarioText     NVARCHAR(MAX)  NOT NULL,</a:t>
            </a:r>
          </a:p>
          <a:p>
            <a:pPr>
              <a:spcAft>
                <a:spcPts val="0"/>
              </a:spcAft>
            </a:pPr>
            <a:r>
              <a:rPr sz="1050" b="0" i="0">
                <a:solidFill>
                  <a:srgbClr val="1F2A30"/>
                </a:solidFill>
                <a:latin typeface="Courier New"/>
              </a:rPr>
              <a:t>        OutputTarget     NVARCHAR(30)   NOT NULL,</a:t>
            </a:r>
          </a:p>
          <a:p>
            <a:pPr>
              <a:spcAft>
                <a:spcPts val="0"/>
              </a:spcAft>
            </a:pPr>
            <a:r>
              <a:rPr sz="1050" b="0" i="0">
                <a:solidFill>
                  <a:srgbClr val="1F2A30"/>
                </a:solidFill>
                <a:latin typeface="Courier New"/>
              </a:rPr>
              <a:t>        Provider         NVARCHAR(100)  NOT NULL,</a:t>
            </a:r>
          </a:p>
          <a:p>
            <a:pPr>
              <a:spcAft>
                <a:spcPts val="0"/>
              </a:spcAft>
            </a:pPr>
            <a:r>
              <a:rPr sz="1050" b="0" i="0">
                <a:solidFill>
                  <a:srgbClr val="1F2A30"/>
                </a:solidFill>
                <a:latin typeface="Courier New"/>
              </a:rPr>
              <a:t>        Model            NVARCHAR(100)  NOT NULL,</a:t>
            </a:r>
          </a:p>
          <a:p>
            <a:pPr>
              <a:spcAft>
                <a:spcPts val="0"/>
              </a:spcAft>
            </a:pPr>
            <a:r>
              <a:rPr sz="1050" b="0" i="0">
                <a:solidFill>
                  <a:srgbClr val="1F2A30"/>
                </a:solidFill>
                <a:latin typeface="Courier New"/>
              </a:rPr>
              <a:t>        Code             NVARCHAR(MAX)  NOT NULL,</a:t>
            </a:r>
          </a:p>
          <a:p>
            <a:pPr>
              <a:spcAft>
                <a:spcPts val="0"/>
              </a:spcAft>
            </a:pPr>
            <a:r>
              <a:rPr sz="1050" b="0" i="0">
                <a:solidFill>
                  <a:srgbClr val="1F2A30"/>
                </a:solidFill>
                <a:latin typeface="Courier New"/>
              </a:rPr>
              <a:t>        Explanation      NVARCHAR(MAX)  NULL,</a:t>
            </a:r>
          </a:p>
          <a:p>
            <a:pPr>
              <a:spcAft>
                <a:spcPts val="0"/>
              </a:spcAft>
            </a:pPr>
            <a:r>
              <a:rPr sz="1050" b="0" i="0">
                <a:solidFill>
                  <a:srgbClr val="1F2A30"/>
                </a:solidFill>
                <a:latin typeface="Courier New"/>
              </a:rPr>
              <a:t>        VariablesUsed    NVARCHAR(MAX)  NULL,</a:t>
            </a:r>
          </a:p>
          <a:p>
            <a:pPr>
              <a:spcAft>
                <a:spcPts val="0"/>
              </a:spcAft>
            </a:pPr>
            <a:r>
              <a:rPr sz="1050" b="0" i="0">
                <a:solidFill>
                  <a:srgbClr val="1F2A30"/>
                </a:solidFill>
                <a:latin typeface="Courier New"/>
              </a:rPr>
              <a:t>        Warnings         NVARCHAR(MAX)  NULL,</a:t>
            </a:r>
          </a:p>
          <a:p>
            <a:pPr>
              <a:spcAft>
                <a:spcPts val="0"/>
              </a:spcAft>
            </a:pPr>
            <a:r>
              <a:rPr sz="1050" b="0" i="0">
                <a:solidFill>
                  <a:srgbClr val="1F2A30"/>
                </a:solidFill>
                <a:latin typeface="Courier New"/>
              </a:rPr>
              <a:t>        PromptTokens     INT            NULL,</a:t>
            </a:r>
          </a:p>
          <a:p>
            <a:pPr>
              <a:spcAft>
                <a:spcPts val="0"/>
              </a:spcAft>
            </a:pPr>
            <a:r>
              <a:rPr sz="1050" b="0" i="0">
                <a:solidFill>
                  <a:srgbClr val="1F2A30"/>
                </a:solidFill>
                <a:latin typeface="Courier New"/>
              </a:rPr>
              <a:t>        CompletionTokens INT            NULL,</a:t>
            </a:r>
          </a:p>
          <a:p>
            <a:pPr>
              <a:spcAft>
                <a:spcPts val="0"/>
              </a:spcAft>
            </a:pPr>
            <a:r>
              <a:rPr sz="1050" b="0" i="0">
                <a:solidFill>
                  <a:srgbClr val="1F2A30"/>
                </a:solidFill>
                <a:latin typeface="Courier New"/>
              </a:rPr>
              <a:t>        ElapsedMs        INT            NULL,</a:t>
            </a:r>
          </a:p>
          <a:p>
            <a:pPr>
              <a:spcAft>
                <a:spcPts val="0"/>
              </a:spcAft>
            </a:pPr>
            <a:r>
              <a:rPr sz="1050" b="0" i="0">
                <a:solidFill>
                  <a:srgbClr val="1F2A30"/>
                </a:solidFill>
                <a:latin typeface="Courier New"/>
              </a:rPr>
              <a:t>        CreatedAt        DATETIME2      NOT NULL DEFAULT SYSUTCDATETIME()</a:t>
            </a:r>
          </a:p>
          <a:p>
            <a:pPr>
              <a:spcAft>
                <a:spcPts val="0"/>
              </a:spcAft>
            </a:pPr>
            <a:r>
              <a:rPr sz="1050" b="0" i="0">
                <a:solidFill>
                  <a:srgbClr val="1F2A30"/>
                </a:solidFill>
                <a:latin typeface="Courier New"/>
              </a:rPr>
              <a:t>    );</a:t>
            </a:r>
          </a:p>
          <a:p>
            <a:pPr>
              <a:spcAft>
                <a:spcPts val="0"/>
              </a:spcAft>
            </a:pPr>
            <a:r>
              <a:rPr sz="1050" b="0" i="0">
                <a:solidFill>
                  <a:srgbClr val="1F2A30"/>
                </a:solidFill>
                <a:latin typeface="Courier New"/>
              </a:rPr>
              <a:t>    CREATE INDEX IX_OutputXenTrans_CacheKey</a:t>
            </a:r>
          </a:p>
          <a:p>
            <a:pPr>
              <a:spcAft>
                <a:spcPts val="0"/>
              </a:spcAft>
            </a:pPr>
            <a:r>
              <a:rPr sz="1050" b="0" i="0">
                <a:solidFill>
                  <a:srgbClr val="1F2A30"/>
                </a:solidFill>
                <a:latin typeface="Courier New"/>
              </a:rPr>
              <a:t>        ON dbo.OutputXenTrans (CacheKey, CreatedAt DESC);</a:t>
            </a:r>
          </a:p>
          <a:p>
            <a:pPr>
              <a:spcAft>
                <a:spcPts val="0"/>
              </a:spcAft>
            </a:pPr>
            <a:r>
              <a:rPr sz="1050" b="0" i="0">
                <a:solidFill>
                  <a:srgbClr val="1F2A30"/>
                </a:solidFill>
                <a:latin typeface="Courier New"/>
              </a:rPr>
              <a:t>END</a:t>
            </a:r>
          </a:p>
          <a:p>
            <a:pPr>
              <a:spcAft>
                <a:spcPts val="0"/>
              </a:spcAft>
            </a:pPr>
            <a:r>
              <a:rPr sz="1050" b="0" i="0">
                <a:solidFill>
                  <a:srgbClr val="1F2A30"/>
                </a:solidFill>
                <a:latin typeface="Courier New"/>
              </a:rPr>
              <a:t>GO</a:t>
            </a:r>
          </a:p>
        </p:txBody>
      </p:sp>
      <p:sp>
        <p:nvSpPr>
          <p:cNvPr id="4" name="Footer"/>
          <p:cNvSpPr txBox="1"/>
          <p:nvPr/>
        </p:nvSpPr>
        <p:spPr>
          <a:xfrm>
            <a:off x="548640" y="6400800"/>
            <a:ext cx="7315200" cy="274320"/>
          </a:xfrm>
          <a:prstGeom prst="rect">
            <a:avLst/>
          </a:prstGeom>
          <a:noFill/>
        </p:spPr>
        <p:txBody>
          <a:bodyPr wrap="square" anchor="t" lIns="0" rIns="0" tIns="0" bIns="0">
            <a:spAutoFit/>
          </a:bodyPr>
          <a:lstStyle/>
          <a:p>
            <a:pPr algn="l">
              <a:spcAft>
                <a:spcPts val="600"/>
              </a:spcAft>
            </a:pPr>
            <a:r>
              <a:rPr sz="1000" b="0" i="0">
                <a:solidFill>
                  <a:srgbClr val="5B6B73"/>
                </a:solidFill>
                <a:latin typeface="Calibri"/>
              </a:rPr>
              <a:t>XenAnalyticTransl  |  Save AI results to the database</a:t>
            </a:r>
          </a:p>
        </p:txBody>
      </p:sp>
      <p:sp>
        <p:nvSpPr>
          <p:cNvPr id="5" name="Slide number"/>
          <p:cNvSpPr txBox="1"/>
          <p:nvPr/>
        </p:nvSpPr>
        <p:spPr>
          <a:xfrm>
            <a:off x="10789920" y="6400800"/>
            <a:ext cx="868680" cy="274320"/>
          </a:xfrm>
          <a:prstGeom prst="rect">
            <a:avLst/>
          </a:prstGeom>
          <a:noFill/>
        </p:spPr>
        <p:txBody>
          <a:bodyPr wrap="square" anchor="t" lIns="0" rIns="0" tIns="0" bIns="0">
            <a:spAutoFit/>
          </a:bodyPr>
          <a:lstStyle/>
          <a:p>
            <a:pPr algn="r">
              <a:spcAft>
                <a:spcPts val="600"/>
              </a:spcAft>
            </a:pPr>
            <a:r>
              <a:rPr sz="1000" b="0" i="0">
                <a:solidFill>
                  <a:srgbClr val="5B6B73"/>
                </a:solidFill>
                <a:latin typeface="Calibr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Save AI results to the database</dc:title>
  <dc:subject/>
  <dc:creator>Siti Syaziyah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