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proposal is about one change: saving each AI translation to the database so we stop paying tokens to translate the same scenario twice. Nothing has been built yet - I want agreement on the approach first.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the Request AI Translator button sends all seven scenarios to the AI every time. Each one is about 4,700 tokens, so a full run is around 33,000. Groq's free plan gives roughly 200,000 tokens a day, which is only about five full runs - and most of those runs are re-translating scenarios that have not changed.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situations. The first time, the database is empty, so everything is translated and saved. If I click again with no changes, nothing goes to the AI - it all loads from the database. If I edit one scenario, only that one is translated. That last case is where the saving is: one call instead of seven.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every scenario the app first builds a fingerprint - a short code that identifies exactly what would be sent to the AI. It looks that code up in the database. If it is there, the saved result is shown immediately with no tokens used. If not, the AI is called, the result is saved, then shown. Failed calls are never saved, so a bad result cannot get stuck in the database.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fingerprint is built from five things. If all five are the same as a saved row, we reuse it. Two details matter. First, it includes the scenarios a scenario refers to - so editing Auto Run Ready also refreshes Operation. Second, it needs one change to the app: today every request carries all seven scenarios, which would make every fingerprint change on any edit. We would send only the ones actually mentioned, which also makes every request smaller.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naming: OutputXenTrans.dbo would mean a new database. Since it lives inside XenCreator, it is a table: XenCreator.dbo.OutputXenTrans. We keep every run as a new row rather than overwriting, so the history is there for comparing models.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row is one translation. The CacheKey is the fingerprint we search on. We also store the tokens used, which lets us measure the saving after it is built. The exact SQL is in the appendix.</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of the work is one new file that talks to the database. The translation itself does not change - the database sits in front of it. This adds our first external package, Microsoft's official SQL Server client.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status bar tells the user exactly what happened: how many were translated and how many came from the database. Scenarios loaded from the database get a small DB tag, so it is always clear which results are fresh.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I build it I need agreement on four things. Most important is the first: the database password must not go in the code, because the code goes to GitHub. Second, someone with rights must create the table. Third, the app must keep working if the database is down. Fourth, because AI output varies, we need a way to force a fresh translation.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move forward: the table needs creating, we agree how the app signs in to the database, I build and test it on the real scenarios, and then I measure the token saving before and after. What I am asking for today is approval to build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exact script. It has not been run. Nothing is created until it is approved and run by someone with permission on XenCreator.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343B"/>
        </a:solidFill>
        <a:effectLst/>
      </p:bgPr>
    </p:bg>
    <p:spTree>
      <p:nvGrpSpPr>
        <p:cNvPr id="1" name=""/>
        <p:cNvGrpSpPr/>
        <p:nvPr/>
      </p:nvGrpSpPr>
      <p:grpSpPr/>
      <p:sp>
        <p:nvSpPr>
          <p:cNvPr id="2" name="Kicker"/>
          <p:cNvSpPr txBox="1"/>
          <p:nvPr/>
        </p:nvSpPr>
        <p:spPr>
          <a:xfrm>
            <a:off x="822960" y="1463040"/>
            <a:ext cx="10515600" cy="411480"/>
          </a:xfrm>
          <a:prstGeom prst="rect">
            <a:avLst/>
          </a:prstGeom>
          <a:noFill/>
        </p:spPr>
        <p:txBody>
          <a:bodyPr wrap="square" anchor="t" lIns="0" rIns="0" tIns="0" bIns="0">
            <a:spAutoFit/>
          </a:bodyPr>
          <a:lstStyle/>
          <a:p>
            <a:pPr algn="l">
              <a:spcAft>
                <a:spcPts val="600"/>
              </a:spcAft>
            </a:pPr>
            <a:r>
              <a:rPr sz="1600" b="1" i="0">
                <a:solidFill>
                  <a:srgbClr val="E8A33D"/>
                </a:solidFill>
                <a:latin typeface="Calibri"/>
              </a:rPr>
              <a:t>PROPOSAL</a:t>
            </a:r>
          </a:p>
        </p:txBody>
      </p:sp>
      <p:sp>
        <p:nvSpPr>
          <p:cNvPr id="3" name="Title"/>
          <p:cNvSpPr txBox="1"/>
          <p:nvPr/>
        </p:nvSpPr>
        <p:spPr>
          <a:xfrm>
            <a:off x="822960" y="1920240"/>
            <a:ext cx="10515600" cy="1737360"/>
          </a:xfrm>
          <a:prstGeom prst="rect">
            <a:avLst/>
          </a:prstGeom>
          <a:noFill/>
        </p:spPr>
        <p:txBody>
          <a:bodyPr wrap="square" anchor="t" lIns="0" rIns="0" tIns="0" bIns="0">
            <a:spAutoFit/>
          </a:bodyPr>
          <a:lstStyle/>
          <a:p>
            <a:pPr algn="l">
              <a:spcAft>
                <a:spcPts val="600"/>
              </a:spcAft>
            </a:pPr>
            <a:r>
              <a:rPr sz="4800" b="1" i="0">
                <a:solidFill>
                  <a:srgbClr val="FFFFFF"/>
                </a:solidFill>
                <a:latin typeface="Cambria"/>
              </a:rPr>
              <a:t>Save AI results to the database</a:t>
            </a:r>
          </a:p>
        </p:txBody>
      </p:sp>
      <p:sp>
        <p:nvSpPr>
          <p:cNvPr id="4" name="Subtitle"/>
          <p:cNvSpPr txBox="1"/>
          <p:nvPr/>
        </p:nvSpPr>
        <p:spPr>
          <a:xfrm>
            <a:off x="822960" y="3246120"/>
            <a:ext cx="10058400" cy="822960"/>
          </a:xfrm>
          <a:prstGeom prst="rect">
            <a:avLst/>
          </a:prstGeom>
          <a:noFill/>
        </p:spPr>
        <p:txBody>
          <a:bodyPr wrap="square" anchor="t" lIns="0" rIns="0" tIns="0" bIns="0">
            <a:spAutoFit/>
          </a:bodyPr>
          <a:lstStyle/>
          <a:p>
            <a:pPr algn="l">
              <a:spcAft>
                <a:spcPts val="600"/>
              </a:spcAft>
            </a:pPr>
            <a:r>
              <a:rPr sz="2200" b="0" i="0">
                <a:solidFill>
                  <a:srgbClr val="CADCDB"/>
                </a:solidFill>
                <a:latin typeface="Calibri"/>
              </a:rPr>
              <a:t>Translate a scenario once, reuse the saved result, and cut token use by about 85%</a:t>
            </a:r>
          </a:p>
        </p:txBody>
      </p:sp>
      <p:sp>
        <p:nvSpPr>
          <p:cNvPr id="5" name="Byline"/>
          <p:cNvSpPr txBox="1"/>
          <p:nvPr/>
        </p:nvSpPr>
        <p:spPr>
          <a:xfrm>
            <a:off x="822960" y="5212080"/>
            <a:ext cx="10515600" cy="822960"/>
          </a:xfrm>
          <a:prstGeom prst="rect">
            <a:avLst/>
          </a:prstGeom>
          <a:noFill/>
        </p:spPr>
        <p:txBody>
          <a:bodyPr wrap="square" anchor="t" lIns="0" rIns="0" tIns="0" bIns="0">
            <a:spAutoFit/>
          </a:bodyPr>
          <a:lstStyle/>
          <a:p>
            <a:pPr algn="l">
              <a:spcAft>
                <a:spcPts val="600"/>
              </a:spcAft>
            </a:pPr>
            <a:r>
              <a:rPr sz="1500" b="0" i="0">
                <a:solidFill>
                  <a:srgbClr val="CADCDB"/>
                </a:solidFill>
                <a:latin typeface="Calibri"/>
              </a:rPr>
              <a:t>XenAnalyticTransl  -  PLC Logic Builder AI layer</a:t>
            </a:r>
          </a:p>
          <a:p>
            <a:pPr algn="l">
              <a:spcAft>
                <a:spcPts val="600"/>
              </a:spcAft>
            </a:pPr>
            <a:r>
              <a:rPr sz="1500" b="0" i="0">
                <a:solidFill>
                  <a:srgbClr val="CADCDB"/>
                </a:solidFill>
                <a:latin typeface="Calibri"/>
              </a:rPr>
              <a:t>Siti Syaziyah  |  21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84048"/>
            <a:ext cx="11064240" cy="731520"/>
          </a:xfrm>
          <a:prstGeom prst="rect">
            <a:avLst/>
          </a:prstGeom>
          <a:noFill/>
        </p:spPr>
        <p:txBody>
          <a:bodyPr wrap="square" anchor="ctr" lIns="0" rIns="0" tIns="0" bIns="0">
            <a:spAutoFit/>
          </a:bodyPr>
          <a:lstStyle/>
          <a:p>
            <a:pPr algn="l">
              <a:spcAft>
                <a:spcPts val="600"/>
              </a:spcAft>
            </a:pPr>
            <a:r>
              <a:rPr sz="3400" b="1" i="0">
                <a:solidFill>
                  <a:srgbClr val="12343B"/>
                </a:solidFill>
                <a:latin typeface="Cambria"/>
              </a:rPr>
              <a:t>Every click re-translates every scenario</a:t>
            </a:r>
          </a:p>
        </p:txBody>
      </p:sp>
      <p:sp>
        <p:nvSpPr>
          <p:cNvPr id="3" name="Subtitle"/>
          <p:cNvSpPr txBox="1"/>
          <p:nvPr/>
        </p:nvSpPr>
        <p:spPr>
          <a:xfrm>
            <a:off x="548640" y="1078992"/>
            <a:ext cx="11064240" cy="411480"/>
          </a:xfrm>
          <a:prstGeom prst="rect">
            <a:avLst/>
          </a:prstGeom>
          <a:noFill/>
        </p:spPr>
        <p:txBody>
          <a:bodyPr wrap="square" anchor="t" lIns="0" rIns="0" tIns="0" bIns="0">
            <a:spAutoFit/>
          </a:bodyPr>
          <a:lstStyle/>
          <a:p>
            <a:pPr algn="l">
              <a:spcAft>
                <a:spcPts val="600"/>
              </a:spcAft>
            </a:pPr>
            <a:r>
              <a:rPr sz="1600" b="0" i="0">
                <a:solidFill>
                  <a:srgbClr val="5B6B73"/>
                </a:solidFill>
                <a:latin typeface="Calibri"/>
              </a:rPr>
              <a:t>Even when nothing has changed since the last run</a:t>
            </a:r>
          </a:p>
        </p:txBody>
      </p:sp>
      <p:sp>
        <p:nvSpPr>
          <p:cNvPr id="4" name="Stat card 1"/>
          <p:cNvSpPr/>
          <p:nvPr/>
        </p:nvSpPr>
        <p:spPr>
          <a:xfrm>
            <a:off x="548640" y="1828800"/>
            <a:ext cx="3474720" cy="2743200"/>
          </a:xfrm>
          <a:prstGeom prst="roundRect">
            <a:avLst>
              <a:gd name="adj" fmla="val 12000"/>
            </a:avLst>
          </a:prstGeom>
          <a:solidFill>
            <a:srgbClr val="E6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Stat 1"/>
          <p:cNvSpPr txBox="1"/>
          <p:nvPr/>
        </p:nvSpPr>
        <p:spPr>
          <a:xfrm>
            <a:off x="868680" y="2057400"/>
            <a:ext cx="2926080" cy="1097280"/>
          </a:xfrm>
          <a:prstGeom prst="rect">
            <a:avLst/>
          </a:prstGeom>
          <a:noFill/>
        </p:spPr>
        <p:txBody>
          <a:bodyPr wrap="square" anchor="t" lIns="0" rIns="0" tIns="0" bIns="0">
            <a:spAutoFit/>
          </a:bodyPr>
          <a:lstStyle/>
          <a:p>
            <a:pPr algn="l">
              <a:spcAft>
                <a:spcPts val="600"/>
              </a:spcAft>
            </a:pPr>
            <a:r>
              <a:rPr sz="6000" b="1" i="0">
                <a:solidFill>
                  <a:srgbClr val="1D7874"/>
                </a:solidFill>
                <a:latin typeface="Cambria"/>
              </a:rPr>
              <a:t>7</a:t>
            </a:r>
          </a:p>
        </p:txBody>
      </p:sp>
      <p:sp>
        <p:nvSpPr>
          <p:cNvPr id="6" name="Stat label 1"/>
          <p:cNvSpPr txBox="1"/>
          <p:nvPr/>
        </p:nvSpPr>
        <p:spPr>
          <a:xfrm>
            <a:off x="868680" y="3154680"/>
            <a:ext cx="2926080" cy="411480"/>
          </a:xfrm>
          <a:prstGeom prst="rect">
            <a:avLst/>
          </a:prstGeom>
          <a:noFill/>
        </p:spPr>
        <p:txBody>
          <a:bodyPr wrap="square" anchor="t" lIns="0" rIns="0" tIns="0" bIns="0">
            <a:spAutoFit/>
          </a:bodyPr>
          <a:lstStyle/>
          <a:p>
            <a:pPr algn="l">
              <a:spcAft>
                <a:spcPts val="600"/>
              </a:spcAft>
            </a:pPr>
            <a:r>
              <a:rPr sz="1800" b="1" i="0">
                <a:solidFill>
                  <a:srgbClr val="1F2A30"/>
                </a:solidFill>
                <a:latin typeface="Calibri"/>
              </a:rPr>
              <a:t>AI calls per click</a:t>
            </a:r>
          </a:p>
        </p:txBody>
      </p:sp>
      <p:sp>
        <p:nvSpPr>
          <p:cNvPr id="7" name="Stat note 1"/>
          <p:cNvSpPr txBox="1"/>
          <p:nvPr/>
        </p:nvSpPr>
        <p:spPr>
          <a:xfrm>
            <a:off x="868680" y="3611880"/>
            <a:ext cx="2926080" cy="822960"/>
          </a:xfrm>
          <a:prstGeom prst="rect">
            <a:avLst/>
          </a:prstGeom>
          <a:noFill/>
        </p:spPr>
        <p:txBody>
          <a:bodyPr wrap="square" anchor="t" lIns="0" rIns="0" tIns="0" bIns="0">
            <a:spAutoFit/>
          </a:bodyPr>
          <a:lstStyle/>
          <a:p>
            <a:pPr algn="l">
              <a:spcAft>
                <a:spcPts val="600"/>
              </a:spcAft>
            </a:pPr>
            <a:r>
              <a:rPr sz="1400" b="0" i="0">
                <a:solidFill>
                  <a:srgbClr val="5B6B73"/>
                </a:solidFill>
                <a:latin typeface="Calibri"/>
              </a:rPr>
              <a:t>One per scenario - all seven, every time</a:t>
            </a:r>
          </a:p>
        </p:txBody>
      </p:sp>
      <p:sp>
        <p:nvSpPr>
          <p:cNvPr id="8" name="Stat card 2"/>
          <p:cNvSpPr/>
          <p:nvPr/>
        </p:nvSpPr>
        <p:spPr>
          <a:xfrm>
            <a:off x="4297679" y="1828800"/>
            <a:ext cx="3474720" cy="2743200"/>
          </a:xfrm>
          <a:prstGeom prst="roundRect">
            <a:avLst>
              <a:gd name="adj" fmla="val 12000"/>
            </a:avLst>
          </a:prstGeom>
          <a:solidFill>
            <a:srgbClr val="E6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tat 2"/>
          <p:cNvSpPr txBox="1"/>
          <p:nvPr/>
        </p:nvSpPr>
        <p:spPr>
          <a:xfrm>
            <a:off x="4617719" y="2057400"/>
            <a:ext cx="2926080" cy="1097280"/>
          </a:xfrm>
          <a:prstGeom prst="rect">
            <a:avLst/>
          </a:prstGeom>
          <a:noFill/>
        </p:spPr>
        <p:txBody>
          <a:bodyPr wrap="square" anchor="t" lIns="0" rIns="0" tIns="0" bIns="0">
            <a:spAutoFit/>
          </a:bodyPr>
          <a:lstStyle/>
          <a:p>
            <a:pPr algn="l">
              <a:spcAft>
                <a:spcPts val="600"/>
              </a:spcAft>
            </a:pPr>
            <a:r>
              <a:rPr sz="6000" b="1" i="0">
                <a:solidFill>
                  <a:srgbClr val="1D7874"/>
                </a:solidFill>
                <a:latin typeface="Cambria"/>
              </a:rPr>
              <a:t>~33K</a:t>
            </a:r>
          </a:p>
        </p:txBody>
      </p:sp>
      <p:sp>
        <p:nvSpPr>
          <p:cNvPr id="10" name="Stat label 2"/>
          <p:cNvSpPr txBox="1"/>
          <p:nvPr/>
        </p:nvSpPr>
        <p:spPr>
          <a:xfrm>
            <a:off x="4617719" y="3154680"/>
            <a:ext cx="2926080" cy="411480"/>
          </a:xfrm>
          <a:prstGeom prst="rect">
            <a:avLst/>
          </a:prstGeom>
          <a:noFill/>
        </p:spPr>
        <p:txBody>
          <a:bodyPr wrap="square" anchor="t" lIns="0" rIns="0" tIns="0" bIns="0">
            <a:spAutoFit/>
          </a:bodyPr>
          <a:lstStyle/>
          <a:p>
            <a:pPr algn="l">
              <a:spcAft>
                <a:spcPts val="600"/>
              </a:spcAft>
            </a:pPr>
            <a:r>
              <a:rPr sz="1800" b="1" i="0">
                <a:solidFill>
                  <a:srgbClr val="1F2A30"/>
                </a:solidFill>
                <a:latin typeface="Calibri"/>
              </a:rPr>
              <a:t>tokens per full run</a:t>
            </a:r>
          </a:p>
        </p:txBody>
      </p:sp>
      <p:sp>
        <p:nvSpPr>
          <p:cNvPr id="11" name="Stat note 2"/>
          <p:cNvSpPr txBox="1"/>
          <p:nvPr/>
        </p:nvSpPr>
        <p:spPr>
          <a:xfrm>
            <a:off x="4617719" y="3611880"/>
            <a:ext cx="2926080" cy="822960"/>
          </a:xfrm>
          <a:prstGeom prst="rect">
            <a:avLst/>
          </a:prstGeom>
          <a:noFill/>
        </p:spPr>
        <p:txBody>
          <a:bodyPr wrap="square" anchor="t" lIns="0" rIns="0" tIns="0" bIns="0">
            <a:spAutoFit/>
          </a:bodyPr>
          <a:lstStyle/>
          <a:p>
            <a:pPr algn="l">
              <a:spcAft>
                <a:spcPts val="600"/>
              </a:spcAft>
            </a:pPr>
            <a:r>
              <a:rPr sz="1400" b="0" i="0">
                <a:solidFill>
                  <a:srgbClr val="5B6B73"/>
                </a:solidFill>
                <a:latin typeface="Calibri"/>
              </a:rPr>
              <a:t>About 4,700 tokens per scenario</a:t>
            </a:r>
          </a:p>
        </p:txBody>
      </p:sp>
      <p:sp>
        <p:nvSpPr>
          <p:cNvPr id="12" name="Stat card 3"/>
          <p:cNvSpPr/>
          <p:nvPr/>
        </p:nvSpPr>
        <p:spPr>
          <a:xfrm>
            <a:off x="8046719" y="1828800"/>
            <a:ext cx="3474720" cy="2743200"/>
          </a:xfrm>
          <a:prstGeom prst="roundRect">
            <a:avLst>
              <a:gd name="adj" fmla="val 12000"/>
            </a:avLst>
          </a:prstGeom>
          <a:solidFill>
            <a:srgbClr val="E6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tat 3"/>
          <p:cNvSpPr txBox="1"/>
          <p:nvPr/>
        </p:nvSpPr>
        <p:spPr>
          <a:xfrm>
            <a:off x="8366759" y="2057400"/>
            <a:ext cx="2926080" cy="1097280"/>
          </a:xfrm>
          <a:prstGeom prst="rect">
            <a:avLst/>
          </a:prstGeom>
          <a:noFill/>
        </p:spPr>
        <p:txBody>
          <a:bodyPr wrap="square" anchor="t" lIns="0" rIns="0" tIns="0" bIns="0">
            <a:spAutoFit/>
          </a:bodyPr>
          <a:lstStyle/>
          <a:p>
            <a:pPr algn="l">
              <a:spcAft>
                <a:spcPts val="600"/>
              </a:spcAft>
            </a:pPr>
            <a:r>
              <a:rPr sz="6000" b="1" i="0">
                <a:solidFill>
                  <a:srgbClr val="1D7874"/>
                </a:solidFill>
                <a:latin typeface="Cambria"/>
              </a:rPr>
              <a:t>~5</a:t>
            </a:r>
          </a:p>
        </p:txBody>
      </p:sp>
      <p:sp>
        <p:nvSpPr>
          <p:cNvPr id="14" name="Stat label 3"/>
          <p:cNvSpPr txBox="1"/>
          <p:nvPr/>
        </p:nvSpPr>
        <p:spPr>
          <a:xfrm>
            <a:off x="8366759" y="3154680"/>
            <a:ext cx="2926080" cy="411480"/>
          </a:xfrm>
          <a:prstGeom prst="rect">
            <a:avLst/>
          </a:prstGeom>
          <a:noFill/>
        </p:spPr>
        <p:txBody>
          <a:bodyPr wrap="square" anchor="t" lIns="0" rIns="0" tIns="0" bIns="0">
            <a:spAutoFit/>
          </a:bodyPr>
          <a:lstStyle/>
          <a:p>
            <a:pPr algn="l">
              <a:spcAft>
                <a:spcPts val="600"/>
              </a:spcAft>
            </a:pPr>
            <a:r>
              <a:rPr sz="1800" b="1" i="0">
                <a:solidFill>
                  <a:srgbClr val="1F2A30"/>
                </a:solidFill>
                <a:latin typeface="Calibri"/>
              </a:rPr>
              <a:t>full runs per day</a:t>
            </a:r>
          </a:p>
        </p:txBody>
      </p:sp>
      <p:sp>
        <p:nvSpPr>
          <p:cNvPr id="15" name="Stat note 3"/>
          <p:cNvSpPr txBox="1"/>
          <p:nvPr/>
        </p:nvSpPr>
        <p:spPr>
          <a:xfrm>
            <a:off x="8366759" y="3611880"/>
            <a:ext cx="2926080" cy="822960"/>
          </a:xfrm>
          <a:prstGeom prst="rect">
            <a:avLst/>
          </a:prstGeom>
          <a:noFill/>
        </p:spPr>
        <p:txBody>
          <a:bodyPr wrap="square" anchor="t" lIns="0" rIns="0" tIns="0" bIns="0">
            <a:spAutoFit/>
          </a:bodyPr>
          <a:lstStyle/>
          <a:p>
            <a:pPr algn="l">
              <a:spcAft>
                <a:spcPts val="600"/>
              </a:spcAft>
            </a:pPr>
            <a:r>
              <a:rPr sz="1400" b="0" i="0">
                <a:solidFill>
                  <a:srgbClr val="5B6B73"/>
                </a:solidFill>
                <a:latin typeface="Calibri"/>
              </a:rPr>
              <a:t>Groq free tier: ~200K tokens a day</a:t>
            </a:r>
          </a:p>
        </p:txBody>
      </p:sp>
      <p:sp>
        <p:nvSpPr>
          <p:cNvPr id="16" name="Problem callout"/>
          <p:cNvSpPr/>
          <p:nvPr/>
        </p:nvSpPr>
        <p:spPr>
          <a:xfrm>
            <a:off x="548640" y="4983480"/>
            <a:ext cx="11064240" cy="868680"/>
          </a:xfrm>
          <a:prstGeom prst="roundRect">
            <a:avLst>
              <a:gd name="adj" fmla="val 12000"/>
            </a:avLst>
          </a:prstGeom>
          <a:solidFill>
            <a:srgbClr val="1234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l">
              <a:spcAft>
                <a:spcPts val="200"/>
              </a:spcAft>
            </a:pPr>
            <a:r>
              <a:rPr sz="1600" b="1" i="0">
                <a:solidFill>
                  <a:srgbClr val="FFFFFF"/>
                </a:solidFill>
                <a:latin typeface="Calibri"/>
              </a:rPr>
              <a:t>Most of these calls repeat work already done.  </a:t>
            </a:r>
            <a:r>
              <a:rPr sz="1600" b="0" i="0">
                <a:solidFill>
                  <a:srgbClr val="CADCDB"/>
                </a:solidFill>
                <a:latin typeface="Calibri"/>
              </a:rPr>
              <a:t>On a free tier that limit is the real constraint on how much we can test.</a:t>
            </a:r>
          </a:p>
        </p:txBody>
      </p:sp>
      <p:sp>
        <p:nvSpPr>
          <p:cNvPr id="17" name="Footer"/>
          <p:cNvSpPr txBox="1"/>
          <p:nvPr/>
        </p:nvSpPr>
        <p:spPr>
          <a:xfrm>
            <a:off x="548640" y="6400800"/>
            <a:ext cx="7315200" cy="274320"/>
          </a:xfrm>
          <a:prstGeom prst="rect">
            <a:avLst/>
          </a:prstGeom>
          <a:noFill/>
        </p:spPr>
        <p:txBody>
          <a:bodyPr wrap="square" anchor="t" lIns="0" rIns="0" tIns="0" bIns="0">
            <a:spAutoFit/>
          </a:bodyPr>
          <a:lstStyle/>
          <a:p>
            <a:pPr algn="l">
              <a:spcAft>
                <a:spcPts val="600"/>
              </a:spcAft>
            </a:pPr>
            <a:r>
              <a:rPr sz="1000" b="0" i="0">
                <a:solidFill>
                  <a:srgbClr val="5B6B73"/>
                </a:solidFill>
                <a:latin typeface="Calibri"/>
              </a:rPr>
              <a:t>XenAnalyticTransl  |  Proposal: save AI results to the database</a:t>
            </a:r>
          </a:p>
        </p:txBody>
      </p:sp>
      <p:sp>
        <p:nvSpPr>
          <p:cNvPr id="18" name="Slide number"/>
          <p:cNvSpPr txBox="1"/>
          <p:nvPr/>
        </p:nvSpPr>
        <p:spPr>
          <a:xfrm>
            <a:off x="10789920" y="6400800"/>
            <a:ext cx="868680" cy="274320"/>
          </a:xfrm>
          <a:prstGeom prst="rect">
            <a:avLst/>
          </a:prstGeom>
          <a:noFill/>
        </p:spPr>
        <p:txBody>
          <a:bodyPr wrap="square" anchor="t" lIns="0" rIns="0" tIns="0" bIns="0">
            <a:spAutoFit/>
          </a:bodyPr>
          <a:lstStyle/>
          <a:p>
            <a:pPr algn="r">
              <a:spcAft>
                <a:spcPts val="600"/>
              </a:spcAft>
            </a:pPr>
            <a:r>
              <a:rPr sz="1000" b="0" i="0">
                <a:solidFill>
                  <a:srgbClr val="5B6B73"/>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84048"/>
            <a:ext cx="11064240" cy="731520"/>
          </a:xfrm>
          <a:prstGeom prst="rect">
            <a:avLst/>
          </a:prstGeom>
          <a:noFill/>
        </p:spPr>
        <p:txBody>
          <a:bodyPr wrap="square" anchor="ctr" lIns="0" rIns="0" tIns="0" bIns="0">
            <a:spAutoFit/>
          </a:bodyPr>
          <a:lstStyle/>
          <a:p>
            <a:pPr algn="l">
              <a:spcAft>
                <a:spcPts val="600"/>
              </a:spcAft>
            </a:pPr>
            <a:r>
              <a:rPr sz="3400" b="1" i="0">
                <a:solidFill>
                  <a:srgbClr val="12343B"/>
                </a:solidFill>
                <a:latin typeface="Cambria"/>
              </a:rPr>
              <a:t>Translate once, save it, reuse it</a:t>
            </a:r>
          </a:p>
        </p:txBody>
      </p:sp>
      <p:sp>
        <p:nvSpPr>
          <p:cNvPr id="3" name="Subtitle"/>
          <p:cNvSpPr txBox="1"/>
          <p:nvPr/>
        </p:nvSpPr>
        <p:spPr>
          <a:xfrm>
            <a:off x="548640" y="1078992"/>
            <a:ext cx="11064240" cy="411480"/>
          </a:xfrm>
          <a:prstGeom prst="rect">
            <a:avLst/>
          </a:prstGeom>
          <a:noFill/>
        </p:spPr>
        <p:txBody>
          <a:bodyPr wrap="square" anchor="t" lIns="0" rIns="0" tIns="0" bIns="0">
            <a:spAutoFit/>
          </a:bodyPr>
          <a:lstStyle/>
          <a:p>
            <a:pPr algn="l">
              <a:spcAft>
                <a:spcPts val="600"/>
              </a:spcAft>
            </a:pPr>
            <a:r>
              <a:rPr sz="1600" b="0" i="0">
                <a:solidFill>
                  <a:srgbClr val="5B6B73"/>
                </a:solidFill>
                <a:latin typeface="Calibri"/>
              </a:rPr>
              <a:t>The database remembers every result; the AI is called only for what is new</a:t>
            </a:r>
          </a:p>
        </p:txBody>
      </p:sp>
      <p:sp>
        <p:nvSpPr>
          <p:cNvPr id="4" name="Case card 1"/>
          <p:cNvSpPr/>
          <p:nvPr/>
        </p:nvSpPr>
        <p:spPr>
          <a:xfrm>
            <a:off x="548640" y="1783080"/>
            <a:ext cx="3474720" cy="3154680"/>
          </a:xfrm>
          <a:prstGeom prst="roundRect">
            <a:avLst>
              <a:gd name="adj" fmla="val 12000"/>
            </a:avLst>
          </a:prstGeom>
          <a:solidFill>
            <a:srgbClr val="FFFFFF"/>
          </a:solidFill>
          <a:ln w="15875">
            <a:solidFill>
              <a:srgbClr val="C9D6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alls 1"/>
          <p:cNvSpPr txBox="1"/>
          <p:nvPr/>
        </p:nvSpPr>
        <p:spPr>
          <a:xfrm>
            <a:off x="868680" y="1965960"/>
            <a:ext cx="1645920" cy="1097280"/>
          </a:xfrm>
          <a:prstGeom prst="rect">
            <a:avLst/>
          </a:prstGeom>
          <a:noFill/>
        </p:spPr>
        <p:txBody>
          <a:bodyPr wrap="square" anchor="t" lIns="0" rIns="0" tIns="0" bIns="0">
            <a:spAutoFit/>
          </a:bodyPr>
          <a:lstStyle/>
          <a:p>
            <a:pPr algn="l">
              <a:spcAft>
                <a:spcPts val="600"/>
              </a:spcAft>
            </a:pPr>
            <a:r>
              <a:rPr sz="6400" b="1" i="0">
                <a:solidFill>
                  <a:srgbClr val="1D7874"/>
                </a:solidFill>
                <a:latin typeface="Cambria"/>
              </a:rPr>
              <a:t>7</a:t>
            </a:r>
          </a:p>
        </p:txBody>
      </p:sp>
      <p:sp>
        <p:nvSpPr>
          <p:cNvPr id="6" name="Calls label 1"/>
          <p:cNvSpPr txBox="1"/>
          <p:nvPr/>
        </p:nvSpPr>
        <p:spPr>
          <a:xfrm>
            <a:off x="1508760" y="2395728"/>
            <a:ext cx="1920240" cy="457200"/>
          </a:xfrm>
          <a:prstGeom prst="rect">
            <a:avLst/>
          </a:prstGeom>
          <a:noFill/>
        </p:spPr>
        <p:txBody>
          <a:bodyPr wrap="square" anchor="t" lIns="0" rIns="0" tIns="0" bIns="0">
            <a:spAutoFit/>
          </a:bodyPr>
          <a:lstStyle/>
          <a:p>
            <a:pPr algn="l">
              <a:spcAft>
                <a:spcPts val="600"/>
              </a:spcAft>
            </a:pPr>
            <a:r>
              <a:rPr sz="1600" b="0" i="0">
                <a:solidFill>
                  <a:srgbClr val="5B6B73"/>
                </a:solidFill>
                <a:latin typeface="Calibri"/>
              </a:rPr>
              <a:t>AI calls</a:t>
            </a:r>
          </a:p>
        </p:txBody>
      </p:sp>
      <p:sp>
        <p:nvSpPr>
          <p:cNvPr id="7" name="Case 1"/>
          <p:cNvSpPr txBox="1"/>
          <p:nvPr/>
        </p:nvSpPr>
        <p:spPr>
          <a:xfrm>
            <a:off x="868680" y="3154680"/>
            <a:ext cx="2926080" cy="457200"/>
          </a:xfrm>
          <a:prstGeom prst="rect">
            <a:avLst/>
          </a:prstGeom>
          <a:noFill/>
        </p:spPr>
        <p:txBody>
          <a:bodyPr wrap="square" anchor="t" lIns="0" rIns="0" tIns="0" bIns="0">
            <a:spAutoFit/>
          </a:bodyPr>
          <a:lstStyle/>
          <a:p>
            <a:pPr algn="l">
              <a:spcAft>
                <a:spcPts val="600"/>
              </a:spcAft>
            </a:pPr>
            <a:r>
              <a:rPr sz="1800" b="1" i="0">
                <a:solidFill>
                  <a:srgbClr val="1F2A30"/>
                </a:solidFill>
                <a:latin typeface="Calibri"/>
              </a:rPr>
              <a:t>First launch</a:t>
            </a:r>
          </a:p>
        </p:txBody>
      </p:sp>
      <p:sp>
        <p:nvSpPr>
          <p:cNvPr id="8" name="Case note 1"/>
          <p:cNvSpPr txBox="1"/>
          <p:nvPr/>
        </p:nvSpPr>
        <p:spPr>
          <a:xfrm>
            <a:off x="868680" y="3611880"/>
            <a:ext cx="2880360" cy="1188720"/>
          </a:xfrm>
          <a:prstGeom prst="rect">
            <a:avLst/>
          </a:prstGeom>
          <a:noFill/>
        </p:spPr>
        <p:txBody>
          <a:bodyPr wrap="square" anchor="t" lIns="0" rIns="0" tIns="0" bIns="0">
            <a:spAutoFit/>
          </a:bodyPr>
          <a:lstStyle/>
          <a:p>
            <a:pPr algn="l">
              <a:spcAft>
                <a:spcPts val="600"/>
              </a:spcAft>
            </a:pPr>
            <a:r>
              <a:rPr sz="1500" b="0" i="0">
                <a:solidFill>
                  <a:srgbClr val="5B6B73"/>
                </a:solidFill>
                <a:latin typeface="Calibri"/>
              </a:rPr>
              <a:t>Database is empty. Translate all seven and save them.</a:t>
            </a:r>
          </a:p>
        </p:txBody>
      </p:sp>
      <p:sp>
        <p:nvSpPr>
          <p:cNvPr id="9" name="Case card 2"/>
          <p:cNvSpPr/>
          <p:nvPr/>
        </p:nvSpPr>
        <p:spPr>
          <a:xfrm>
            <a:off x="4297679" y="1783080"/>
            <a:ext cx="3474720" cy="3154680"/>
          </a:xfrm>
          <a:prstGeom prst="roundRect">
            <a:avLst>
              <a:gd name="adj" fmla="val 12000"/>
            </a:avLst>
          </a:prstGeom>
          <a:solidFill>
            <a:srgbClr val="FFFFFF"/>
          </a:solidFill>
          <a:ln w="15875">
            <a:solidFill>
              <a:srgbClr val="C9D6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lls 2"/>
          <p:cNvSpPr txBox="1"/>
          <p:nvPr/>
        </p:nvSpPr>
        <p:spPr>
          <a:xfrm>
            <a:off x="4617719" y="1965960"/>
            <a:ext cx="1645920" cy="1097280"/>
          </a:xfrm>
          <a:prstGeom prst="rect">
            <a:avLst/>
          </a:prstGeom>
          <a:noFill/>
        </p:spPr>
        <p:txBody>
          <a:bodyPr wrap="square" anchor="t" lIns="0" rIns="0" tIns="0" bIns="0">
            <a:spAutoFit/>
          </a:bodyPr>
          <a:lstStyle/>
          <a:p>
            <a:pPr algn="l">
              <a:spcAft>
                <a:spcPts val="600"/>
              </a:spcAft>
            </a:pPr>
            <a:r>
              <a:rPr sz="6400" b="1" i="0">
                <a:solidFill>
                  <a:srgbClr val="E8A33D"/>
                </a:solidFill>
                <a:latin typeface="Cambria"/>
              </a:rPr>
              <a:t>0</a:t>
            </a:r>
          </a:p>
        </p:txBody>
      </p:sp>
      <p:sp>
        <p:nvSpPr>
          <p:cNvPr id="11" name="Calls label 2"/>
          <p:cNvSpPr txBox="1"/>
          <p:nvPr/>
        </p:nvSpPr>
        <p:spPr>
          <a:xfrm>
            <a:off x="5257799" y="2395728"/>
            <a:ext cx="1920240" cy="457200"/>
          </a:xfrm>
          <a:prstGeom prst="rect">
            <a:avLst/>
          </a:prstGeom>
          <a:noFill/>
        </p:spPr>
        <p:txBody>
          <a:bodyPr wrap="square" anchor="t" lIns="0" rIns="0" tIns="0" bIns="0">
            <a:spAutoFit/>
          </a:bodyPr>
          <a:lstStyle/>
          <a:p>
            <a:pPr algn="l">
              <a:spcAft>
                <a:spcPts val="600"/>
              </a:spcAft>
            </a:pPr>
            <a:r>
              <a:rPr sz="1600" b="0" i="0">
                <a:solidFill>
                  <a:srgbClr val="5B6B73"/>
                </a:solidFill>
                <a:latin typeface="Calibri"/>
              </a:rPr>
              <a:t>AI calls</a:t>
            </a:r>
          </a:p>
        </p:txBody>
      </p:sp>
      <p:sp>
        <p:nvSpPr>
          <p:cNvPr id="12" name="Case 2"/>
          <p:cNvSpPr txBox="1"/>
          <p:nvPr/>
        </p:nvSpPr>
        <p:spPr>
          <a:xfrm>
            <a:off x="4617719" y="3154680"/>
            <a:ext cx="2926080" cy="457200"/>
          </a:xfrm>
          <a:prstGeom prst="rect">
            <a:avLst/>
          </a:prstGeom>
          <a:noFill/>
        </p:spPr>
        <p:txBody>
          <a:bodyPr wrap="square" anchor="t" lIns="0" rIns="0" tIns="0" bIns="0">
            <a:spAutoFit/>
          </a:bodyPr>
          <a:lstStyle/>
          <a:p>
            <a:pPr algn="l">
              <a:spcAft>
                <a:spcPts val="600"/>
              </a:spcAft>
            </a:pPr>
            <a:r>
              <a:rPr sz="1800" b="1" i="0">
                <a:solidFill>
                  <a:srgbClr val="1F2A30"/>
                </a:solidFill>
                <a:latin typeface="Calibri"/>
              </a:rPr>
              <a:t>Click again, nothing changed</a:t>
            </a:r>
          </a:p>
        </p:txBody>
      </p:sp>
      <p:sp>
        <p:nvSpPr>
          <p:cNvPr id="13" name="Case note 2"/>
          <p:cNvSpPr txBox="1"/>
          <p:nvPr/>
        </p:nvSpPr>
        <p:spPr>
          <a:xfrm>
            <a:off x="4617719" y="3611880"/>
            <a:ext cx="2880360" cy="1188720"/>
          </a:xfrm>
          <a:prstGeom prst="rect">
            <a:avLst/>
          </a:prstGeom>
          <a:noFill/>
        </p:spPr>
        <p:txBody>
          <a:bodyPr wrap="square" anchor="t" lIns="0" rIns="0" tIns="0" bIns="0">
            <a:spAutoFit/>
          </a:bodyPr>
          <a:lstStyle/>
          <a:p>
            <a:pPr algn="l">
              <a:spcAft>
                <a:spcPts val="600"/>
              </a:spcAft>
            </a:pPr>
            <a:r>
              <a:rPr sz="1500" b="0" i="0">
                <a:solidFill>
                  <a:srgbClr val="5B6B73"/>
                </a:solidFill>
                <a:latin typeface="Calibri"/>
              </a:rPr>
              <a:t>All seven load straight from the database.</a:t>
            </a:r>
          </a:p>
        </p:txBody>
      </p:sp>
      <p:sp>
        <p:nvSpPr>
          <p:cNvPr id="14" name="Case card 3"/>
          <p:cNvSpPr/>
          <p:nvPr/>
        </p:nvSpPr>
        <p:spPr>
          <a:xfrm>
            <a:off x="8046719" y="1783080"/>
            <a:ext cx="3474720" cy="3154680"/>
          </a:xfrm>
          <a:prstGeom prst="roundRect">
            <a:avLst>
              <a:gd name="adj" fmla="val 12000"/>
            </a:avLst>
          </a:prstGeom>
          <a:solidFill>
            <a:srgbClr val="FFFFFF"/>
          </a:solidFill>
          <a:ln w="15875">
            <a:solidFill>
              <a:srgbClr val="C9D6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alls 3"/>
          <p:cNvSpPr txBox="1"/>
          <p:nvPr/>
        </p:nvSpPr>
        <p:spPr>
          <a:xfrm>
            <a:off x="8366759" y="1965960"/>
            <a:ext cx="1645920" cy="1097280"/>
          </a:xfrm>
          <a:prstGeom prst="rect">
            <a:avLst/>
          </a:prstGeom>
          <a:noFill/>
        </p:spPr>
        <p:txBody>
          <a:bodyPr wrap="square" anchor="t" lIns="0" rIns="0" tIns="0" bIns="0">
            <a:spAutoFit/>
          </a:bodyPr>
          <a:lstStyle/>
          <a:p>
            <a:pPr algn="l">
              <a:spcAft>
                <a:spcPts val="600"/>
              </a:spcAft>
            </a:pPr>
            <a:r>
              <a:rPr sz="6400" b="1" i="0">
                <a:solidFill>
                  <a:srgbClr val="E8A33D"/>
                </a:solidFill>
                <a:latin typeface="Cambria"/>
              </a:rPr>
              <a:t>1</a:t>
            </a:r>
          </a:p>
        </p:txBody>
      </p:sp>
      <p:sp>
        <p:nvSpPr>
          <p:cNvPr id="16" name="Calls label 3"/>
          <p:cNvSpPr txBox="1"/>
          <p:nvPr/>
        </p:nvSpPr>
        <p:spPr>
          <a:xfrm>
            <a:off x="9006840" y="2395728"/>
            <a:ext cx="1920240" cy="457200"/>
          </a:xfrm>
          <a:prstGeom prst="rect">
            <a:avLst/>
          </a:prstGeom>
          <a:noFill/>
        </p:spPr>
        <p:txBody>
          <a:bodyPr wrap="square" anchor="t" lIns="0" rIns="0" tIns="0" bIns="0">
            <a:spAutoFit/>
          </a:bodyPr>
          <a:lstStyle/>
          <a:p>
            <a:pPr algn="l">
              <a:spcAft>
                <a:spcPts val="600"/>
              </a:spcAft>
            </a:pPr>
            <a:r>
              <a:rPr sz="1600" b="0" i="0">
                <a:solidFill>
                  <a:srgbClr val="5B6B73"/>
                </a:solidFill>
                <a:latin typeface="Calibri"/>
              </a:rPr>
              <a:t>AI calls</a:t>
            </a:r>
          </a:p>
        </p:txBody>
      </p:sp>
      <p:sp>
        <p:nvSpPr>
          <p:cNvPr id="17" name="Case 3"/>
          <p:cNvSpPr txBox="1"/>
          <p:nvPr/>
        </p:nvSpPr>
        <p:spPr>
          <a:xfrm>
            <a:off x="8366759" y="3154680"/>
            <a:ext cx="2926080" cy="457200"/>
          </a:xfrm>
          <a:prstGeom prst="rect">
            <a:avLst/>
          </a:prstGeom>
          <a:noFill/>
        </p:spPr>
        <p:txBody>
          <a:bodyPr wrap="square" anchor="t" lIns="0" rIns="0" tIns="0" bIns="0">
            <a:spAutoFit/>
          </a:bodyPr>
          <a:lstStyle/>
          <a:p>
            <a:pPr algn="l">
              <a:spcAft>
                <a:spcPts val="600"/>
              </a:spcAft>
            </a:pPr>
            <a:r>
              <a:rPr sz="1800" b="1" i="0">
                <a:solidFill>
                  <a:srgbClr val="1F2A30"/>
                </a:solidFill>
                <a:latin typeface="Calibri"/>
              </a:rPr>
              <a:t>One scenario edited</a:t>
            </a:r>
          </a:p>
        </p:txBody>
      </p:sp>
      <p:sp>
        <p:nvSpPr>
          <p:cNvPr id="18" name="Case note 3"/>
          <p:cNvSpPr txBox="1"/>
          <p:nvPr/>
        </p:nvSpPr>
        <p:spPr>
          <a:xfrm>
            <a:off x="8366759" y="3611880"/>
            <a:ext cx="2880360" cy="1188720"/>
          </a:xfrm>
          <a:prstGeom prst="rect">
            <a:avLst/>
          </a:prstGeom>
          <a:noFill/>
        </p:spPr>
        <p:txBody>
          <a:bodyPr wrap="square" anchor="t" lIns="0" rIns="0" tIns="0" bIns="0">
            <a:spAutoFit/>
          </a:bodyPr>
          <a:lstStyle/>
          <a:p>
            <a:pPr algn="l">
              <a:spcAft>
                <a:spcPts val="600"/>
              </a:spcAft>
            </a:pPr>
            <a:r>
              <a:rPr sz="1500" b="0" i="0">
                <a:solidFill>
                  <a:srgbClr val="5B6B73"/>
                </a:solidFill>
                <a:latin typeface="Calibri"/>
              </a:rPr>
              <a:t>Translate that one. Load the other six from the database.</a:t>
            </a:r>
          </a:p>
        </p:txBody>
      </p:sp>
      <p:sp>
        <p:nvSpPr>
          <p:cNvPr id="19" name="Saving callout"/>
          <p:cNvSpPr/>
          <p:nvPr/>
        </p:nvSpPr>
        <p:spPr>
          <a:xfrm>
            <a:off x="548640" y="5257800"/>
            <a:ext cx="11064240" cy="731520"/>
          </a:xfrm>
          <a:prstGeom prst="roundRect">
            <a:avLst>
              <a:gd name="adj" fmla="val 12000"/>
            </a:avLst>
          </a:prstGeom>
          <a:solidFill>
            <a:srgbClr val="E6F0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l">
              <a:spcAft>
                <a:spcPts val="200"/>
              </a:spcAft>
            </a:pPr>
            <a:r>
              <a:rPr sz="1700" b="1" i="0">
                <a:solidFill>
                  <a:srgbClr val="12343B"/>
                </a:solidFill>
                <a:latin typeface="Calibri"/>
              </a:rPr>
              <a:t>About 85% fewer tokens </a:t>
            </a:r>
            <a:r>
              <a:rPr sz="1700" b="0" i="0">
                <a:solidFill>
                  <a:srgbClr val="1F2A30"/>
                </a:solidFill>
                <a:latin typeface="Calibri"/>
              </a:rPr>
              <a:t>when one scenario changes: roughly 4,700 tokens instead of 33,000.</a:t>
            </a:r>
          </a:p>
        </p:txBody>
      </p:sp>
      <p:sp>
        <p:nvSpPr>
          <p:cNvPr id="20" name="Footer"/>
          <p:cNvSpPr txBox="1"/>
          <p:nvPr/>
        </p:nvSpPr>
        <p:spPr>
          <a:xfrm>
            <a:off x="548640" y="6400800"/>
            <a:ext cx="7315200" cy="274320"/>
          </a:xfrm>
          <a:prstGeom prst="rect">
            <a:avLst/>
          </a:prstGeom>
          <a:noFill/>
        </p:spPr>
        <p:txBody>
          <a:bodyPr wrap="square" anchor="t" lIns="0" rIns="0" tIns="0" bIns="0">
            <a:spAutoFit/>
          </a:bodyPr>
          <a:lstStyle/>
          <a:p>
            <a:pPr algn="l">
              <a:spcAft>
                <a:spcPts val="600"/>
              </a:spcAft>
            </a:pPr>
            <a:r>
              <a:rPr sz="1000" b="0" i="0">
                <a:solidFill>
                  <a:srgbClr val="5B6B73"/>
                </a:solidFill>
                <a:latin typeface="Calibri"/>
              </a:rPr>
              <a:t>XenAnalyticTransl  |  Proposal: save AI results to the database</a:t>
            </a:r>
          </a:p>
        </p:txBody>
      </p:sp>
      <p:sp>
        <p:nvSpPr>
          <p:cNvPr id="21" name="Slide number"/>
          <p:cNvSpPr txBox="1"/>
          <p:nvPr/>
        </p:nvSpPr>
        <p:spPr>
          <a:xfrm>
            <a:off x="10789920" y="6400800"/>
            <a:ext cx="868680" cy="274320"/>
          </a:xfrm>
          <a:prstGeom prst="rect">
            <a:avLst/>
          </a:prstGeom>
          <a:noFill/>
        </p:spPr>
        <p:txBody>
          <a:bodyPr wrap="square" anchor="t" lIns="0" rIns="0" tIns="0" bIns="0">
            <a:spAutoFit/>
          </a:bodyPr>
          <a:lstStyle/>
          <a:p>
            <a:pPr algn="r">
              <a:spcAft>
                <a:spcPts val="600"/>
              </a:spcAft>
            </a:pPr>
            <a:r>
              <a:rPr sz="1000" b="0" i="0">
                <a:solidFill>
                  <a:srgbClr val="5B6B73"/>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84048"/>
            <a:ext cx="11064240" cy="731520"/>
          </a:xfrm>
          <a:prstGeom prst="rect">
            <a:avLst/>
          </a:prstGeom>
          <a:noFill/>
        </p:spPr>
        <p:txBody>
          <a:bodyPr wrap="square" anchor="ctr" lIns="0" rIns="0" tIns="0" bIns="0">
            <a:spAutoFit/>
          </a:bodyPr>
          <a:lstStyle/>
          <a:p>
            <a:pPr algn="l">
              <a:spcAft>
                <a:spcPts val="600"/>
              </a:spcAft>
            </a:pPr>
            <a:r>
              <a:rPr sz="3400" b="1" i="0">
                <a:solidFill>
                  <a:srgbClr val="12343B"/>
                </a:solidFill>
                <a:latin typeface="Cambria"/>
              </a:rPr>
              <a:t>How it works, for each scenario</a:t>
            </a:r>
          </a:p>
        </p:txBody>
      </p:sp>
      <p:sp>
        <p:nvSpPr>
          <p:cNvPr id="3" name="Step click"/>
          <p:cNvSpPr/>
          <p:nvPr/>
        </p:nvSpPr>
        <p:spPr>
          <a:xfrm>
            <a:off x="502920" y="2628900"/>
            <a:ext cx="1965960" cy="868680"/>
          </a:xfrm>
          <a:prstGeom prst="roundRect">
            <a:avLst>
              <a:gd name="adj" fmla="val 12000"/>
            </a:avLst>
          </a:prstGeom>
          <a:solidFill>
            <a:srgbClr val="1234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200"/>
              </a:spcAft>
            </a:pPr>
            <a:r>
              <a:rPr sz="1300" b="0" i="0">
                <a:solidFill>
                  <a:srgbClr val="CADCDB"/>
                </a:solidFill>
                <a:latin typeface="Calibri"/>
              </a:rPr>
              <a:t>User clicks</a:t>
            </a:r>
          </a:p>
          <a:p>
            <a:pPr algn="ctr">
              <a:spcAft>
                <a:spcPts val="200"/>
              </a:spcAft>
            </a:pPr>
            <a:r>
              <a:rPr sz="1400" b="1" i="0">
                <a:solidFill>
                  <a:srgbClr val="FFFFFF"/>
                </a:solidFill>
                <a:latin typeface="Calibri"/>
              </a:rPr>
              <a:t>Request AI Translator</a:t>
            </a:r>
          </a:p>
        </p:txBody>
      </p:sp>
      <p:sp>
        <p:nvSpPr>
          <p:cNvPr id="4" name="Step fingerprint"/>
          <p:cNvSpPr/>
          <p:nvPr/>
        </p:nvSpPr>
        <p:spPr>
          <a:xfrm>
            <a:off x="2788920" y="2628900"/>
            <a:ext cx="1965960" cy="868680"/>
          </a:xfrm>
          <a:prstGeom prst="roundRect">
            <a:avLst>
              <a:gd name="adj" fmla="val 12000"/>
            </a:avLst>
          </a:prstGeom>
          <a:solidFill>
            <a:srgbClr val="E6F0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200"/>
              </a:spcAft>
            </a:pPr>
            <a:r>
              <a:rPr sz="1300" b="0" i="0">
                <a:solidFill>
                  <a:srgbClr val="5B6B73"/>
                </a:solidFill>
                <a:latin typeface="Calibri"/>
              </a:rPr>
              <a:t>Build the</a:t>
            </a:r>
          </a:p>
          <a:p>
            <a:pPr algn="ctr">
              <a:spcAft>
                <a:spcPts val="200"/>
              </a:spcAft>
            </a:pPr>
            <a:r>
              <a:rPr sz="1500" b="1" i="0">
                <a:solidFill>
                  <a:srgbClr val="1F2A30"/>
                </a:solidFill>
                <a:latin typeface="Calibri"/>
              </a:rPr>
              <a:t>fingerprint</a:t>
            </a:r>
          </a:p>
        </p:txBody>
      </p:sp>
      <p:sp>
        <p:nvSpPr>
          <p:cNvPr id="5" name="Decision saved"/>
          <p:cNvSpPr/>
          <p:nvPr/>
        </p:nvSpPr>
        <p:spPr>
          <a:xfrm>
            <a:off x="5074920" y="2400300"/>
            <a:ext cx="1828800" cy="1325880"/>
          </a:xfrm>
          <a:prstGeom prst="diamond">
            <a:avLst/>
          </a:prstGeom>
          <a:solidFill>
            <a:srgbClr val="FFFFFF"/>
          </a:solidFill>
          <a:ln w="15875">
            <a:solidFill>
              <a:srgbClr val="1D7874"/>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200"/>
              </a:spcAft>
            </a:pPr>
            <a:r>
              <a:rPr sz="1400" b="1" i="0">
                <a:solidFill>
                  <a:srgbClr val="1F2A30"/>
                </a:solidFill>
                <a:latin typeface="Calibri"/>
              </a:rPr>
              <a:t>Already saved?</a:t>
            </a:r>
          </a:p>
        </p:txBody>
      </p:sp>
      <p:sp>
        <p:nvSpPr>
          <p:cNvPr id="6" name="Step load"/>
          <p:cNvSpPr/>
          <p:nvPr/>
        </p:nvSpPr>
        <p:spPr>
          <a:xfrm>
            <a:off x="7360920" y="1165860"/>
            <a:ext cx="2057400" cy="868680"/>
          </a:xfrm>
          <a:prstGeom prst="roundRect">
            <a:avLst>
              <a:gd name="adj" fmla="val 12000"/>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200"/>
              </a:spcAft>
            </a:pPr>
            <a:r>
              <a:rPr sz="1500" b="1" i="0">
                <a:solidFill>
                  <a:srgbClr val="1F2A30"/>
                </a:solidFill>
                <a:latin typeface="Calibri"/>
              </a:rPr>
              <a:t>Load from database</a:t>
            </a:r>
          </a:p>
          <a:p>
            <a:pPr algn="ctr">
              <a:spcAft>
                <a:spcPts val="200"/>
              </a:spcAft>
            </a:pPr>
            <a:r>
              <a:rPr sz="1300" b="0" i="0">
                <a:solidFill>
                  <a:srgbClr val="1F2A30"/>
                </a:solidFill>
                <a:latin typeface="Calibri"/>
              </a:rPr>
              <a:t>0 tokens, instant</a:t>
            </a:r>
          </a:p>
        </p:txBody>
      </p:sp>
      <p:sp>
        <p:nvSpPr>
          <p:cNvPr id="7" name="Step call AI"/>
          <p:cNvSpPr/>
          <p:nvPr/>
        </p:nvSpPr>
        <p:spPr>
          <a:xfrm>
            <a:off x="7360920" y="3909060"/>
            <a:ext cx="2057400" cy="868680"/>
          </a:xfrm>
          <a:prstGeom prst="roundRect">
            <a:avLst>
              <a:gd name="adj" fmla="val 12000"/>
            </a:avLst>
          </a:prstGeom>
          <a:solidFill>
            <a:srgbClr val="1D78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200"/>
              </a:spcAft>
            </a:pPr>
            <a:r>
              <a:rPr sz="1500" b="1" i="0">
                <a:solidFill>
                  <a:srgbClr val="FFFFFF"/>
                </a:solidFill>
                <a:latin typeface="Calibri"/>
              </a:rPr>
              <a:t>Call the AI (Groq)</a:t>
            </a:r>
          </a:p>
          <a:p>
            <a:pPr algn="ctr">
              <a:spcAft>
                <a:spcPts val="200"/>
              </a:spcAft>
            </a:pPr>
            <a:r>
              <a:rPr sz="1300" b="0" i="0">
                <a:solidFill>
                  <a:srgbClr val="DCEBEA"/>
                </a:solidFill>
                <a:latin typeface="Calibri"/>
              </a:rPr>
              <a:t>uses tokens</a:t>
            </a:r>
          </a:p>
        </p:txBody>
      </p:sp>
      <p:sp>
        <p:nvSpPr>
          <p:cNvPr id="8" name="Step save"/>
          <p:cNvSpPr/>
          <p:nvPr/>
        </p:nvSpPr>
        <p:spPr>
          <a:xfrm>
            <a:off x="9784080" y="3909060"/>
            <a:ext cx="1874519" cy="868680"/>
          </a:xfrm>
          <a:prstGeom prst="roundRect">
            <a:avLst>
              <a:gd name="adj" fmla="val 12000"/>
            </a:avLst>
          </a:prstGeom>
          <a:solidFill>
            <a:srgbClr val="E6F0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200"/>
              </a:spcAft>
            </a:pPr>
            <a:r>
              <a:rPr sz="1300" b="0" i="0">
                <a:solidFill>
                  <a:srgbClr val="5B6B73"/>
                </a:solidFill>
                <a:latin typeface="Calibri"/>
              </a:rPr>
              <a:t>Save to</a:t>
            </a:r>
          </a:p>
          <a:p>
            <a:pPr algn="ctr">
              <a:spcAft>
                <a:spcPts val="200"/>
              </a:spcAft>
            </a:pPr>
            <a:r>
              <a:rPr sz="1500" b="1" i="0">
                <a:solidFill>
                  <a:srgbClr val="1F2A30"/>
                </a:solidFill>
                <a:latin typeface="Calibri"/>
              </a:rPr>
              <a:t>database</a:t>
            </a:r>
          </a:p>
        </p:txBody>
      </p:sp>
      <p:sp>
        <p:nvSpPr>
          <p:cNvPr id="9" name="Step show"/>
          <p:cNvSpPr/>
          <p:nvPr/>
        </p:nvSpPr>
        <p:spPr>
          <a:xfrm>
            <a:off x="9784080" y="1165860"/>
            <a:ext cx="1874519" cy="868680"/>
          </a:xfrm>
          <a:prstGeom prst="roundRect">
            <a:avLst>
              <a:gd name="adj" fmla="val 12000"/>
            </a:avLst>
          </a:prstGeom>
          <a:solidFill>
            <a:srgbClr val="1234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200"/>
              </a:spcAft>
            </a:pPr>
            <a:r>
              <a:rPr sz="1500" b="1" i="0">
                <a:solidFill>
                  <a:srgbClr val="FFFFFF"/>
                </a:solidFill>
                <a:latin typeface="Calibri"/>
              </a:rPr>
              <a:t>Show result</a:t>
            </a:r>
          </a:p>
        </p:txBody>
      </p:sp>
      <p:cxnSp>
        <p:nvCxnSpPr>
          <p:cNvPr id="10" name="Connector 9"/>
          <p:cNvCxnSpPr/>
          <p:nvPr/>
        </p:nvCxnSpPr>
        <p:spPr>
          <a:xfrm>
            <a:off x="2468880" y="3063240"/>
            <a:ext cx="320040" cy="0"/>
          </a:xfrm>
          <a:prstGeom prst="line">
            <a:avLst/>
          </a:prstGeom>
          <a:ln w="25400">
            <a:solidFill>
              <a:srgbClr val="1D787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754880" y="3063240"/>
            <a:ext cx="320040" cy="0"/>
          </a:xfrm>
          <a:prstGeom prst="line">
            <a:avLst/>
          </a:prstGeom>
          <a:ln w="25400">
            <a:solidFill>
              <a:srgbClr val="1D787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5989320" y="1600200"/>
            <a:ext cx="0" cy="800100"/>
          </a:xfrm>
          <a:prstGeom prst="line">
            <a:avLst/>
          </a:prstGeom>
          <a:ln w="25400">
            <a:solidFill>
              <a:srgbClr val="1D7874"/>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989320" y="1600200"/>
            <a:ext cx="1371600" cy="0"/>
          </a:xfrm>
          <a:prstGeom prst="line">
            <a:avLst/>
          </a:prstGeom>
          <a:ln w="25400">
            <a:solidFill>
              <a:srgbClr val="1D787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989320" y="3726180"/>
            <a:ext cx="0" cy="617220"/>
          </a:xfrm>
          <a:prstGeom prst="line">
            <a:avLst/>
          </a:prstGeom>
          <a:ln w="25400">
            <a:solidFill>
              <a:srgbClr val="1D7874"/>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989320" y="4343400"/>
            <a:ext cx="1371600" cy="0"/>
          </a:xfrm>
          <a:prstGeom prst="line">
            <a:avLst/>
          </a:prstGeom>
          <a:ln w="25400">
            <a:solidFill>
              <a:srgbClr val="1D787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418320" y="1600200"/>
            <a:ext cx="365760" cy="0"/>
          </a:xfrm>
          <a:prstGeom prst="line">
            <a:avLst/>
          </a:prstGeom>
          <a:ln w="25400">
            <a:solidFill>
              <a:srgbClr val="1D787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418320" y="4343400"/>
            <a:ext cx="365760" cy="0"/>
          </a:xfrm>
          <a:prstGeom prst="line">
            <a:avLst/>
          </a:prstGeom>
          <a:ln w="25400">
            <a:solidFill>
              <a:srgbClr val="1D787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10721340" y="2034540"/>
            <a:ext cx="0" cy="1874520"/>
          </a:xfrm>
          <a:prstGeom prst="line">
            <a:avLst/>
          </a:prstGeom>
          <a:ln w="25400">
            <a:solidFill>
              <a:srgbClr val="1D787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Label yes"/>
          <p:cNvSpPr txBox="1"/>
          <p:nvPr/>
        </p:nvSpPr>
        <p:spPr>
          <a:xfrm>
            <a:off x="6099048" y="1216152"/>
            <a:ext cx="822960" cy="320040"/>
          </a:xfrm>
          <a:prstGeom prst="rect">
            <a:avLst/>
          </a:prstGeom>
          <a:noFill/>
        </p:spPr>
        <p:txBody>
          <a:bodyPr wrap="square" anchor="t" lIns="0" rIns="0" tIns="0" bIns="0">
            <a:spAutoFit/>
          </a:bodyPr>
          <a:lstStyle/>
          <a:p>
            <a:pPr algn="l">
              <a:spcAft>
                <a:spcPts val="600"/>
              </a:spcAft>
            </a:pPr>
            <a:r>
              <a:rPr sz="1300" b="1" i="0">
                <a:solidFill>
                  <a:srgbClr val="1D7874"/>
                </a:solidFill>
                <a:latin typeface="Calibri"/>
              </a:rPr>
              <a:t>Yes</a:t>
            </a:r>
          </a:p>
        </p:txBody>
      </p:sp>
      <p:sp>
        <p:nvSpPr>
          <p:cNvPr id="20" name="Label no"/>
          <p:cNvSpPr txBox="1"/>
          <p:nvPr/>
        </p:nvSpPr>
        <p:spPr>
          <a:xfrm>
            <a:off x="6099048" y="3959352"/>
            <a:ext cx="822960" cy="320040"/>
          </a:xfrm>
          <a:prstGeom prst="rect">
            <a:avLst/>
          </a:prstGeom>
          <a:noFill/>
        </p:spPr>
        <p:txBody>
          <a:bodyPr wrap="square" anchor="t" lIns="0" rIns="0" tIns="0" bIns="0">
            <a:spAutoFit/>
          </a:bodyPr>
          <a:lstStyle/>
          <a:p>
            <a:pPr algn="l">
              <a:spcAft>
                <a:spcPts val="600"/>
              </a:spcAft>
            </a:pPr>
            <a:r>
              <a:rPr sz="1300" b="1" i="0">
                <a:solidFill>
                  <a:srgbClr val="1D7874"/>
                </a:solidFill>
                <a:latin typeface="Calibri"/>
              </a:rPr>
              <a:t>No</a:t>
            </a:r>
          </a:p>
        </p:txBody>
      </p:sp>
      <p:sp>
        <p:nvSpPr>
          <p:cNvPr id="21" name="Note loop"/>
          <p:cNvSpPr/>
          <p:nvPr/>
        </p:nvSpPr>
        <p:spPr>
          <a:xfrm>
            <a:off x="548640" y="5349240"/>
            <a:ext cx="5349240" cy="731520"/>
          </a:xfrm>
          <a:prstGeom prst="roundRect">
            <a:avLst>
              <a:gd name="adj" fmla="val 12000"/>
            </a:avLst>
          </a:prstGeom>
          <a:solidFill>
            <a:srgbClr val="F4F8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l">
              <a:spcAft>
                <a:spcPts val="200"/>
              </a:spcAft>
            </a:pPr>
            <a:r>
              <a:rPr sz="1400" b="1" i="0">
                <a:solidFill>
                  <a:srgbClr val="1F2A30"/>
                </a:solidFill>
                <a:latin typeface="Calibri"/>
              </a:rPr>
              <a:t>Repeats for all 7 scenarios, </a:t>
            </a:r>
            <a:r>
              <a:rPr sz="1400" b="0" i="0">
                <a:solidFill>
                  <a:srgbClr val="1F2A30"/>
                </a:solidFill>
                <a:latin typeface="Calibri"/>
              </a:rPr>
              <a:t>then shows a short summary.</a:t>
            </a:r>
          </a:p>
        </p:txBody>
      </p:sp>
      <p:sp>
        <p:nvSpPr>
          <p:cNvPr id="22" name="Note failures"/>
          <p:cNvSpPr/>
          <p:nvPr/>
        </p:nvSpPr>
        <p:spPr>
          <a:xfrm>
            <a:off x="6263640" y="5349240"/>
            <a:ext cx="5349240" cy="731520"/>
          </a:xfrm>
          <a:prstGeom prst="roundRect">
            <a:avLst>
              <a:gd name="adj" fmla="val 12000"/>
            </a:avLst>
          </a:prstGeom>
          <a:solidFill>
            <a:srgbClr val="F4F8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l">
              <a:spcAft>
                <a:spcPts val="200"/>
              </a:spcAft>
            </a:pPr>
            <a:r>
              <a:rPr sz="1400" b="1" i="0">
                <a:solidFill>
                  <a:srgbClr val="1F2A30"/>
                </a:solidFill>
                <a:latin typeface="Calibri"/>
              </a:rPr>
              <a:t>A failed AI call is never saved. </a:t>
            </a:r>
            <a:r>
              <a:rPr sz="1400" b="0" i="0">
                <a:solidFill>
                  <a:srgbClr val="1F2A30"/>
                </a:solidFill>
                <a:latin typeface="Calibri"/>
              </a:rPr>
              <a:t>It shows as an error, so it is retried next time.</a:t>
            </a:r>
          </a:p>
        </p:txBody>
      </p:sp>
      <p:sp>
        <p:nvSpPr>
          <p:cNvPr id="23" name="Footer"/>
          <p:cNvSpPr txBox="1"/>
          <p:nvPr/>
        </p:nvSpPr>
        <p:spPr>
          <a:xfrm>
            <a:off x="548640" y="6400800"/>
            <a:ext cx="7315200" cy="274320"/>
          </a:xfrm>
          <a:prstGeom prst="rect">
            <a:avLst/>
          </a:prstGeom>
          <a:noFill/>
        </p:spPr>
        <p:txBody>
          <a:bodyPr wrap="square" anchor="t" lIns="0" rIns="0" tIns="0" bIns="0">
            <a:spAutoFit/>
          </a:bodyPr>
          <a:lstStyle/>
          <a:p>
            <a:pPr algn="l">
              <a:spcAft>
                <a:spcPts val="600"/>
              </a:spcAft>
            </a:pPr>
            <a:r>
              <a:rPr sz="1000" b="0" i="0">
                <a:solidFill>
                  <a:srgbClr val="5B6B73"/>
                </a:solidFill>
                <a:latin typeface="Calibri"/>
              </a:rPr>
              <a:t>XenAnalyticTransl  |  Proposal: save AI results to the database</a:t>
            </a:r>
          </a:p>
        </p:txBody>
      </p:sp>
      <p:sp>
        <p:nvSpPr>
          <p:cNvPr id="24" name="Slide number"/>
          <p:cNvSpPr txBox="1"/>
          <p:nvPr/>
        </p:nvSpPr>
        <p:spPr>
          <a:xfrm>
            <a:off x="10789920" y="6400800"/>
            <a:ext cx="868680" cy="274320"/>
          </a:xfrm>
          <a:prstGeom prst="rect">
            <a:avLst/>
          </a:prstGeom>
          <a:noFill/>
        </p:spPr>
        <p:txBody>
          <a:bodyPr wrap="square" anchor="t" lIns="0" rIns="0" tIns="0" bIns="0">
            <a:spAutoFit/>
          </a:bodyPr>
          <a:lstStyle/>
          <a:p>
            <a:pPr algn="r">
              <a:spcAft>
                <a:spcPts val="600"/>
              </a:spcAft>
            </a:pPr>
            <a:r>
              <a:rPr sz="1000" b="0" i="0">
                <a:solidFill>
                  <a:srgbClr val="5B6B73"/>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84048"/>
            <a:ext cx="11064240" cy="731520"/>
          </a:xfrm>
          <a:prstGeom prst="rect">
            <a:avLst/>
          </a:prstGeom>
          <a:noFill/>
        </p:spPr>
        <p:txBody>
          <a:bodyPr wrap="square" anchor="ctr" lIns="0" rIns="0" tIns="0" bIns="0">
            <a:spAutoFit/>
          </a:bodyPr>
          <a:lstStyle/>
          <a:p>
            <a:pPr algn="l">
              <a:spcAft>
                <a:spcPts val="600"/>
              </a:spcAft>
            </a:pPr>
            <a:r>
              <a:rPr sz="3400" b="1" i="0">
                <a:solidFill>
                  <a:srgbClr val="12343B"/>
                </a:solidFill>
                <a:latin typeface="Cambria"/>
              </a:rPr>
              <a:t>The fingerprint decides: reuse or translate</a:t>
            </a:r>
          </a:p>
        </p:txBody>
      </p:sp>
      <p:sp>
        <p:nvSpPr>
          <p:cNvPr id="3" name="Subtitle"/>
          <p:cNvSpPr txBox="1"/>
          <p:nvPr/>
        </p:nvSpPr>
        <p:spPr>
          <a:xfrm>
            <a:off x="548640" y="1078992"/>
            <a:ext cx="11064240" cy="411480"/>
          </a:xfrm>
          <a:prstGeom prst="rect">
            <a:avLst/>
          </a:prstGeom>
          <a:noFill/>
        </p:spPr>
        <p:txBody>
          <a:bodyPr wrap="square" anchor="t" lIns="0" rIns="0" tIns="0" bIns="0">
            <a:spAutoFit/>
          </a:bodyPr>
          <a:lstStyle/>
          <a:p>
            <a:pPr algn="l">
              <a:spcAft>
                <a:spcPts val="600"/>
              </a:spcAft>
            </a:pPr>
            <a:r>
              <a:rPr sz="1600" b="0" i="0">
                <a:solidFill>
                  <a:srgbClr val="5B6B73"/>
                </a:solidFill>
                <a:latin typeface="Calibri"/>
              </a:rPr>
              <a:t>Same inputs give the same code. Change one letter and the code changes</a:t>
            </a:r>
          </a:p>
        </p:txBody>
      </p:sp>
      <p:sp>
        <p:nvSpPr>
          <p:cNvPr id="4" name="Badge 1"/>
          <p:cNvSpPr/>
          <p:nvPr/>
        </p:nvSpPr>
        <p:spPr>
          <a:xfrm>
            <a:off x="548640" y="1783080"/>
            <a:ext cx="457200" cy="457200"/>
          </a:xfrm>
          <a:prstGeom prst="ellipse">
            <a:avLst/>
          </a:prstGeom>
          <a:solidFill>
            <a:srgbClr val="1D78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400" b="1" i="0">
                <a:solidFill>
                  <a:srgbClr val="FFFFFF"/>
                </a:solidFill>
                <a:latin typeface="Calibri"/>
              </a:rPr>
              <a:t>1</a:t>
            </a:r>
          </a:p>
        </p:txBody>
      </p:sp>
      <p:sp>
        <p:nvSpPr>
          <p:cNvPr id="5" name="Input 1"/>
          <p:cNvSpPr/>
          <p:nvPr/>
        </p:nvSpPr>
        <p:spPr>
          <a:xfrm>
            <a:off x="1143000" y="1783080"/>
            <a:ext cx="2697480" cy="457200"/>
          </a:xfrm>
          <a:prstGeom prst="roundRect">
            <a:avLst>
              <a:gd name="adj" fmla="val 12000"/>
            </a:avLst>
          </a:prstGeom>
          <a:solidFill>
            <a:srgbClr val="E6F0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l">
              <a:spcAft>
                <a:spcPts val="200"/>
              </a:spcAft>
            </a:pPr>
            <a:r>
              <a:rPr sz="1400" b="0" i="0">
                <a:solidFill>
                  <a:srgbClr val="1F2A30"/>
                </a:solidFill>
                <a:latin typeface="Calibri"/>
              </a:rPr>
              <a:t>Scenario text</a:t>
            </a:r>
          </a:p>
        </p:txBody>
      </p:sp>
      <p:sp>
        <p:nvSpPr>
          <p:cNvPr id="6" name="Badge 2"/>
          <p:cNvSpPr/>
          <p:nvPr/>
        </p:nvSpPr>
        <p:spPr>
          <a:xfrm>
            <a:off x="548640" y="2404872"/>
            <a:ext cx="457200" cy="457200"/>
          </a:xfrm>
          <a:prstGeom prst="ellipse">
            <a:avLst/>
          </a:prstGeom>
          <a:solidFill>
            <a:srgbClr val="1D78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400" b="1" i="0">
                <a:solidFill>
                  <a:srgbClr val="FFFFFF"/>
                </a:solidFill>
                <a:latin typeface="Calibri"/>
              </a:rPr>
              <a:t>2</a:t>
            </a:r>
          </a:p>
        </p:txBody>
      </p:sp>
      <p:sp>
        <p:nvSpPr>
          <p:cNvPr id="7" name="Input 2"/>
          <p:cNvSpPr/>
          <p:nvPr/>
        </p:nvSpPr>
        <p:spPr>
          <a:xfrm>
            <a:off x="1143000" y="2404872"/>
            <a:ext cx="2697480" cy="457200"/>
          </a:xfrm>
          <a:prstGeom prst="roundRect">
            <a:avLst>
              <a:gd name="adj" fmla="val 12000"/>
            </a:avLst>
          </a:prstGeom>
          <a:solidFill>
            <a:srgbClr val="E6F0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l">
              <a:spcAft>
                <a:spcPts val="200"/>
              </a:spcAft>
            </a:pPr>
            <a:r>
              <a:rPr sz="1400" b="0" i="0">
                <a:solidFill>
                  <a:srgbClr val="1F2A30"/>
                </a:solidFill>
                <a:latin typeface="Calibri"/>
              </a:rPr>
              <a:t>Scenarios it refers to</a:t>
            </a:r>
          </a:p>
        </p:txBody>
      </p:sp>
      <p:sp>
        <p:nvSpPr>
          <p:cNvPr id="8" name="Badge 3"/>
          <p:cNvSpPr/>
          <p:nvPr/>
        </p:nvSpPr>
        <p:spPr>
          <a:xfrm>
            <a:off x="548640" y="3026664"/>
            <a:ext cx="457200" cy="457200"/>
          </a:xfrm>
          <a:prstGeom prst="ellipse">
            <a:avLst/>
          </a:prstGeom>
          <a:solidFill>
            <a:srgbClr val="1D78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400" b="1" i="0">
                <a:solidFill>
                  <a:srgbClr val="FFFFFF"/>
                </a:solidFill>
                <a:latin typeface="Calibri"/>
              </a:rPr>
              <a:t>3</a:t>
            </a:r>
          </a:p>
        </p:txBody>
      </p:sp>
      <p:sp>
        <p:nvSpPr>
          <p:cNvPr id="9" name="Input 3"/>
          <p:cNvSpPr/>
          <p:nvPr/>
        </p:nvSpPr>
        <p:spPr>
          <a:xfrm>
            <a:off x="1143000" y="3026664"/>
            <a:ext cx="2697480" cy="457200"/>
          </a:xfrm>
          <a:prstGeom prst="roundRect">
            <a:avLst>
              <a:gd name="adj" fmla="val 12000"/>
            </a:avLst>
          </a:prstGeom>
          <a:solidFill>
            <a:srgbClr val="E6F0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l">
              <a:spcAft>
                <a:spcPts val="200"/>
              </a:spcAft>
            </a:pPr>
            <a:r>
              <a:rPr sz="1400" b="0" i="0">
                <a:solidFill>
                  <a:srgbClr val="1F2A30"/>
                </a:solidFill>
                <a:latin typeface="Calibri"/>
              </a:rPr>
              <a:t>Property list</a:t>
            </a:r>
          </a:p>
        </p:txBody>
      </p:sp>
      <p:sp>
        <p:nvSpPr>
          <p:cNvPr id="10" name="Badge 4"/>
          <p:cNvSpPr/>
          <p:nvPr/>
        </p:nvSpPr>
        <p:spPr>
          <a:xfrm>
            <a:off x="548640" y="3648456"/>
            <a:ext cx="457200" cy="457200"/>
          </a:xfrm>
          <a:prstGeom prst="ellipse">
            <a:avLst/>
          </a:prstGeom>
          <a:solidFill>
            <a:srgbClr val="1D78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400" b="1" i="0">
                <a:solidFill>
                  <a:srgbClr val="FFFFFF"/>
                </a:solidFill>
                <a:latin typeface="Calibri"/>
              </a:rPr>
              <a:t>4</a:t>
            </a:r>
          </a:p>
        </p:txBody>
      </p:sp>
      <p:sp>
        <p:nvSpPr>
          <p:cNvPr id="11" name="Input 4"/>
          <p:cNvSpPr/>
          <p:nvPr/>
        </p:nvSpPr>
        <p:spPr>
          <a:xfrm>
            <a:off x="1143000" y="3648456"/>
            <a:ext cx="2697480" cy="457200"/>
          </a:xfrm>
          <a:prstGeom prst="roundRect">
            <a:avLst>
              <a:gd name="adj" fmla="val 12000"/>
            </a:avLst>
          </a:prstGeom>
          <a:solidFill>
            <a:srgbClr val="E6F0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l">
              <a:spcAft>
                <a:spcPts val="200"/>
              </a:spcAft>
            </a:pPr>
            <a:r>
              <a:rPr sz="1400" b="0" i="0">
                <a:solidFill>
                  <a:srgbClr val="1F2A30"/>
                </a:solidFill>
                <a:latin typeface="Calibri"/>
              </a:rPr>
              <a:t>Model and output type</a:t>
            </a:r>
          </a:p>
        </p:txBody>
      </p:sp>
      <p:sp>
        <p:nvSpPr>
          <p:cNvPr id="12" name="Badge 5"/>
          <p:cNvSpPr/>
          <p:nvPr/>
        </p:nvSpPr>
        <p:spPr>
          <a:xfrm>
            <a:off x="548640" y="4270248"/>
            <a:ext cx="457200" cy="457200"/>
          </a:xfrm>
          <a:prstGeom prst="ellipse">
            <a:avLst/>
          </a:prstGeom>
          <a:solidFill>
            <a:srgbClr val="1D78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400" b="1" i="0">
                <a:solidFill>
                  <a:srgbClr val="FFFFFF"/>
                </a:solidFill>
                <a:latin typeface="Calibri"/>
              </a:rPr>
              <a:t>5</a:t>
            </a:r>
          </a:p>
        </p:txBody>
      </p:sp>
      <p:sp>
        <p:nvSpPr>
          <p:cNvPr id="13" name="Input 5"/>
          <p:cNvSpPr/>
          <p:nvPr/>
        </p:nvSpPr>
        <p:spPr>
          <a:xfrm>
            <a:off x="1143000" y="4270248"/>
            <a:ext cx="2697480" cy="457200"/>
          </a:xfrm>
          <a:prstGeom prst="roundRect">
            <a:avLst>
              <a:gd name="adj" fmla="val 12000"/>
            </a:avLst>
          </a:prstGeom>
          <a:solidFill>
            <a:srgbClr val="E6F0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l">
              <a:spcAft>
                <a:spcPts val="200"/>
              </a:spcAft>
            </a:pPr>
            <a:r>
              <a:rPr sz="1400" b="0" i="0">
                <a:solidFill>
                  <a:srgbClr val="1F2A30"/>
                </a:solidFill>
                <a:latin typeface="Calibri"/>
              </a:rPr>
              <a:t>Translation rule version</a:t>
            </a:r>
          </a:p>
        </p:txBody>
      </p:sp>
      <p:cxnSp>
        <p:nvCxnSpPr>
          <p:cNvPr id="14" name="Connector 13"/>
          <p:cNvCxnSpPr/>
          <p:nvPr/>
        </p:nvCxnSpPr>
        <p:spPr>
          <a:xfrm>
            <a:off x="3977639" y="3246120"/>
            <a:ext cx="548641" cy="0"/>
          </a:xfrm>
          <a:prstGeom prst="line">
            <a:avLst/>
          </a:prstGeom>
          <a:ln w="25400">
            <a:solidFill>
              <a:srgbClr val="1D787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Fingerprint"/>
          <p:cNvSpPr/>
          <p:nvPr/>
        </p:nvSpPr>
        <p:spPr>
          <a:xfrm>
            <a:off x="4526280" y="2377440"/>
            <a:ext cx="2926080" cy="1737360"/>
          </a:xfrm>
          <a:prstGeom prst="roundRect">
            <a:avLst>
              <a:gd name="adj" fmla="val 12000"/>
            </a:avLst>
          </a:prstGeom>
          <a:solidFill>
            <a:srgbClr val="1234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200"/>
              </a:spcAft>
            </a:pPr>
            <a:r>
              <a:rPr sz="1800" b="1" i="0">
                <a:solidFill>
                  <a:srgbClr val="FFFFFF"/>
                </a:solidFill>
                <a:latin typeface="Calibri"/>
              </a:rPr>
              <a:t>Fingerprint</a:t>
            </a:r>
          </a:p>
          <a:p>
            <a:pPr algn="ctr">
              <a:spcAft>
                <a:spcPts val="200"/>
              </a:spcAft>
            </a:pPr>
            <a:r>
              <a:rPr sz="1400" b="0" i="0">
                <a:solidFill>
                  <a:srgbClr val="E8A33D"/>
                </a:solidFill>
                <a:latin typeface="Courier New"/>
              </a:rPr>
              <a:t>7f3a 9c21 ... c91e</a:t>
            </a:r>
          </a:p>
          <a:p>
            <a:pPr algn="ctr">
              <a:spcAft>
                <a:spcPts val="200"/>
              </a:spcAft>
            </a:pPr>
            <a:r>
              <a:rPr sz="1200" b="0" i="0">
                <a:solidFill>
                  <a:srgbClr val="CADCDB"/>
                </a:solidFill>
                <a:latin typeface="Calibri"/>
              </a:rPr>
              <a:t>SHA-256 code</a:t>
            </a:r>
          </a:p>
        </p:txBody>
      </p:sp>
      <p:sp>
        <p:nvSpPr>
          <p:cNvPr id="16" name="Catch card"/>
          <p:cNvSpPr/>
          <p:nvPr/>
        </p:nvSpPr>
        <p:spPr>
          <a:xfrm>
            <a:off x="7863840" y="1783080"/>
            <a:ext cx="3749039" cy="2057400"/>
          </a:xfrm>
          <a:prstGeom prst="roundRect">
            <a:avLst>
              <a:gd name="adj" fmla="val 12000"/>
            </a:avLst>
          </a:prstGeom>
          <a:solidFill>
            <a:srgbClr val="FFFFFF"/>
          </a:solidFill>
          <a:ln w="15875">
            <a:solidFill>
              <a:srgbClr val="C9D6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tch head"/>
          <p:cNvSpPr txBox="1"/>
          <p:nvPr/>
        </p:nvSpPr>
        <p:spPr>
          <a:xfrm>
            <a:off x="8092440" y="1920240"/>
            <a:ext cx="3383280" cy="365760"/>
          </a:xfrm>
          <a:prstGeom prst="rect">
            <a:avLst/>
          </a:prstGeom>
          <a:noFill/>
        </p:spPr>
        <p:txBody>
          <a:bodyPr wrap="square" anchor="t" lIns="0" rIns="0" tIns="0" bIns="0">
            <a:spAutoFit/>
          </a:bodyPr>
          <a:lstStyle/>
          <a:p>
            <a:pPr algn="l">
              <a:spcAft>
                <a:spcPts val="600"/>
              </a:spcAft>
            </a:pPr>
            <a:r>
              <a:rPr sz="1600" b="1" i="0">
                <a:solidFill>
                  <a:srgbClr val="12343B"/>
                </a:solidFill>
                <a:latin typeface="Calibri"/>
              </a:rPr>
              <a:t>The catch it handles</a:t>
            </a:r>
          </a:p>
        </p:txBody>
      </p:sp>
      <p:sp>
        <p:nvSpPr>
          <p:cNvPr id="18" name="Catch body"/>
          <p:cNvSpPr txBox="1"/>
          <p:nvPr/>
        </p:nvSpPr>
        <p:spPr>
          <a:xfrm>
            <a:off x="8092440" y="2331720"/>
            <a:ext cx="3337560" cy="1463040"/>
          </a:xfrm>
          <a:prstGeom prst="rect">
            <a:avLst/>
          </a:prstGeom>
          <a:noFill/>
        </p:spPr>
        <p:txBody>
          <a:bodyPr wrap="square" anchor="t" lIns="0" rIns="0" tIns="0" bIns="0">
            <a:spAutoFit/>
          </a:bodyPr>
          <a:lstStyle/>
          <a:p>
            <a:pPr algn="l">
              <a:spcAft>
                <a:spcPts val="500"/>
              </a:spcAft>
            </a:pPr>
            <a:r>
              <a:rPr sz="1300" b="0" i="0">
                <a:solidFill>
                  <a:srgbClr val="1F2A30"/>
                </a:solidFill>
                <a:latin typeface="Calibri"/>
              </a:rPr>
              <a:t>Operation refers to Auto Run Ready. Edit Auto Run Ready and Operation's answer must change too - even though its own text did not.</a:t>
            </a:r>
          </a:p>
          <a:p>
            <a:pPr algn="l">
              <a:spcAft>
                <a:spcPts val="500"/>
              </a:spcAft>
            </a:pPr>
            <a:r>
              <a:rPr sz="1300" b="1" i="0">
                <a:solidFill>
                  <a:srgbClr val="1F2A30"/>
                </a:solidFill>
                <a:latin typeface="Calibri"/>
              </a:rPr>
              <a:t>Because input 2 is included, both are refreshed.</a:t>
            </a:r>
          </a:p>
        </p:txBody>
      </p:sp>
      <p:sp>
        <p:nvSpPr>
          <p:cNvPr id="19" name="Change card"/>
          <p:cNvSpPr/>
          <p:nvPr/>
        </p:nvSpPr>
        <p:spPr>
          <a:xfrm>
            <a:off x="7863840" y="4023360"/>
            <a:ext cx="3749039" cy="1965960"/>
          </a:xfrm>
          <a:prstGeom prst="roundRect">
            <a:avLst>
              <a:gd name="adj" fmla="val 12000"/>
            </a:avLst>
          </a:prstGeom>
          <a:solidFill>
            <a:srgbClr val="E6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Change head"/>
          <p:cNvSpPr txBox="1"/>
          <p:nvPr/>
        </p:nvSpPr>
        <p:spPr>
          <a:xfrm>
            <a:off x="8092440" y="4160520"/>
            <a:ext cx="3383280" cy="365760"/>
          </a:xfrm>
          <a:prstGeom prst="rect">
            <a:avLst/>
          </a:prstGeom>
          <a:noFill/>
        </p:spPr>
        <p:txBody>
          <a:bodyPr wrap="square" anchor="t" lIns="0" rIns="0" tIns="0" bIns="0">
            <a:spAutoFit/>
          </a:bodyPr>
          <a:lstStyle/>
          <a:p>
            <a:pPr algn="l">
              <a:spcAft>
                <a:spcPts val="600"/>
              </a:spcAft>
            </a:pPr>
            <a:r>
              <a:rPr sz="1600" b="1" i="0">
                <a:solidFill>
                  <a:srgbClr val="12343B"/>
                </a:solidFill>
                <a:latin typeface="Calibri"/>
              </a:rPr>
              <a:t>One change needed</a:t>
            </a:r>
          </a:p>
        </p:txBody>
      </p:sp>
      <p:sp>
        <p:nvSpPr>
          <p:cNvPr id="21" name="Change body"/>
          <p:cNvSpPr txBox="1"/>
          <p:nvPr/>
        </p:nvSpPr>
        <p:spPr>
          <a:xfrm>
            <a:off x="8092440" y="4572000"/>
            <a:ext cx="3337560" cy="1371600"/>
          </a:xfrm>
          <a:prstGeom prst="rect">
            <a:avLst/>
          </a:prstGeom>
          <a:noFill/>
        </p:spPr>
        <p:txBody>
          <a:bodyPr wrap="square" anchor="t" lIns="0" rIns="0" tIns="0" bIns="0">
            <a:spAutoFit/>
          </a:bodyPr>
          <a:lstStyle/>
          <a:p>
            <a:pPr algn="l">
              <a:spcAft>
                <a:spcPts val="500"/>
              </a:spcAft>
            </a:pPr>
            <a:r>
              <a:rPr sz="1300" b="0" i="0">
                <a:solidFill>
                  <a:srgbClr val="1F2A30"/>
                </a:solidFill>
                <a:latin typeface="Calibri"/>
              </a:rPr>
              <a:t>Today every request carries all 7 scenarios, so one edit would change all 7 fingerprints. Send only the scenarios actually mentioned.</a:t>
            </a:r>
          </a:p>
          <a:p>
            <a:pPr algn="l">
              <a:spcAft>
                <a:spcPts val="500"/>
              </a:spcAft>
            </a:pPr>
            <a:r>
              <a:rPr sz="1300" b="1" i="0">
                <a:solidFill>
                  <a:srgbClr val="1F2A30"/>
                </a:solidFill>
                <a:latin typeface="Calibri"/>
              </a:rPr>
              <a:t>Bonus: smaller requests on every call.</a:t>
            </a:r>
          </a:p>
        </p:txBody>
      </p:sp>
      <p:sp>
        <p:nvSpPr>
          <p:cNvPr id="22" name="Rule note"/>
          <p:cNvSpPr txBox="1"/>
          <p:nvPr/>
        </p:nvSpPr>
        <p:spPr>
          <a:xfrm>
            <a:off x="548640" y="5120640"/>
            <a:ext cx="6949440" cy="731520"/>
          </a:xfrm>
          <a:prstGeom prst="rect">
            <a:avLst/>
          </a:prstGeom>
          <a:noFill/>
        </p:spPr>
        <p:txBody>
          <a:bodyPr wrap="square" anchor="t" lIns="0" rIns="0" tIns="0" bIns="0">
            <a:spAutoFit/>
          </a:bodyPr>
          <a:lstStyle/>
          <a:p>
            <a:pPr algn="l">
              <a:spcAft>
                <a:spcPts val="600"/>
              </a:spcAft>
            </a:pPr>
            <a:r>
              <a:rPr sz="1400" b="0" i="0">
                <a:solidFill>
                  <a:srgbClr val="5B6B73"/>
                </a:solidFill>
                <a:latin typeface="Calibri"/>
              </a:rPr>
              <a:t>If anyone edits the translation rules, input 5 changes and old results are translated again instead of reused.</a:t>
            </a:r>
          </a:p>
        </p:txBody>
      </p:sp>
      <p:sp>
        <p:nvSpPr>
          <p:cNvPr id="23" name="Footer"/>
          <p:cNvSpPr txBox="1"/>
          <p:nvPr/>
        </p:nvSpPr>
        <p:spPr>
          <a:xfrm>
            <a:off x="548640" y="6400800"/>
            <a:ext cx="7315200" cy="274320"/>
          </a:xfrm>
          <a:prstGeom prst="rect">
            <a:avLst/>
          </a:prstGeom>
          <a:noFill/>
        </p:spPr>
        <p:txBody>
          <a:bodyPr wrap="square" anchor="t" lIns="0" rIns="0" tIns="0" bIns="0">
            <a:spAutoFit/>
          </a:bodyPr>
          <a:lstStyle/>
          <a:p>
            <a:pPr algn="l">
              <a:spcAft>
                <a:spcPts val="600"/>
              </a:spcAft>
            </a:pPr>
            <a:r>
              <a:rPr sz="1000" b="0" i="0">
                <a:solidFill>
                  <a:srgbClr val="5B6B73"/>
                </a:solidFill>
                <a:latin typeface="Calibri"/>
              </a:rPr>
              <a:t>XenAnalyticTransl  |  Proposal: save AI results to the database</a:t>
            </a:r>
          </a:p>
        </p:txBody>
      </p:sp>
      <p:sp>
        <p:nvSpPr>
          <p:cNvPr id="24" name="Slide number"/>
          <p:cNvSpPr txBox="1"/>
          <p:nvPr/>
        </p:nvSpPr>
        <p:spPr>
          <a:xfrm>
            <a:off x="10789920" y="6400800"/>
            <a:ext cx="868680" cy="274320"/>
          </a:xfrm>
          <a:prstGeom prst="rect">
            <a:avLst/>
          </a:prstGeom>
          <a:noFill/>
        </p:spPr>
        <p:txBody>
          <a:bodyPr wrap="square" anchor="t" lIns="0" rIns="0" tIns="0" bIns="0">
            <a:spAutoFit/>
          </a:bodyPr>
          <a:lstStyle/>
          <a:p>
            <a:pPr algn="r">
              <a:spcAft>
                <a:spcPts val="600"/>
              </a:spcAft>
            </a:pPr>
            <a:r>
              <a:rPr sz="1000" b="0" i="0">
                <a:solidFill>
                  <a:srgbClr val="5B6B73"/>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84048"/>
            <a:ext cx="11064240" cy="731520"/>
          </a:xfrm>
          <a:prstGeom prst="rect">
            <a:avLst/>
          </a:prstGeom>
          <a:noFill/>
        </p:spPr>
        <p:txBody>
          <a:bodyPr wrap="square" anchor="ctr" lIns="0" rIns="0" tIns="0" bIns="0">
            <a:spAutoFit/>
          </a:bodyPr>
          <a:lstStyle/>
          <a:p>
            <a:pPr algn="l">
              <a:spcAft>
                <a:spcPts val="600"/>
              </a:spcAft>
            </a:pPr>
            <a:r>
              <a:rPr sz="3400" b="1" i="0">
                <a:solidFill>
                  <a:srgbClr val="12343B"/>
                </a:solidFill>
                <a:latin typeface="Cambria"/>
              </a:rPr>
              <a:t>Where it is stored</a:t>
            </a:r>
          </a:p>
        </p:txBody>
      </p:sp>
      <p:sp>
        <p:nvSpPr>
          <p:cNvPr id="3" name="Subtitle"/>
          <p:cNvSpPr txBox="1"/>
          <p:nvPr/>
        </p:nvSpPr>
        <p:spPr>
          <a:xfrm>
            <a:off x="548640" y="1078992"/>
            <a:ext cx="11064240" cy="411480"/>
          </a:xfrm>
          <a:prstGeom prst="rect">
            <a:avLst/>
          </a:prstGeom>
          <a:noFill/>
        </p:spPr>
        <p:txBody>
          <a:bodyPr wrap="square" anchor="t" lIns="0" rIns="0" tIns="0" bIns="0">
            <a:spAutoFit/>
          </a:bodyPr>
          <a:lstStyle/>
          <a:p>
            <a:pPr algn="l">
              <a:spcAft>
                <a:spcPts val="600"/>
              </a:spcAft>
            </a:pPr>
            <a:r>
              <a:rPr sz="1600" b="0" i="0">
                <a:solidFill>
                  <a:srgbClr val="5B6B73"/>
                </a:solidFill>
                <a:latin typeface="Calibri"/>
              </a:rPr>
              <a:t>A new table inside the existing XenCreator database - not a new database</a:t>
            </a:r>
          </a:p>
        </p:txBody>
      </p:sp>
      <p:sp>
        <p:nvSpPr>
          <p:cNvPr id="4" name="Level Server"/>
          <p:cNvSpPr/>
          <p:nvPr/>
        </p:nvSpPr>
        <p:spPr>
          <a:xfrm>
            <a:off x="548640" y="1783080"/>
            <a:ext cx="5120640" cy="777240"/>
          </a:xfrm>
          <a:prstGeom prst="roundRect">
            <a:avLst>
              <a:gd name="adj" fmla="val 12000"/>
            </a:avLst>
          </a:prstGeom>
          <a:solidFill>
            <a:srgbClr val="1234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l">
              <a:spcAft>
                <a:spcPts val="200"/>
              </a:spcAft>
            </a:pPr>
            <a:r>
              <a:rPr sz="1200" b="1" i="0">
                <a:solidFill>
                  <a:srgbClr val="CADCDB"/>
                </a:solidFill>
                <a:latin typeface="Calibri"/>
              </a:rPr>
              <a:t>SERVER   </a:t>
            </a:r>
            <a:r>
              <a:rPr sz="1700" b="1" i="0">
                <a:solidFill>
                  <a:srgbClr val="FFFFFF"/>
                </a:solidFill>
                <a:latin typeface="Calibri"/>
              </a:rPr>
              <a:t>128.100.20.33\neptune</a:t>
            </a:r>
          </a:p>
        </p:txBody>
      </p:sp>
      <p:sp>
        <p:nvSpPr>
          <p:cNvPr id="5" name="Level Database"/>
          <p:cNvSpPr/>
          <p:nvPr/>
        </p:nvSpPr>
        <p:spPr>
          <a:xfrm>
            <a:off x="1051560" y="2743200"/>
            <a:ext cx="5120640" cy="777240"/>
          </a:xfrm>
          <a:prstGeom prst="roundRect">
            <a:avLst>
              <a:gd name="adj" fmla="val 12000"/>
            </a:avLst>
          </a:prstGeom>
          <a:solidFill>
            <a:srgbClr val="1D78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l">
              <a:spcAft>
                <a:spcPts val="200"/>
              </a:spcAft>
            </a:pPr>
            <a:r>
              <a:rPr sz="1200" b="1" i="0">
                <a:solidFill>
                  <a:srgbClr val="DCEBEA"/>
                </a:solidFill>
                <a:latin typeface="Calibri"/>
              </a:rPr>
              <a:t>DATABASE   </a:t>
            </a:r>
            <a:r>
              <a:rPr sz="1700" b="1" i="0">
                <a:solidFill>
                  <a:srgbClr val="FFFFFF"/>
                </a:solidFill>
                <a:latin typeface="Calibri"/>
              </a:rPr>
              <a:t>XenCreator  (exists)</a:t>
            </a:r>
          </a:p>
        </p:txBody>
      </p:sp>
      <p:cxnSp>
        <p:nvCxnSpPr>
          <p:cNvPr id="6" name="Connector 5"/>
          <p:cNvCxnSpPr/>
          <p:nvPr/>
        </p:nvCxnSpPr>
        <p:spPr>
          <a:xfrm>
            <a:off x="777239" y="2560320"/>
            <a:ext cx="0" cy="566928"/>
          </a:xfrm>
          <a:prstGeom prst="line">
            <a:avLst/>
          </a:prstGeom>
          <a:ln w="19050">
            <a:solidFill>
              <a:srgbClr val="C9D6D5"/>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777239" y="3127248"/>
            <a:ext cx="274321" cy="0"/>
          </a:xfrm>
          <a:prstGeom prst="line">
            <a:avLst/>
          </a:prstGeom>
          <a:ln w="19050">
            <a:solidFill>
              <a:srgbClr val="C9D6D5"/>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Level Schema"/>
          <p:cNvSpPr/>
          <p:nvPr/>
        </p:nvSpPr>
        <p:spPr>
          <a:xfrm>
            <a:off x="1554480" y="3703320"/>
            <a:ext cx="5120640" cy="777240"/>
          </a:xfrm>
          <a:prstGeom prst="roundRect">
            <a:avLst>
              <a:gd name="adj" fmla="val 12000"/>
            </a:avLst>
          </a:prstGeom>
          <a:solidFill>
            <a:srgbClr val="E6F0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l">
              <a:spcAft>
                <a:spcPts val="200"/>
              </a:spcAft>
            </a:pPr>
            <a:r>
              <a:rPr sz="1200" b="1" i="0">
                <a:solidFill>
                  <a:srgbClr val="5B6B73"/>
                </a:solidFill>
                <a:latin typeface="Calibri"/>
              </a:rPr>
              <a:t>SCHEMA   </a:t>
            </a:r>
            <a:r>
              <a:rPr sz="1700" b="1" i="0">
                <a:solidFill>
                  <a:srgbClr val="1F2A30"/>
                </a:solidFill>
                <a:latin typeface="Calibri"/>
              </a:rPr>
              <a:t>dbo  (exists)</a:t>
            </a:r>
          </a:p>
        </p:txBody>
      </p:sp>
      <p:cxnSp>
        <p:nvCxnSpPr>
          <p:cNvPr id="9" name="Connector 8"/>
          <p:cNvCxnSpPr/>
          <p:nvPr/>
        </p:nvCxnSpPr>
        <p:spPr>
          <a:xfrm>
            <a:off x="1280160" y="3520439"/>
            <a:ext cx="0" cy="566929"/>
          </a:xfrm>
          <a:prstGeom prst="line">
            <a:avLst/>
          </a:prstGeom>
          <a:ln w="19050">
            <a:solidFill>
              <a:srgbClr val="C9D6D5"/>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280160" y="4087368"/>
            <a:ext cx="274320" cy="0"/>
          </a:xfrm>
          <a:prstGeom prst="line">
            <a:avLst/>
          </a:prstGeom>
          <a:ln w="19050">
            <a:solidFill>
              <a:srgbClr val="C9D6D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Level Table"/>
          <p:cNvSpPr/>
          <p:nvPr/>
        </p:nvSpPr>
        <p:spPr>
          <a:xfrm>
            <a:off x="2057400" y="4663440"/>
            <a:ext cx="5120640" cy="777240"/>
          </a:xfrm>
          <a:prstGeom prst="roundRect">
            <a:avLst>
              <a:gd name="adj" fmla="val 12000"/>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l">
              <a:spcAft>
                <a:spcPts val="200"/>
              </a:spcAft>
            </a:pPr>
            <a:r>
              <a:rPr sz="1200" b="1" i="0">
                <a:solidFill>
                  <a:srgbClr val="1F2A30"/>
                </a:solidFill>
                <a:latin typeface="Calibri"/>
              </a:rPr>
              <a:t>TABLE   </a:t>
            </a:r>
            <a:r>
              <a:rPr sz="1700" b="1" i="0">
                <a:solidFill>
                  <a:srgbClr val="1F2A30"/>
                </a:solidFill>
                <a:latin typeface="Calibri"/>
              </a:rPr>
              <a:t>OutputXenTrans  (NEW)</a:t>
            </a:r>
          </a:p>
        </p:txBody>
      </p:sp>
      <p:cxnSp>
        <p:nvCxnSpPr>
          <p:cNvPr id="12" name="Connector 11"/>
          <p:cNvCxnSpPr/>
          <p:nvPr/>
        </p:nvCxnSpPr>
        <p:spPr>
          <a:xfrm>
            <a:off x="1783080" y="4480560"/>
            <a:ext cx="0" cy="566928"/>
          </a:xfrm>
          <a:prstGeom prst="line">
            <a:avLst/>
          </a:prstGeom>
          <a:ln w="19050">
            <a:solidFill>
              <a:srgbClr val="C9D6D5"/>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783080" y="5047488"/>
            <a:ext cx="274320" cy="0"/>
          </a:xfrm>
          <a:prstGeom prst="line">
            <a:avLst/>
          </a:prstGeom>
          <a:ln w="19050">
            <a:solidFill>
              <a:srgbClr val="C9D6D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Name card"/>
          <p:cNvSpPr/>
          <p:nvPr/>
        </p:nvSpPr>
        <p:spPr>
          <a:xfrm>
            <a:off x="7315200" y="1783080"/>
            <a:ext cx="4297680" cy="1554480"/>
          </a:xfrm>
          <a:prstGeom prst="roundRect">
            <a:avLst>
              <a:gd name="adj" fmla="val 12000"/>
            </a:avLst>
          </a:prstGeom>
          <a:solidFill>
            <a:srgbClr val="E6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Name head"/>
          <p:cNvSpPr txBox="1"/>
          <p:nvPr/>
        </p:nvSpPr>
        <p:spPr>
          <a:xfrm>
            <a:off x="7543800" y="1920240"/>
            <a:ext cx="3931920" cy="365760"/>
          </a:xfrm>
          <a:prstGeom prst="rect">
            <a:avLst/>
          </a:prstGeom>
          <a:noFill/>
        </p:spPr>
        <p:txBody>
          <a:bodyPr wrap="square" anchor="t" lIns="0" rIns="0" tIns="0" bIns="0">
            <a:spAutoFit/>
          </a:bodyPr>
          <a:lstStyle/>
          <a:p>
            <a:pPr algn="l">
              <a:spcAft>
                <a:spcPts val="600"/>
              </a:spcAft>
            </a:pPr>
            <a:r>
              <a:rPr sz="1400" b="1" i="0">
                <a:solidFill>
                  <a:srgbClr val="5B6B73"/>
                </a:solidFill>
                <a:latin typeface="Calibri"/>
              </a:rPr>
              <a:t>Full name</a:t>
            </a:r>
          </a:p>
        </p:txBody>
      </p:sp>
      <p:sp>
        <p:nvSpPr>
          <p:cNvPr id="16" name="Full name"/>
          <p:cNvSpPr txBox="1"/>
          <p:nvPr/>
        </p:nvSpPr>
        <p:spPr>
          <a:xfrm>
            <a:off x="7543800" y="2286000"/>
            <a:ext cx="3931920" cy="457200"/>
          </a:xfrm>
          <a:prstGeom prst="rect">
            <a:avLst/>
          </a:prstGeom>
          <a:noFill/>
        </p:spPr>
        <p:txBody>
          <a:bodyPr wrap="square" anchor="t" lIns="0" rIns="0" tIns="0" bIns="0">
            <a:spAutoFit/>
          </a:bodyPr>
          <a:lstStyle/>
          <a:p>
            <a:pPr algn="l">
              <a:spcAft>
                <a:spcPts val="600"/>
              </a:spcAft>
            </a:pPr>
            <a:r>
              <a:rPr sz="1700" b="1" i="0">
                <a:solidFill>
                  <a:srgbClr val="12343B"/>
                </a:solidFill>
                <a:latin typeface="Courier New"/>
              </a:rPr>
              <a:t>XenCreator.dbo.OutputXenTrans</a:t>
            </a:r>
          </a:p>
        </p:txBody>
      </p:sp>
      <p:sp>
        <p:nvSpPr>
          <p:cNvPr id="17" name="Name note"/>
          <p:cNvSpPr txBox="1"/>
          <p:nvPr/>
        </p:nvSpPr>
        <p:spPr>
          <a:xfrm>
            <a:off x="7543800" y="2743200"/>
            <a:ext cx="3931920" cy="548640"/>
          </a:xfrm>
          <a:prstGeom prst="rect">
            <a:avLst/>
          </a:prstGeom>
          <a:noFill/>
        </p:spPr>
        <p:txBody>
          <a:bodyPr wrap="square" anchor="t" lIns="0" rIns="0" tIns="0" bIns="0">
            <a:spAutoFit/>
          </a:bodyPr>
          <a:lstStyle/>
          <a:p>
            <a:pPr algn="l">
              <a:spcAft>
                <a:spcPts val="600"/>
              </a:spcAft>
            </a:pPr>
            <a:r>
              <a:rPr sz="1200" b="0" i="0">
                <a:solidFill>
                  <a:srgbClr val="5B6B73"/>
                </a:solidFill>
                <a:latin typeface="Calibri"/>
              </a:rPr>
              <a:t>"OutputXenTrans.dbo" would read as a new database.</a:t>
            </a:r>
          </a:p>
        </p:txBody>
      </p:sp>
      <p:sp>
        <p:nvSpPr>
          <p:cNvPr id="18" name="History card"/>
          <p:cNvSpPr/>
          <p:nvPr/>
        </p:nvSpPr>
        <p:spPr>
          <a:xfrm>
            <a:off x="7315200" y="3566160"/>
            <a:ext cx="4297680" cy="2331720"/>
          </a:xfrm>
          <a:prstGeom prst="roundRect">
            <a:avLst>
              <a:gd name="adj" fmla="val 12000"/>
            </a:avLst>
          </a:prstGeom>
          <a:solidFill>
            <a:srgbClr val="FFFFFF"/>
          </a:solidFill>
          <a:ln w="15875">
            <a:solidFill>
              <a:srgbClr val="C9D6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History head"/>
          <p:cNvSpPr txBox="1"/>
          <p:nvPr/>
        </p:nvSpPr>
        <p:spPr>
          <a:xfrm>
            <a:off x="7543800" y="3703320"/>
            <a:ext cx="3931920" cy="365760"/>
          </a:xfrm>
          <a:prstGeom prst="rect">
            <a:avLst/>
          </a:prstGeom>
          <a:noFill/>
        </p:spPr>
        <p:txBody>
          <a:bodyPr wrap="square" anchor="t" lIns="0" rIns="0" tIns="0" bIns="0">
            <a:spAutoFit/>
          </a:bodyPr>
          <a:lstStyle/>
          <a:p>
            <a:pPr algn="l">
              <a:spcAft>
                <a:spcPts val="600"/>
              </a:spcAft>
            </a:pPr>
            <a:r>
              <a:rPr sz="1600" b="1" i="0">
                <a:solidFill>
                  <a:srgbClr val="12343B"/>
                </a:solidFill>
                <a:latin typeface="Calibri"/>
              </a:rPr>
              <a:t>History is kept</a:t>
            </a:r>
          </a:p>
        </p:txBody>
      </p:sp>
      <p:sp>
        <p:nvSpPr>
          <p:cNvPr id="20" name="History body"/>
          <p:cNvSpPr txBox="1"/>
          <p:nvPr/>
        </p:nvSpPr>
        <p:spPr>
          <a:xfrm>
            <a:off x="7543800" y="4114800"/>
            <a:ext cx="3886200" cy="1737360"/>
          </a:xfrm>
          <a:prstGeom prst="rect">
            <a:avLst/>
          </a:prstGeom>
          <a:noFill/>
        </p:spPr>
        <p:txBody>
          <a:bodyPr wrap="square" anchor="t" lIns="0" rIns="0" tIns="0" bIns="0">
            <a:spAutoFit/>
          </a:bodyPr>
          <a:lstStyle/>
          <a:p>
            <a:pPr algn="l">
              <a:spcAft>
                <a:spcPts val="600"/>
              </a:spcAft>
            </a:pPr>
            <a:r>
              <a:rPr sz="1400" b="0" i="0">
                <a:solidFill>
                  <a:srgbClr val="1F2A30"/>
                </a:solidFill>
                <a:latin typeface="Calibri"/>
              </a:rPr>
              <a:t>Each run adds a row instead of overwriting one.</a:t>
            </a:r>
          </a:p>
          <a:p>
            <a:pPr algn="l">
              <a:spcAft>
                <a:spcPts val="600"/>
              </a:spcAft>
            </a:pPr>
            <a:r>
              <a:rPr sz="1400" b="0" i="0">
                <a:solidFill>
                  <a:srgbClr val="1F2A30"/>
                </a:solidFill>
                <a:latin typeface="Calibri"/>
              </a:rPr>
              <a:t>The app always loads the newest matching row.</a:t>
            </a:r>
          </a:p>
          <a:p>
            <a:pPr algn="l">
              <a:spcAft>
                <a:spcPts val="600"/>
              </a:spcAft>
            </a:pPr>
            <a:r>
              <a:rPr sz="1400" b="0" i="0">
                <a:solidFill>
                  <a:srgbClr val="1F2A30"/>
                </a:solidFill>
                <a:latin typeface="Calibri"/>
              </a:rPr>
              <a:t>Old rows stay, so runs and models can be compared later.</a:t>
            </a:r>
          </a:p>
        </p:txBody>
      </p:sp>
      <p:sp>
        <p:nvSpPr>
          <p:cNvPr id="21" name="Footer"/>
          <p:cNvSpPr txBox="1"/>
          <p:nvPr/>
        </p:nvSpPr>
        <p:spPr>
          <a:xfrm>
            <a:off x="548640" y="6400800"/>
            <a:ext cx="7315200" cy="274320"/>
          </a:xfrm>
          <a:prstGeom prst="rect">
            <a:avLst/>
          </a:prstGeom>
          <a:noFill/>
        </p:spPr>
        <p:txBody>
          <a:bodyPr wrap="square" anchor="t" lIns="0" rIns="0" tIns="0" bIns="0">
            <a:spAutoFit/>
          </a:bodyPr>
          <a:lstStyle/>
          <a:p>
            <a:pPr algn="l">
              <a:spcAft>
                <a:spcPts val="600"/>
              </a:spcAft>
            </a:pPr>
            <a:r>
              <a:rPr sz="1000" b="0" i="0">
                <a:solidFill>
                  <a:srgbClr val="5B6B73"/>
                </a:solidFill>
                <a:latin typeface="Calibri"/>
              </a:rPr>
              <a:t>XenAnalyticTransl  |  Proposal: save AI results to the database</a:t>
            </a:r>
          </a:p>
        </p:txBody>
      </p:sp>
      <p:sp>
        <p:nvSpPr>
          <p:cNvPr id="22" name="Slide number"/>
          <p:cNvSpPr txBox="1"/>
          <p:nvPr/>
        </p:nvSpPr>
        <p:spPr>
          <a:xfrm>
            <a:off x="10789920" y="6400800"/>
            <a:ext cx="868680" cy="274320"/>
          </a:xfrm>
          <a:prstGeom prst="rect">
            <a:avLst/>
          </a:prstGeom>
          <a:noFill/>
        </p:spPr>
        <p:txBody>
          <a:bodyPr wrap="square" anchor="t" lIns="0" rIns="0" tIns="0" bIns="0">
            <a:spAutoFit/>
          </a:bodyPr>
          <a:lstStyle/>
          <a:p>
            <a:pPr algn="r">
              <a:spcAft>
                <a:spcPts val="600"/>
              </a:spcAft>
            </a:pPr>
            <a:r>
              <a:rPr sz="1000" b="0" i="0">
                <a:solidFill>
                  <a:srgbClr val="5B6B73"/>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84048"/>
            <a:ext cx="11064240" cy="731520"/>
          </a:xfrm>
          <a:prstGeom prst="rect">
            <a:avLst/>
          </a:prstGeom>
          <a:noFill/>
        </p:spPr>
        <p:txBody>
          <a:bodyPr wrap="square" anchor="ctr" lIns="0" rIns="0" tIns="0" bIns="0">
            <a:spAutoFit/>
          </a:bodyPr>
          <a:lstStyle/>
          <a:p>
            <a:pPr algn="l">
              <a:spcAft>
                <a:spcPts val="600"/>
              </a:spcAft>
            </a:pPr>
            <a:r>
              <a:rPr sz="3400" b="1" i="0">
                <a:solidFill>
                  <a:srgbClr val="12343B"/>
                </a:solidFill>
                <a:latin typeface="Cambria"/>
              </a:rPr>
              <a:t>What one saved row holds</a:t>
            </a:r>
          </a:p>
        </p:txBody>
      </p:sp>
      <p:graphicFrame>
        <p:nvGraphicFramePr>
          <p:cNvPr id="3" name="Table"/>
          <p:cNvGraphicFramePr>
            <a:graphicFrameLocks noGrp="1"/>
          </p:cNvGraphicFramePr>
          <p:nvPr/>
        </p:nvGraphicFramePr>
        <p:xfrm>
          <a:off x="548640" y="1417320"/>
          <a:ext cx="11064240" cy="4297680"/>
        </p:xfrm>
        <a:graphic>
          <a:graphicData uri="http://schemas.openxmlformats.org/drawingml/2006/table">
            <a:tbl>
              <a:tblPr firstRow="0" bandRow="0">
                <a:tableStyleId>{5C22544A-7EE6-4342-B048-85BDC9FD1C3A}</a:tableStyleId>
              </a:tblPr>
              <a:tblGrid>
                <a:gridCol w="3291840"/>
                <a:gridCol w="4160520"/>
                <a:gridCol w="3611880"/>
              </a:tblGrid>
              <a:tr h="429768">
                <a:tc>
                  <a:txBody>
                    <a:bodyPr wrap="square"/>
                    <a:lstStyle/>
                    <a:p>
                      <a:r>
                        <a:rPr sz="1400" b="1" i="0">
                          <a:solidFill>
                            <a:srgbClr val="FFFFFF"/>
                          </a:solidFill>
                          <a:latin typeface="Calibri"/>
                        </a:rPr>
                        <a:t>Column</a:t>
                      </a:r>
                    </a:p>
                  </a:txBody>
                  <a:tcPr marL="91440" marR="91440" marT="36576" marB="36576" anchor="ctr">
                    <a:solidFill>
                      <a:srgbClr val="12343B"/>
                    </a:solidFill>
                  </a:tcPr>
                </a:tc>
                <a:tc>
                  <a:txBody>
                    <a:bodyPr wrap="square"/>
                    <a:lstStyle/>
                    <a:p>
                      <a:r>
                        <a:rPr sz="1400" b="1" i="0">
                          <a:solidFill>
                            <a:srgbClr val="FFFFFF"/>
                          </a:solidFill>
                          <a:latin typeface="Calibri"/>
                        </a:rPr>
                        <a:t>Holds</a:t>
                      </a:r>
                    </a:p>
                  </a:txBody>
                  <a:tcPr marL="91440" marR="91440" marT="36576" marB="36576" anchor="ctr">
                    <a:solidFill>
                      <a:srgbClr val="12343B"/>
                    </a:solidFill>
                  </a:tcPr>
                </a:tc>
                <a:tc>
                  <a:txBody>
                    <a:bodyPr wrap="square"/>
                    <a:lstStyle/>
                    <a:p>
                      <a:r>
                        <a:rPr sz="1400" b="1" i="0">
                          <a:solidFill>
                            <a:srgbClr val="FFFFFF"/>
                          </a:solidFill>
                          <a:latin typeface="Calibri"/>
                        </a:rPr>
                        <a:t>Example</a:t>
                      </a:r>
                    </a:p>
                  </a:txBody>
                  <a:tcPr marL="91440" marR="91440" marT="36576" marB="36576" anchor="ctr">
                    <a:solidFill>
                      <a:srgbClr val="12343B"/>
                    </a:solidFill>
                  </a:tcPr>
                </a:tc>
              </a:tr>
              <a:tr h="429768">
                <a:tc>
                  <a:txBody>
                    <a:bodyPr wrap="square"/>
                    <a:lstStyle/>
                    <a:p>
                      <a:r>
                        <a:rPr sz="1400" b="0" i="0">
                          <a:solidFill>
                            <a:srgbClr val="1F2A30"/>
                          </a:solidFill>
                          <a:latin typeface="Calibri"/>
                        </a:rPr>
                        <a:t>CacheKey</a:t>
                      </a:r>
                    </a:p>
                  </a:txBody>
                  <a:tcPr marL="91440" marR="91440" marT="36576" marB="36576" anchor="ctr">
                    <a:solidFill>
                      <a:srgbClr val="FFFFFF"/>
                    </a:solidFill>
                  </a:tcPr>
                </a:tc>
                <a:tc>
                  <a:txBody>
                    <a:bodyPr wrap="square"/>
                    <a:lstStyle/>
                    <a:p>
                      <a:r>
                        <a:rPr sz="1400" b="0" i="0">
                          <a:solidFill>
                            <a:srgbClr val="1F2A30"/>
                          </a:solidFill>
                          <a:latin typeface="Calibri"/>
                        </a:rPr>
                        <a:t>The fingerprint - used to find a match</a:t>
                      </a:r>
                    </a:p>
                  </a:txBody>
                  <a:tcPr marL="91440" marR="91440" marT="36576" marB="36576" anchor="ctr">
                    <a:solidFill>
                      <a:srgbClr val="FFFFFF"/>
                    </a:solidFill>
                  </a:tcPr>
                </a:tc>
                <a:tc>
                  <a:txBody>
                    <a:bodyPr wrap="square"/>
                    <a:lstStyle/>
                    <a:p>
                      <a:r>
                        <a:rPr sz="1300" b="0" i="0">
                          <a:solidFill>
                            <a:srgbClr val="1F2A30"/>
                          </a:solidFill>
                          <a:latin typeface="Courier New"/>
                        </a:rPr>
                        <a:t>7f3a9c21...c91e</a:t>
                      </a:r>
                    </a:p>
                  </a:txBody>
                  <a:tcPr marL="91440" marR="91440" marT="36576" marB="36576" anchor="ctr">
                    <a:solidFill>
                      <a:srgbClr val="FFFFFF"/>
                    </a:solidFill>
                  </a:tcPr>
                </a:tc>
              </a:tr>
              <a:tr h="429768">
                <a:tc>
                  <a:txBody>
                    <a:bodyPr wrap="square"/>
                    <a:lstStyle/>
                    <a:p>
                      <a:r>
                        <a:rPr sz="1400" b="0" i="0">
                          <a:solidFill>
                            <a:srgbClr val="1F2A30"/>
                          </a:solidFill>
                          <a:latin typeface="Calibri"/>
                        </a:rPr>
                        <a:t>Equipment, ScenarioName</a:t>
                      </a:r>
                    </a:p>
                  </a:txBody>
                  <a:tcPr marL="91440" marR="91440" marT="36576" marB="36576" anchor="ctr">
                    <a:solidFill>
                      <a:srgbClr val="F4F8F8"/>
                    </a:solidFill>
                  </a:tcPr>
                </a:tc>
                <a:tc>
                  <a:txBody>
                    <a:bodyPr wrap="square"/>
                    <a:lstStyle/>
                    <a:p>
                      <a:r>
                        <a:rPr sz="1400" b="0" i="0">
                          <a:solidFill>
                            <a:srgbClr val="1F2A30"/>
                          </a:solidFill>
                          <a:latin typeface="Calibri"/>
                        </a:rPr>
                        <a:t>Which scenario this is</a:t>
                      </a:r>
                    </a:p>
                  </a:txBody>
                  <a:tcPr marL="91440" marR="91440" marT="36576" marB="36576" anchor="ctr">
                    <a:solidFill>
                      <a:srgbClr val="F4F8F8"/>
                    </a:solidFill>
                  </a:tcPr>
                </a:tc>
                <a:tc>
                  <a:txBody>
                    <a:bodyPr wrap="square"/>
                    <a:lstStyle/>
                    <a:p>
                      <a:r>
                        <a:rPr sz="1300" b="0" i="0">
                          <a:solidFill>
                            <a:srgbClr val="1F2A30"/>
                          </a:solidFill>
                          <a:latin typeface="Courier New"/>
                        </a:rPr>
                        <a:t>Motor, Trip</a:t>
                      </a:r>
                    </a:p>
                  </a:txBody>
                  <a:tcPr marL="91440" marR="91440" marT="36576" marB="36576" anchor="ctr">
                    <a:solidFill>
                      <a:srgbClr val="F4F8F8"/>
                    </a:solidFill>
                  </a:tcPr>
                </a:tc>
              </a:tr>
              <a:tr h="429768">
                <a:tc>
                  <a:txBody>
                    <a:bodyPr wrap="square"/>
                    <a:lstStyle/>
                    <a:p>
                      <a:r>
                        <a:rPr sz="1400" b="0" i="0">
                          <a:solidFill>
                            <a:srgbClr val="1F2A30"/>
                          </a:solidFill>
                          <a:latin typeface="Calibri"/>
                        </a:rPr>
                        <a:t>ScenarioText</a:t>
                      </a:r>
                    </a:p>
                  </a:txBody>
                  <a:tcPr marL="91440" marR="91440" marT="36576" marB="36576" anchor="ctr">
                    <a:solidFill>
                      <a:srgbClr val="FFFFFF"/>
                    </a:solidFill>
                  </a:tcPr>
                </a:tc>
                <a:tc>
                  <a:txBody>
                    <a:bodyPr wrap="square"/>
                    <a:lstStyle/>
                    <a:p>
                      <a:r>
                        <a:rPr sz="1400" b="0" i="0">
                          <a:solidFill>
                            <a:srgbClr val="1F2A30"/>
                          </a:solidFill>
                          <a:latin typeface="Calibri"/>
                        </a:rPr>
                        <a:t>The scenario exactly as translated</a:t>
                      </a:r>
                    </a:p>
                  </a:txBody>
                  <a:tcPr marL="91440" marR="91440" marT="36576" marB="36576" anchor="ctr">
                    <a:solidFill>
                      <a:srgbClr val="FFFFFF"/>
                    </a:solidFill>
                  </a:tcPr>
                </a:tc>
                <a:tc>
                  <a:txBody>
                    <a:bodyPr wrap="square"/>
                    <a:lstStyle/>
                    <a:p>
                      <a:r>
                        <a:rPr sz="1300" b="0" i="0">
                          <a:solidFill>
                            <a:srgbClr val="1F2A30"/>
                          </a:solidFill>
                          <a:latin typeface="Courier New"/>
                        </a:rPr>
                        <a:t>When Trip Signal is On...</a:t>
                      </a:r>
                    </a:p>
                  </a:txBody>
                  <a:tcPr marL="91440" marR="91440" marT="36576" marB="36576" anchor="ctr">
                    <a:solidFill>
                      <a:srgbClr val="FFFFFF"/>
                    </a:solidFill>
                  </a:tcPr>
                </a:tc>
              </a:tr>
              <a:tr h="429768">
                <a:tc>
                  <a:txBody>
                    <a:bodyPr wrap="square"/>
                    <a:lstStyle/>
                    <a:p>
                      <a:r>
                        <a:rPr sz="1400" b="0" i="0">
                          <a:solidFill>
                            <a:srgbClr val="1F2A30"/>
                          </a:solidFill>
                          <a:latin typeface="Calibri"/>
                        </a:rPr>
                        <a:t>OutputTarget</a:t>
                      </a:r>
                    </a:p>
                  </a:txBody>
                  <a:tcPr marL="91440" marR="91440" marT="36576" marB="36576" anchor="ctr">
                    <a:solidFill>
                      <a:srgbClr val="F4F8F8"/>
                    </a:solidFill>
                  </a:tcPr>
                </a:tc>
                <a:tc>
                  <a:txBody>
                    <a:bodyPr wrap="square"/>
                    <a:lstStyle/>
                    <a:p>
                      <a:r>
                        <a:rPr sz="1400" b="0" i="0">
                          <a:solidFill>
                            <a:srgbClr val="1F2A30"/>
                          </a:solidFill>
                          <a:latin typeface="Calibri"/>
                        </a:rPr>
                        <a:t>Which output was asked for</a:t>
                      </a:r>
                    </a:p>
                  </a:txBody>
                  <a:tcPr marL="91440" marR="91440" marT="36576" marB="36576" anchor="ctr">
                    <a:solidFill>
                      <a:srgbClr val="F4F8F8"/>
                    </a:solidFill>
                  </a:tcPr>
                </a:tc>
                <a:tc>
                  <a:txBody>
                    <a:bodyPr wrap="square"/>
                    <a:lstStyle/>
                    <a:p>
                      <a:r>
                        <a:rPr sz="1300" b="0" i="0">
                          <a:solidFill>
                            <a:srgbClr val="1F2A30"/>
                          </a:solidFill>
                          <a:latin typeface="Courier New"/>
                        </a:rPr>
                        <a:t>Pseudocode</a:t>
                      </a:r>
                    </a:p>
                  </a:txBody>
                  <a:tcPr marL="91440" marR="91440" marT="36576" marB="36576" anchor="ctr">
                    <a:solidFill>
                      <a:srgbClr val="F4F8F8"/>
                    </a:solidFill>
                  </a:tcPr>
                </a:tc>
              </a:tr>
              <a:tr h="429768">
                <a:tc>
                  <a:txBody>
                    <a:bodyPr wrap="square"/>
                    <a:lstStyle/>
                    <a:p>
                      <a:r>
                        <a:rPr sz="1400" b="0" i="0">
                          <a:solidFill>
                            <a:srgbClr val="1F2A30"/>
                          </a:solidFill>
                          <a:latin typeface="Calibri"/>
                        </a:rPr>
                        <a:t>Provider, Model</a:t>
                      </a:r>
                    </a:p>
                  </a:txBody>
                  <a:tcPr marL="91440" marR="91440" marT="36576" marB="36576" anchor="ctr">
                    <a:solidFill>
                      <a:srgbClr val="FFFFFF"/>
                    </a:solidFill>
                  </a:tcPr>
                </a:tc>
                <a:tc>
                  <a:txBody>
                    <a:bodyPr wrap="square"/>
                    <a:lstStyle/>
                    <a:p>
                      <a:r>
                        <a:rPr sz="1400" b="0" i="0">
                          <a:solidFill>
                            <a:srgbClr val="1F2A30"/>
                          </a:solidFill>
                          <a:latin typeface="Calibri"/>
                        </a:rPr>
                        <a:t>Which AI produced it</a:t>
                      </a:r>
                    </a:p>
                  </a:txBody>
                  <a:tcPr marL="91440" marR="91440" marT="36576" marB="36576" anchor="ctr">
                    <a:solidFill>
                      <a:srgbClr val="FFFFFF"/>
                    </a:solidFill>
                  </a:tcPr>
                </a:tc>
                <a:tc>
                  <a:txBody>
                    <a:bodyPr wrap="square"/>
                    <a:lstStyle/>
                    <a:p>
                      <a:r>
                        <a:rPr sz="1300" b="0" i="0">
                          <a:solidFill>
                            <a:srgbClr val="1F2A30"/>
                          </a:solidFill>
                          <a:latin typeface="Courier New"/>
                        </a:rPr>
                        <a:t>Groq, qwen3.8-27b</a:t>
                      </a:r>
                    </a:p>
                  </a:txBody>
                  <a:tcPr marL="91440" marR="91440" marT="36576" marB="36576" anchor="ctr">
                    <a:solidFill>
                      <a:srgbClr val="FFFFFF"/>
                    </a:solidFill>
                  </a:tcPr>
                </a:tc>
              </a:tr>
              <a:tr h="429768">
                <a:tc>
                  <a:txBody>
                    <a:bodyPr wrap="square"/>
                    <a:lstStyle/>
                    <a:p>
                      <a:r>
                        <a:rPr sz="1400" b="0" i="0">
                          <a:solidFill>
                            <a:srgbClr val="1F2A30"/>
                          </a:solidFill>
                          <a:latin typeface="Calibri"/>
                        </a:rPr>
                        <a:t>Code</a:t>
                      </a:r>
                    </a:p>
                  </a:txBody>
                  <a:tcPr marL="91440" marR="91440" marT="36576" marB="36576" anchor="ctr">
                    <a:solidFill>
                      <a:srgbClr val="F4F8F8"/>
                    </a:solidFill>
                  </a:tcPr>
                </a:tc>
                <a:tc>
                  <a:txBody>
                    <a:bodyPr wrap="square"/>
                    <a:lstStyle/>
                    <a:p>
                      <a:r>
                        <a:rPr sz="1400" b="0" i="0">
                          <a:solidFill>
                            <a:srgbClr val="1F2A30"/>
                          </a:solidFill>
                          <a:latin typeface="Calibri"/>
                        </a:rPr>
                        <a:t>The generated pseudocode</a:t>
                      </a:r>
                    </a:p>
                  </a:txBody>
                  <a:tcPr marL="91440" marR="91440" marT="36576" marB="36576" anchor="ctr">
                    <a:solidFill>
                      <a:srgbClr val="F4F8F8"/>
                    </a:solidFill>
                  </a:tcPr>
                </a:tc>
                <a:tc>
                  <a:txBody>
                    <a:bodyPr wrap="square"/>
                    <a:lstStyle/>
                    <a:p>
                      <a:r>
                        <a:rPr sz="1300" b="0" i="0">
                          <a:solidFill>
                            <a:srgbClr val="1F2A30"/>
                          </a:solidFill>
                          <a:latin typeface="Courier New"/>
                        </a:rPr>
                        <a:t>IF Trip Signal == ON THEN...</a:t>
                      </a:r>
                    </a:p>
                  </a:txBody>
                  <a:tcPr marL="91440" marR="91440" marT="36576" marB="36576" anchor="ctr">
                    <a:solidFill>
                      <a:srgbClr val="F4F8F8"/>
                    </a:solidFill>
                  </a:tcPr>
                </a:tc>
              </a:tr>
              <a:tr h="429768">
                <a:tc>
                  <a:txBody>
                    <a:bodyPr wrap="square"/>
                    <a:lstStyle/>
                    <a:p>
                      <a:r>
                        <a:rPr sz="1400" b="0" i="0">
                          <a:solidFill>
                            <a:srgbClr val="1F2A30"/>
                          </a:solidFill>
                          <a:latin typeface="Calibri"/>
                        </a:rPr>
                        <a:t>Explanation, Warnings</a:t>
                      </a:r>
                    </a:p>
                  </a:txBody>
                  <a:tcPr marL="91440" marR="91440" marT="36576" marB="36576" anchor="ctr">
                    <a:solidFill>
                      <a:srgbClr val="FFFFFF"/>
                    </a:solidFill>
                  </a:tcPr>
                </a:tc>
                <a:tc>
                  <a:txBody>
                    <a:bodyPr wrap="square"/>
                    <a:lstStyle/>
                    <a:p>
                      <a:r>
                        <a:rPr sz="1400" b="0" i="0">
                          <a:solidFill>
                            <a:srgbClr val="1F2A30"/>
                          </a:solidFill>
                          <a:latin typeface="Calibri"/>
                        </a:rPr>
                        <a:t>What the AI explained and flagged</a:t>
                      </a:r>
                    </a:p>
                  </a:txBody>
                  <a:tcPr marL="91440" marR="91440" marT="36576" marB="36576" anchor="ctr">
                    <a:solidFill>
                      <a:srgbClr val="FFFFFF"/>
                    </a:solidFill>
                  </a:tcPr>
                </a:tc>
                <a:tc>
                  <a:txBody>
                    <a:bodyPr wrap="square"/>
                    <a:lstStyle/>
                    <a:p>
                      <a:r>
                        <a:rPr sz="1300" b="0" i="0">
                          <a:solidFill>
                            <a:srgbClr val="1F2A30"/>
                          </a:solidFill>
                          <a:latin typeface="Courier New"/>
                        </a:rPr>
                        <a:t>["Trip Alarm never OFF"]</a:t>
                      </a:r>
                    </a:p>
                  </a:txBody>
                  <a:tcPr marL="91440" marR="91440" marT="36576" marB="36576" anchor="ctr">
                    <a:solidFill>
                      <a:srgbClr val="FFFFFF"/>
                    </a:solidFill>
                  </a:tcPr>
                </a:tc>
              </a:tr>
              <a:tr h="429768">
                <a:tc>
                  <a:txBody>
                    <a:bodyPr wrap="square"/>
                    <a:lstStyle/>
                    <a:p>
                      <a:r>
                        <a:rPr sz="1400" b="0" i="0">
                          <a:solidFill>
                            <a:srgbClr val="1F2A30"/>
                          </a:solidFill>
                          <a:latin typeface="Calibri"/>
                        </a:rPr>
                        <a:t>PromptTokens, CompletionTokens</a:t>
                      </a:r>
                    </a:p>
                  </a:txBody>
                  <a:tcPr marL="91440" marR="91440" marT="36576" marB="36576" anchor="ctr">
                    <a:solidFill>
                      <a:srgbClr val="F4F8F8"/>
                    </a:solidFill>
                  </a:tcPr>
                </a:tc>
                <a:tc>
                  <a:txBody>
                    <a:bodyPr wrap="square"/>
                    <a:lstStyle/>
                    <a:p>
                      <a:r>
                        <a:rPr sz="1400" b="0" i="0">
                          <a:solidFill>
                            <a:srgbClr val="1F2A30"/>
                          </a:solidFill>
                          <a:latin typeface="Calibri"/>
                        </a:rPr>
                        <a:t>Tokens used - to measure the saving</a:t>
                      </a:r>
                    </a:p>
                  </a:txBody>
                  <a:tcPr marL="91440" marR="91440" marT="36576" marB="36576" anchor="ctr">
                    <a:solidFill>
                      <a:srgbClr val="F4F8F8"/>
                    </a:solidFill>
                  </a:tcPr>
                </a:tc>
                <a:tc>
                  <a:txBody>
                    <a:bodyPr wrap="square"/>
                    <a:lstStyle/>
                    <a:p>
                      <a:r>
                        <a:rPr sz="1300" b="0" i="0">
                          <a:solidFill>
                            <a:srgbClr val="1F2A30"/>
                          </a:solidFill>
                          <a:latin typeface="Courier New"/>
                        </a:rPr>
                        <a:t>4,422  /  296</a:t>
                      </a:r>
                    </a:p>
                  </a:txBody>
                  <a:tcPr marL="91440" marR="91440" marT="36576" marB="36576" anchor="ctr">
                    <a:solidFill>
                      <a:srgbClr val="F4F8F8"/>
                    </a:solidFill>
                  </a:tcPr>
                </a:tc>
              </a:tr>
              <a:tr h="429768">
                <a:tc>
                  <a:txBody>
                    <a:bodyPr wrap="square"/>
                    <a:lstStyle/>
                    <a:p>
                      <a:r>
                        <a:rPr sz="1400" b="0" i="0">
                          <a:solidFill>
                            <a:srgbClr val="1F2A30"/>
                          </a:solidFill>
                          <a:latin typeface="Calibri"/>
                        </a:rPr>
                        <a:t>CreatedAt</a:t>
                      </a:r>
                    </a:p>
                  </a:txBody>
                  <a:tcPr marL="91440" marR="91440" marT="36576" marB="36576" anchor="ctr">
                    <a:solidFill>
                      <a:srgbClr val="FFFFFF"/>
                    </a:solidFill>
                  </a:tcPr>
                </a:tc>
                <a:tc>
                  <a:txBody>
                    <a:bodyPr wrap="square"/>
                    <a:lstStyle/>
                    <a:p>
                      <a:r>
                        <a:rPr sz="1400" b="0" i="0">
                          <a:solidFill>
                            <a:srgbClr val="1F2A30"/>
                          </a:solidFill>
                          <a:latin typeface="Calibri"/>
                        </a:rPr>
                        <a:t>When it was saved</a:t>
                      </a:r>
                    </a:p>
                  </a:txBody>
                  <a:tcPr marL="91440" marR="91440" marT="36576" marB="36576" anchor="ctr">
                    <a:solidFill>
                      <a:srgbClr val="FFFFFF"/>
                    </a:solidFill>
                  </a:tcPr>
                </a:tc>
                <a:tc>
                  <a:txBody>
                    <a:bodyPr wrap="square"/>
                    <a:lstStyle/>
                    <a:p>
                      <a:r>
                        <a:rPr sz="1300" b="0" i="0">
                          <a:solidFill>
                            <a:srgbClr val="1F2A30"/>
                          </a:solidFill>
                          <a:latin typeface="Courier New"/>
                        </a:rPr>
                        <a:t>2026-10-21 09:14</a:t>
                      </a:r>
                    </a:p>
                  </a:txBody>
                  <a:tcPr marL="91440" marR="91440" marT="36576" marB="36576" anchor="ctr">
                    <a:solidFill>
                      <a:srgbClr val="FFFFFF"/>
                    </a:solidFill>
                  </a:tcPr>
                </a:tc>
              </a:tr>
            </a:tbl>
          </a:graphicData>
        </a:graphic>
      </p:graphicFrame>
      <p:sp>
        <p:nvSpPr>
          <p:cNvPr id="4" name="Appendix pointer"/>
          <p:cNvSpPr txBox="1"/>
          <p:nvPr/>
        </p:nvSpPr>
        <p:spPr>
          <a:xfrm>
            <a:off x="548640" y="5852160"/>
            <a:ext cx="11064240" cy="365760"/>
          </a:xfrm>
          <a:prstGeom prst="rect">
            <a:avLst/>
          </a:prstGeom>
          <a:noFill/>
        </p:spPr>
        <p:txBody>
          <a:bodyPr wrap="square" anchor="t" lIns="0" rIns="0" tIns="0" bIns="0">
            <a:spAutoFit/>
          </a:bodyPr>
          <a:lstStyle/>
          <a:p>
            <a:pPr algn="l">
              <a:spcAft>
                <a:spcPts val="600"/>
              </a:spcAft>
            </a:pPr>
            <a:r>
              <a:rPr sz="1300" b="0" i="0">
                <a:solidFill>
                  <a:srgbClr val="5B6B73"/>
                </a:solidFill>
                <a:latin typeface="Calibri"/>
              </a:rPr>
              <a:t>The full CREATE TABLE script is in the appendix, ready for the DBA.</a:t>
            </a:r>
          </a:p>
        </p:txBody>
      </p:sp>
      <p:sp>
        <p:nvSpPr>
          <p:cNvPr id="5" name="Footer"/>
          <p:cNvSpPr txBox="1"/>
          <p:nvPr/>
        </p:nvSpPr>
        <p:spPr>
          <a:xfrm>
            <a:off x="548640" y="6400800"/>
            <a:ext cx="7315200" cy="274320"/>
          </a:xfrm>
          <a:prstGeom prst="rect">
            <a:avLst/>
          </a:prstGeom>
          <a:noFill/>
        </p:spPr>
        <p:txBody>
          <a:bodyPr wrap="square" anchor="t" lIns="0" rIns="0" tIns="0" bIns="0">
            <a:spAutoFit/>
          </a:bodyPr>
          <a:lstStyle/>
          <a:p>
            <a:pPr algn="l">
              <a:spcAft>
                <a:spcPts val="600"/>
              </a:spcAft>
            </a:pPr>
            <a:r>
              <a:rPr sz="1000" b="0" i="0">
                <a:solidFill>
                  <a:srgbClr val="5B6B73"/>
                </a:solidFill>
                <a:latin typeface="Calibri"/>
              </a:rPr>
              <a:t>XenAnalyticTransl  |  Proposal: save AI results to the database</a:t>
            </a:r>
          </a:p>
        </p:txBody>
      </p:sp>
      <p:sp>
        <p:nvSpPr>
          <p:cNvPr id="6" name="Slide number"/>
          <p:cNvSpPr txBox="1"/>
          <p:nvPr/>
        </p:nvSpPr>
        <p:spPr>
          <a:xfrm>
            <a:off x="10789920" y="6400800"/>
            <a:ext cx="868680" cy="274320"/>
          </a:xfrm>
          <a:prstGeom prst="rect">
            <a:avLst/>
          </a:prstGeom>
          <a:noFill/>
        </p:spPr>
        <p:txBody>
          <a:bodyPr wrap="square" anchor="t" lIns="0" rIns="0" tIns="0" bIns="0">
            <a:spAutoFit/>
          </a:bodyPr>
          <a:lstStyle/>
          <a:p>
            <a:pPr algn="r">
              <a:spcAft>
                <a:spcPts val="600"/>
              </a:spcAft>
            </a:pPr>
            <a:r>
              <a:rPr sz="1000" b="0" i="0">
                <a:solidFill>
                  <a:srgbClr val="5B6B73"/>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84048"/>
            <a:ext cx="11064240" cy="731520"/>
          </a:xfrm>
          <a:prstGeom prst="rect">
            <a:avLst/>
          </a:prstGeom>
          <a:noFill/>
        </p:spPr>
        <p:txBody>
          <a:bodyPr wrap="square" anchor="ctr" lIns="0" rIns="0" tIns="0" bIns="0">
            <a:spAutoFit/>
          </a:bodyPr>
          <a:lstStyle/>
          <a:p>
            <a:pPr algn="l">
              <a:spcAft>
                <a:spcPts val="600"/>
              </a:spcAft>
            </a:pPr>
            <a:r>
              <a:rPr sz="3400" b="1" i="0">
                <a:solidFill>
                  <a:srgbClr val="12343B"/>
                </a:solidFill>
                <a:latin typeface="Cambria"/>
              </a:rPr>
              <a:t>What changes in the code</a:t>
            </a:r>
          </a:p>
        </p:txBody>
      </p:sp>
      <p:sp>
        <p:nvSpPr>
          <p:cNvPr id="3" name="Subtitle"/>
          <p:cNvSpPr txBox="1"/>
          <p:nvPr/>
        </p:nvSpPr>
        <p:spPr>
          <a:xfrm>
            <a:off x="548640" y="1078992"/>
            <a:ext cx="11064240" cy="411480"/>
          </a:xfrm>
          <a:prstGeom prst="rect">
            <a:avLst/>
          </a:prstGeom>
          <a:noFill/>
        </p:spPr>
        <p:txBody>
          <a:bodyPr wrap="square" anchor="t" lIns="0" rIns="0" tIns="0" bIns="0">
            <a:spAutoFit/>
          </a:bodyPr>
          <a:lstStyle/>
          <a:p>
            <a:pPr algn="l">
              <a:spcAft>
                <a:spcPts val="600"/>
              </a:spcAft>
            </a:pPr>
            <a:r>
              <a:rPr sz="1600" b="0" i="0">
                <a:solidFill>
                  <a:srgbClr val="5B6B73"/>
                </a:solidFill>
                <a:latin typeface="Calibri"/>
              </a:rPr>
              <a:t>Two new files, four small changes - the AI call and the rules stay as they are</a:t>
            </a:r>
          </a:p>
        </p:txBody>
      </p:sp>
      <p:graphicFrame>
        <p:nvGraphicFramePr>
          <p:cNvPr id="4" name="Table"/>
          <p:cNvGraphicFramePr>
            <a:graphicFrameLocks noGrp="1"/>
          </p:cNvGraphicFramePr>
          <p:nvPr/>
        </p:nvGraphicFramePr>
        <p:xfrm>
          <a:off x="548640" y="1783080"/>
          <a:ext cx="11064240" cy="3520440"/>
        </p:xfrm>
        <a:graphic>
          <a:graphicData uri="http://schemas.openxmlformats.org/drawingml/2006/table">
            <a:tbl>
              <a:tblPr firstRow="0" bandRow="0">
                <a:tableStyleId>{5C22544A-7EE6-4342-B048-85BDC9FD1C3A}</a:tableStyleId>
              </a:tblPr>
              <a:tblGrid>
                <a:gridCol w="3383280"/>
                <a:gridCol w="6309360"/>
                <a:gridCol w="1371600"/>
              </a:tblGrid>
              <a:tr h="502920">
                <a:tc>
                  <a:txBody>
                    <a:bodyPr wrap="square"/>
                    <a:lstStyle/>
                    <a:p>
                      <a:r>
                        <a:rPr sz="1400" b="1" i="0">
                          <a:solidFill>
                            <a:srgbClr val="FFFFFF"/>
                          </a:solidFill>
                          <a:latin typeface="Calibri"/>
                        </a:rPr>
                        <a:t>File</a:t>
                      </a:r>
                    </a:p>
                  </a:txBody>
                  <a:tcPr marL="91440" marR="91440" marT="36576" marB="36576" anchor="ctr">
                    <a:solidFill>
                      <a:srgbClr val="12343B"/>
                    </a:solidFill>
                  </a:tcPr>
                </a:tc>
                <a:tc>
                  <a:txBody>
                    <a:bodyPr wrap="square"/>
                    <a:lstStyle/>
                    <a:p>
                      <a:r>
                        <a:rPr sz="1400" b="1" i="0">
                          <a:solidFill>
                            <a:srgbClr val="FFFFFF"/>
                          </a:solidFill>
                          <a:latin typeface="Calibri"/>
                        </a:rPr>
                        <a:t>Change</a:t>
                      </a:r>
                    </a:p>
                  </a:txBody>
                  <a:tcPr marL="91440" marR="91440" marT="36576" marB="36576" anchor="ctr">
                    <a:solidFill>
                      <a:srgbClr val="12343B"/>
                    </a:solidFill>
                  </a:tcPr>
                </a:tc>
                <a:tc>
                  <a:txBody>
                    <a:bodyPr wrap="square"/>
                    <a:lstStyle/>
                    <a:p>
                      <a:r>
                        <a:rPr sz="1400" b="1" i="0">
                          <a:solidFill>
                            <a:srgbClr val="FFFFFF"/>
                          </a:solidFill>
                          <a:latin typeface="Calibri"/>
                        </a:rPr>
                        <a:t>Type</a:t>
                      </a:r>
                    </a:p>
                  </a:txBody>
                  <a:tcPr marL="91440" marR="91440" marT="36576" marB="36576" anchor="ctr">
                    <a:solidFill>
                      <a:srgbClr val="12343B"/>
                    </a:solidFill>
                  </a:tcPr>
                </a:tc>
              </a:tr>
              <a:tr h="502920">
                <a:tc>
                  <a:txBody>
                    <a:bodyPr wrap="square"/>
                    <a:lstStyle/>
                    <a:p>
                      <a:r>
                        <a:rPr sz="1400" b="0" i="0">
                          <a:solidFill>
                            <a:srgbClr val="1F2A30"/>
                          </a:solidFill>
                          <a:latin typeface="Calibri"/>
                        </a:rPr>
                        <a:t>AI / ResultStore.cs</a:t>
                      </a:r>
                    </a:p>
                  </a:txBody>
                  <a:tcPr marL="91440" marR="91440" marT="36576" marB="36576" anchor="ctr">
                    <a:solidFill>
                      <a:srgbClr val="FFFFFF"/>
                    </a:solidFill>
                  </a:tcPr>
                </a:tc>
                <a:tc>
                  <a:txBody>
                    <a:bodyPr wrap="square"/>
                    <a:lstStyle/>
                    <a:p>
                      <a:r>
                        <a:rPr sz="1400" b="0" i="0">
                          <a:solidFill>
                            <a:srgbClr val="1F2A30"/>
                          </a:solidFill>
                          <a:latin typeface="Calibri"/>
                        </a:rPr>
                        <a:t>Connect to SQL Server; load and save results; build the fingerprint</a:t>
                      </a:r>
                    </a:p>
                  </a:txBody>
                  <a:tcPr marL="91440" marR="91440" marT="36576" marB="36576" anchor="ctr">
                    <a:solidFill>
                      <a:srgbClr val="FFFFFF"/>
                    </a:solidFill>
                  </a:tcPr>
                </a:tc>
                <a:tc>
                  <a:txBody>
                    <a:bodyPr wrap="square"/>
                    <a:lstStyle/>
                    <a:p>
                      <a:r>
                        <a:rPr sz="1400" b="1" i="0">
                          <a:solidFill>
                            <a:srgbClr val="E8A33D"/>
                          </a:solidFill>
                          <a:latin typeface="Calibri"/>
                        </a:rPr>
                        <a:t>New</a:t>
                      </a:r>
                    </a:p>
                  </a:txBody>
                  <a:tcPr marL="91440" marR="91440" marT="36576" marB="36576" anchor="ctr">
                    <a:solidFill>
                      <a:srgbClr val="FFFFFF"/>
                    </a:solidFill>
                  </a:tcPr>
                </a:tc>
              </a:tr>
              <a:tr h="502920">
                <a:tc>
                  <a:txBody>
                    <a:bodyPr wrap="square"/>
                    <a:lstStyle/>
                    <a:p>
                      <a:r>
                        <a:rPr sz="1400" b="0" i="0">
                          <a:solidFill>
                            <a:srgbClr val="1F2A30"/>
                          </a:solidFill>
                          <a:latin typeface="Calibri"/>
                        </a:rPr>
                        <a:t>Reference / sql / OutputXenTrans.sql</a:t>
                      </a:r>
                    </a:p>
                  </a:txBody>
                  <a:tcPr marL="91440" marR="91440" marT="36576" marB="36576" anchor="ctr">
                    <a:solidFill>
                      <a:srgbClr val="F4F8F8"/>
                    </a:solidFill>
                  </a:tcPr>
                </a:tc>
                <a:tc>
                  <a:txBody>
                    <a:bodyPr wrap="square"/>
                    <a:lstStyle/>
                    <a:p>
                      <a:r>
                        <a:rPr sz="1400" b="0" i="0">
                          <a:solidFill>
                            <a:srgbClr val="1F2A30"/>
                          </a:solidFill>
                          <a:latin typeface="Calibri"/>
                        </a:rPr>
                        <a:t>The CREATE TABLE script for the DBA</a:t>
                      </a:r>
                    </a:p>
                  </a:txBody>
                  <a:tcPr marL="91440" marR="91440" marT="36576" marB="36576" anchor="ctr">
                    <a:solidFill>
                      <a:srgbClr val="F4F8F8"/>
                    </a:solidFill>
                  </a:tcPr>
                </a:tc>
                <a:tc>
                  <a:txBody>
                    <a:bodyPr wrap="square"/>
                    <a:lstStyle/>
                    <a:p>
                      <a:r>
                        <a:rPr sz="1400" b="1" i="0">
                          <a:solidFill>
                            <a:srgbClr val="E8A33D"/>
                          </a:solidFill>
                          <a:latin typeface="Calibri"/>
                        </a:rPr>
                        <a:t>New</a:t>
                      </a:r>
                    </a:p>
                  </a:txBody>
                  <a:tcPr marL="91440" marR="91440" marT="36576" marB="36576" anchor="ctr">
                    <a:solidFill>
                      <a:srgbClr val="F4F8F8"/>
                    </a:solidFill>
                  </a:tcPr>
                </a:tc>
              </a:tr>
              <a:tr h="502920">
                <a:tc>
                  <a:txBody>
                    <a:bodyPr wrap="square"/>
                    <a:lstStyle/>
                    <a:p>
                      <a:r>
                        <a:rPr sz="1400" b="0" i="0">
                          <a:solidFill>
                            <a:srgbClr val="1F2A30"/>
                          </a:solidFill>
                          <a:latin typeface="Calibri"/>
                        </a:rPr>
                        <a:t>Studio / MainWindow.xaml.cs</a:t>
                      </a:r>
                    </a:p>
                  </a:txBody>
                  <a:tcPr marL="91440" marR="91440" marT="36576" marB="36576" anchor="ctr">
                    <a:solidFill>
                      <a:srgbClr val="FFFFFF"/>
                    </a:solidFill>
                  </a:tcPr>
                </a:tc>
                <a:tc>
                  <a:txBody>
                    <a:bodyPr wrap="square"/>
                    <a:lstStyle/>
                    <a:p>
                      <a:r>
                        <a:rPr sz="1400" b="0" i="0">
                          <a:solidFill>
                            <a:srgbClr val="1F2A30"/>
                          </a:solidFill>
                          <a:latin typeface="Calibri"/>
                        </a:rPr>
                        <a:t>Check the database before calling the AI; send only referenced scenarios</a:t>
                      </a:r>
                    </a:p>
                  </a:txBody>
                  <a:tcPr marL="91440" marR="91440" marT="36576" marB="36576" anchor="ctr">
                    <a:solidFill>
                      <a:srgbClr val="FFFFFF"/>
                    </a:solidFill>
                  </a:tcPr>
                </a:tc>
                <a:tc>
                  <a:txBody>
                    <a:bodyPr wrap="square"/>
                    <a:lstStyle/>
                    <a:p>
                      <a:r>
                        <a:rPr sz="1400" b="1" i="0">
                          <a:solidFill>
                            <a:srgbClr val="1D7874"/>
                          </a:solidFill>
                          <a:latin typeface="Calibri"/>
                        </a:rPr>
                        <a:t>Changed</a:t>
                      </a:r>
                    </a:p>
                  </a:txBody>
                  <a:tcPr marL="91440" marR="91440" marT="36576" marB="36576" anchor="ctr">
                    <a:solidFill>
                      <a:srgbClr val="FFFFFF"/>
                    </a:solidFill>
                  </a:tcPr>
                </a:tc>
              </a:tr>
              <a:tr h="502920">
                <a:tc>
                  <a:txBody>
                    <a:bodyPr wrap="square"/>
                    <a:lstStyle/>
                    <a:p>
                      <a:r>
                        <a:rPr sz="1400" b="0" i="0">
                          <a:solidFill>
                            <a:srgbClr val="1F2A30"/>
                          </a:solidFill>
                          <a:latin typeface="Calibri"/>
                        </a:rPr>
                        <a:t>Studio / MainWindow.xaml</a:t>
                      </a:r>
                    </a:p>
                  </a:txBody>
                  <a:tcPr marL="91440" marR="91440" marT="36576" marB="36576" anchor="ctr">
                    <a:solidFill>
                      <a:srgbClr val="F4F8F8"/>
                    </a:solidFill>
                  </a:tcPr>
                </a:tc>
                <a:tc>
                  <a:txBody>
                    <a:bodyPr wrap="square"/>
                    <a:lstStyle/>
                    <a:p>
                      <a:r>
                        <a:rPr sz="1400" b="0" i="0">
                          <a:solidFill>
                            <a:srgbClr val="1F2A30"/>
                          </a:solidFill>
                          <a:latin typeface="Calibri"/>
                        </a:rPr>
                        <a:t>"Ignore saved results" checkbox; saved marker on scenarios</a:t>
                      </a:r>
                    </a:p>
                  </a:txBody>
                  <a:tcPr marL="91440" marR="91440" marT="36576" marB="36576" anchor="ctr">
                    <a:solidFill>
                      <a:srgbClr val="F4F8F8"/>
                    </a:solidFill>
                  </a:tcPr>
                </a:tc>
                <a:tc>
                  <a:txBody>
                    <a:bodyPr wrap="square"/>
                    <a:lstStyle/>
                    <a:p>
                      <a:r>
                        <a:rPr sz="1400" b="1" i="0">
                          <a:solidFill>
                            <a:srgbClr val="1D7874"/>
                          </a:solidFill>
                          <a:latin typeface="Calibri"/>
                        </a:rPr>
                        <a:t>Changed</a:t>
                      </a:r>
                    </a:p>
                  </a:txBody>
                  <a:tcPr marL="91440" marR="91440" marT="36576" marB="36576" anchor="ctr">
                    <a:solidFill>
                      <a:srgbClr val="F4F8F8"/>
                    </a:solidFill>
                  </a:tcPr>
                </a:tc>
              </a:tr>
              <a:tr h="502920">
                <a:tc>
                  <a:txBody>
                    <a:bodyPr wrap="square"/>
                    <a:lstStyle/>
                    <a:p>
                      <a:r>
                        <a:rPr sz="1400" b="0" i="0">
                          <a:solidFill>
                            <a:srgbClr val="1F2A30"/>
                          </a:solidFill>
                          <a:latin typeface="Calibri"/>
                        </a:rPr>
                        <a:t>AI / Models.cs</a:t>
                      </a:r>
                    </a:p>
                  </a:txBody>
                  <a:tcPr marL="91440" marR="91440" marT="36576" marB="36576" anchor="ctr">
                    <a:solidFill>
                      <a:srgbClr val="FFFFFF"/>
                    </a:solidFill>
                  </a:tcPr>
                </a:tc>
                <a:tc>
                  <a:txBody>
                    <a:bodyPr wrap="square"/>
                    <a:lstStyle/>
                    <a:p>
                      <a:r>
                        <a:rPr sz="1400" b="0" i="0">
                          <a:solidFill>
                            <a:srgbClr val="1F2A30"/>
                          </a:solidFill>
                          <a:latin typeface="Calibri"/>
                        </a:rPr>
                        <a:t>Flag a result as loaded from the database</a:t>
                      </a:r>
                    </a:p>
                  </a:txBody>
                  <a:tcPr marL="91440" marR="91440" marT="36576" marB="36576" anchor="ctr">
                    <a:solidFill>
                      <a:srgbClr val="FFFFFF"/>
                    </a:solidFill>
                  </a:tcPr>
                </a:tc>
                <a:tc>
                  <a:txBody>
                    <a:bodyPr wrap="square"/>
                    <a:lstStyle/>
                    <a:p>
                      <a:r>
                        <a:rPr sz="1400" b="1" i="0">
                          <a:solidFill>
                            <a:srgbClr val="1D7874"/>
                          </a:solidFill>
                          <a:latin typeface="Calibri"/>
                        </a:rPr>
                        <a:t>Changed</a:t>
                      </a:r>
                    </a:p>
                  </a:txBody>
                  <a:tcPr marL="91440" marR="91440" marT="36576" marB="36576" anchor="ctr">
                    <a:solidFill>
                      <a:srgbClr val="FFFFFF"/>
                    </a:solidFill>
                  </a:tcPr>
                </a:tc>
              </a:tr>
              <a:tr h="502920">
                <a:tc>
                  <a:txBody>
                    <a:bodyPr wrap="square"/>
                    <a:lstStyle/>
                    <a:p>
                      <a:r>
                        <a:rPr sz="1400" b="0" i="0">
                          <a:solidFill>
                            <a:srgbClr val="1F2A30"/>
                          </a:solidFill>
                          <a:latin typeface="Calibri"/>
                        </a:rPr>
                        <a:t>AI / XenAnalyticTransl.AI.csproj</a:t>
                      </a:r>
                    </a:p>
                  </a:txBody>
                  <a:tcPr marL="91440" marR="91440" marT="36576" marB="36576" anchor="ctr">
                    <a:solidFill>
                      <a:srgbClr val="F4F8F8"/>
                    </a:solidFill>
                  </a:tcPr>
                </a:tc>
                <a:tc>
                  <a:txBody>
                    <a:bodyPr wrap="square"/>
                    <a:lstStyle/>
                    <a:p>
                      <a:r>
                        <a:rPr sz="1400" b="0" i="0">
                          <a:solidFill>
                            <a:srgbClr val="1F2A30"/>
                          </a:solidFill>
                          <a:latin typeface="Calibri"/>
                        </a:rPr>
                        <a:t>Add Microsoft.Data.SqlClient - the first external package</a:t>
                      </a:r>
                    </a:p>
                  </a:txBody>
                  <a:tcPr marL="91440" marR="91440" marT="36576" marB="36576" anchor="ctr">
                    <a:solidFill>
                      <a:srgbClr val="F4F8F8"/>
                    </a:solidFill>
                  </a:tcPr>
                </a:tc>
                <a:tc>
                  <a:txBody>
                    <a:bodyPr wrap="square"/>
                    <a:lstStyle/>
                    <a:p>
                      <a:r>
                        <a:rPr sz="1400" b="1" i="0">
                          <a:solidFill>
                            <a:srgbClr val="1D7874"/>
                          </a:solidFill>
                          <a:latin typeface="Calibri"/>
                        </a:rPr>
                        <a:t>Changed</a:t>
                      </a:r>
                    </a:p>
                  </a:txBody>
                  <a:tcPr marL="91440" marR="91440" marT="36576" marB="36576" anchor="ctr">
                    <a:solidFill>
                      <a:srgbClr val="F4F8F8"/>
                    </a:solidFill>
                  </a:tcPr>
                </a:tc>
              </a:tr>
            </a:tbl>
          </a:graphicData>
        </a:graphic>
      </p:graphicFrame>
      <p:sp>
        <p:nvSpPr>
          <p:cNvPr id="5" name="Unchanged note"/>
          <p:cNvSpPr/>
          <p:nvPr/>
        </p:nvSpPr>
        <p:spPr>
          <a:xfrm>
            <a:off x="548640" y="5532120"/>
            <a:ext cx="11064240" cy="594360"/>
          </a:xfrm>
          <a:prstGeom prst="roundRect">
            <a:avLst>
              <a:gd name="adj" fmla="val 12000"/>
            </a:avLst>
          </a:prstGeom>
          <a:solidFill>
            <a:srgbClr val="F4F8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l">
              <a:spcAft>
                <a:spcPts val="200"/>
              </a:spcAft>
            </a:pPr>
            <a:r>
              <a:rPr sz="1400" b="1" i="0">
                <a:solidFill>
                  <a:srgbClr val="1F2A30"/>
                </a:solidFill>
                <a:latin typeface="Calibri"/>
              </a:rPr>
              <a:t>Unchanged:  </a:t>
            </a:r>
            <a:r>
              <a:rPr sz="1400" b="0" i="0">
                <a:solidFill>
                  <a:srgbClr val="1F2A30"/>
                </a:solidFill>
                <a:latin typeface="Calibri"/>
              </a:rPr>
              <a:t>LlmTranslator.cs (the AI call) and PromptBuilder.cs (the translation rules).</a:t>
            </a:r>
          </a:p>
        </p:txBody>
      </p:sp>
      <p:sp>
        <p:nvSpPr>
          <p:cNvPr id="6" name="Footer"/>
          <p:cNvSpPr txBox="1"/>
          <p:nvPr/>
        </p:nvSpPr>
        <p:spPr>
          <a:xfrm>
            <a:off x="548640" y="6400800"/>
            <a:ext cx="7315200" cy="274320"/>
          </a:xfrm>
          <a:prstGeom prst="rect">
            <a:avLst/>
          </a:prstGeom>
          <a:noFill/>
        </p:spPr>
        <p:txBody>
          <a:bodyPr wrap="square" anchor="t" lIns="0" rIns="0" tIns="0" bIns="0">
            <a:spAutoFit/>
          </a:bodyPr>
          <a:lstStyle/>
          <a:p>
            <a:pPr algn="l">
              <a:spcAft>
                <a:spcPts val="600"/>
              </a:spcAft>
            </a:pPr>
            <a:r>
              <a:rPr sz="1000" b="0" i="0">
                <a:solidFill>
                  <a:srgbClr val="5B6B73"/>
                </a:solidFill>
                <a:latin typeface="Calibri"/>
              </a:rPr>
              <a:t>XenAnalyticTransl  |  Proposal: save AI results to the database</a:t>
            </a:r>
          </a:p>
        </p:txBody>
      </p:sp>
      <p:sp>
        <p:nvSpPr>
          <p:cNvPr id="7" name="Slide number"/>
          <p:cNvSpPr txBox="1"/>
          <p:nvPr/>
        </p:nvSpPr>
        <p:spPr>
          <a:xfrm>
            <a:off x="10789920" y="6400800"/>
            <a:ext cx="868680" cy="274320"/>
          </a:xfrm>
          <a:prstGeom prst="rect">
            <a:avLst/>
          </a:prstGeom>
          <a:noFill/>
        </p:spPr>
        <p:txBody>
          <a:bodyPr wrap="square" anchor="t" lIns="0" rIns="0" tIns="0" bIns="0">
            <a:spAutoFit/>
          </a:bodyPr>
          <a:lstStyle/>
          <a:p>
            <a:pPr algn="r">
              <a:spcAft>
                <a:spcPts val="600"/>
              </a:spcAft>
            </a:pPr>
            <a:r>
              <a:rPr sz="1000" b="0" i="0">
                <a:solidFill>
                  <a:srgbClr val="5B6B73"/>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84048"/>
            <a:ext cx="11064240" cy="731520"/>
          </a:xfrm>
          <a:prstGeom prst="rect">
            <a:avLst/>
          </a:prstGeom>
          <a:noFill/>
        </p:spPr>
        <p:txBody>
          <a:bodyPr wrap="square" anchor="ctr" lIns="0" rIns="0" tIns="0" bIns="0">
            <a:spAutoFit/>
          </a:bodyPr>
          <a:lstStyle/>
          <a:p>
            <a:pPr algn="l">
              <a:spcAft>
                <a:spcPts val="600"/>
              </a:spcAft>
            </a:pPr>
            <a:r>
              <a:rPr sz="3400" b="1" i="0">
                <a:solidFill>
                  <a:srgbClr val="12343B"/>
                </a:solidFill>
                <a:latin typeface="Cambria"/>
              </a:rPr>
              <a:t>What the user will see</a:t>
            </a:r>
          </a:p>
        </p:txBody>
      </p:sp>
      <p:sp>
        <p:nvSpPr>
          <p:cNvPr id="3" name="Status head"/>
          <p:cNvSpPr txBox="1"/>
          <p:nvPr/>
        </p:nvSpPr>
        <p:spPr>
          <a:xfrm>
            <a:off x="548640" y="1417320"/>
            <a:ext cx="5486400" cy="365760"/>
          </a:xfrm>
          <a:prstGeom prst="rect">
            <a:avLst/>
          </a:prstGeom>
          <a:noFill/>
        </p:spPr>
        <p:txBody>
          <a:bodyPr wrap="square" anchor="t" lIns="0" rIns="0" tIns="0" bIns="0">
            <a:spAutoFit/>
          </a:bodyPr>
          <a:lstStyle/>
          <a:p>
            <a:pPr algn="l">
              <a:spcAft>
                <a:spcPts val="600"/>
              </a:spcAft>
            </a:pPr>
            <a:r>
              <a:rPr sz="1400" b="1" i="0">
                <a:solidFill>
                  <a:srgbClr val="5B6B73"/>
                </a:solidFill>
                <a:latin typeface="Calibri"/>
              </a:rPr>
              <a:t>Status bar after editing one scenario</a:t>
            </a:r>
          </a:p>
        </p:txBody>
      </p:sp>
      <p:sp>
        <p:nvSpPr>
          <p:cNvPr id="4" name="Status mock"/>
          <p:cNvSpPr/>
          <p:nvPr/>
        </p:nvSpPr>
        <p:spPr>
          <a:xfrm>
            <a:off x="548640" y="1783080"/>
            <a:ext cx="11064240" cy="685800"/>
          </a:xfrm>
          <a:prstGeom prst="roundRect">
            <a:avLst>
              <a:gd name="adj" fmla="val 12000"/>
            </a:avLst>
          </a:prstGeom>
          <a:solidFill>
            <a:srgbClr val="1234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l">
              <a:spcAft>
                <a:spcPts val="200"/>
              </a:spcAft>
            </a:pPr>
            <a:r>
              <a:rPr sz="1400" b="0" i="0">
                <a:solidFill>
                  <a:srgbClr val="CADCDB"/>
                </a:solidFill>
                <a:latin typeface="Courier New"/>
              </a:rPr>
              <a:t>Done: 7 scenario(s) in 24.1s  |  </a:t>
            </a:r>
            <a:r>
              <a:rPr sz="1400" b="1" i="0">
                <a:solidFill>
                  <a:srgbClr val="E8A33D"/>
                </a:solidFill>
                <a:latin typeface="Courier New"/>
              </a:rPr>
              <a:t>1 translated (4,718 tokens), 6 loaded from database</a:t>
            </a:r>
            <a:r>
              <a:rPr sz="1400" b="0" i="0">
                <a:solidFill>
                  <a:srgbClr val="CADCDB"/>
                </a:solidFill>
                <a:latin typeface="Courier New"/>
              </a:rPr>
              <a:t>  |  7 clean</a:t>
            </a:r>
          </a:p>
        </p:txBody>
      </p:sp>
      <p:sp>
        <p:nvSpPr>
          <p:cNvPr id="5" name="List head"/>
          <p:cNvSpPr txBox="1"/>
          <p:nvPr/>
        </p:nvSpPr>
        <p:spPr>
          <a:xfrm>
            <a:off x="548640" y="2743200"/>
            <a:ext cx="3657600" cy="365760"/>
          </a:xfrm>
          <a:prstGeom prst="rect">
            <a:avLst/>
          </a:prstGeom>
          <a:noFill/>
        </p:spPr>
        <p:txBody>
          <a:bodyPr wrap="square" anchor="t" lIns="0" rIns="0" tIns="0" bIns="0">
            <a:spAutoFit/>
          </a:bodyPr>
          <a:lstStyle/>
          <a:p>
            <a:pPr algn="l">
              <a:spcAft>
                <a:spcPts val="600"/>
              </a:spcAft>
            </a:pPr>
            <a:r>
              <a:rPr sz="1400" b="1" i="0">
                <a:solidFill>
                  <a:srgbClr val="5B6B73"/>
                </a:solidFill>
                <a:latin typeface="Calibri"/>
              </a:rPr>
              <a:t>Scenario list</a:t>
            </a:r>
          </a:p>
        </p:txBody>
      </p:sp>
      <p:sp>
        <p:nvSpPr>
          <p:cNvPr id="6" name="List mock"/>
          <p:cNvSpPr/>
          <p:nvPr/>
        </p:nvSpPr>
        <p:spPr>
          <a:xfrm>
            <a:off x="548640" y="3108960"/>
            <a:ext cx="4206240" cy="2743200"/>
          </a:xfrm>
          <a:prstGeom prst="roundRect">
            <a:avLst>
              <a:gd name="adj" fmla="val 12000"/>
            </a:avLst>
          </a:prstGeom>
          <a:solidFill>
            <a:srgbClr val="FFFFFF"/>
          </a:solidFill>
          <a:ln w="15875">
            <a:solidFill>
              <a:srgbClr val="C9D6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ag Operation"/>
          <p:cNvSpPr/>
          <p:nvPr/>
        </p:nvSpPr>
        <p:spPr>
          <a:xfrm>
            <a:off x="777240" y="3291840"/>
            <a:ext cx="548640" cy="310896"/>
          </a:xfrm>
          <a:prstGeom prst="roundRect">
            <a:avLst>
              <a:gd name="adj" fmla="val 12000"/>
            </a:avLst>
          </a:prstGeom>
          <a:solidFill>
            <a:srgbClr val="E6F0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100" b="1" i="0">
                <a:solidFill>
                  <a:srgbClr val="1D7874"/>
                </a:solidFill>
                <a:latin typeface="Calibri"/>
              </a:rPr>
              <a:t>DB</a:t>
            </a:r>
          </a:p>
        </p:txBody>
      </p:sp>
      <p:sp>
        <p:nvSpPr>
          <p:cNvPr id="8" name="Item Operation"/>
          <p:cNvSpPr txBox="1"/>
          <p:nvPr/>
        </p:nvSpPr>
        <p:spPr>
          <a:xfrm>
            <a:off x="1508760" y="3273552"/>
            <a:ext cx="3108960" cy="365760"/>
          </a:xfrm>
          <a:prstGeom prst="rect">
            <a:avLst/>
          </a:prstGeom>
          <a:noFill/>
        </p:spPr>
        <p:txBody>
          <a:bodyPr wrap="square" anchor="t" lIns="0" rIns="0" tIns="0" bIns="0">
            <a:spAutoFit/>
          </a:bodyPr>
          <a:lstStyle/>
          <a:p>
            <a:pPr algn="l">
              <a:spcAft>
                <a:spcPts val="600"/>
              </a:spcAft>
            </a:pPr>
            <a:r>
              <a:rPr sz="1500" b="0" i="0">
                <a:solidFill>
                  <a:srgbClr val="1F2A30"/>
                </a:solidFill>
                <a:latin typeface="Calibri"/>
              </a:rPr>
              <a:t>Operation</a:t>
            </a:r>
            <a:r>
              <a:rPr sz="1200" b="1" i="0">
                <a:solidFill>
                  <a:srgbClr val="E8A33D"/>
                </a:solidFill>
                <a:latin typeface="Calibri"/>
              </a:rPr>
              <a:t/>
            </a:r>
          </a:p>
        </p:txBody>
      </p:sp>
      <p:sp>
        <p:nvSpPr>
          <p:cNvPr id="9" name="Tag System Handle"/>
          <p:cNvSpPr/>
          <p:nvPr/>
        </p:nvSpPr>
        <p:spPr>
          <a:xfrm>
            <a:off x="777240" y="3767328"/>
            <a:ext cx="548640" cy="310896"/>
          </a:xfrm>
          <a:prstGeom prst="roundRect">
            <a:avLst>
              <a:gd name="adj" fmla="val 12000"/>
            </a:avLst>
          </a:prstGeom>
          <a:solidFill>
            <a:srgbClr val="E6F0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100" b="1" i="0">
                <a:solidFill>
                  <a:srgbClr val="1D7874"/>
                </a:solidFill>
                <a:latin typeface="Calibri"/>
              </a:rPr>
              <a:t>DB</a:t>
            </a:r>
          </a:p>
        </p:txBody>
      </p:sp>
      <p:sp>
        <p:nvSpPr>
          <p:cNvPr id="10" name="Item System Handle"/>
          <p:cNvSpPr txBox="1"/>
          <p:nvPr/>
        </p:nvSpPr>
        <p:spPr>
          <a:xfrm>
            <a:off x="1508760" y="3749040"/>
            <a:ext cx="3108960" cy="365760"/>
          </a:xfrm>
          <a:prstGeom prst="rect">
            <a:avLst/>
          </a:prstGeom>
          <a:noFill/>
        </p:spPr>
        <p:txBody>
          <a:bodyPr wrap="square" anchor="t" lIns="0" rIns="0" tIns="0" bIns="0">
            <a:spAutoFit/>
          </a:bodyPr>
          <a:lstStyle/>
          <a:p>
            <a:pPr algn="l">
              <a:spcAft>
                <a:spcPts val="600"/>
              </a:spcAft>
            </a:pPr>
            <a:r>
              <a:rPr sz="1500" b="0" i="0">
                <a:solidFill>
                  <a:srgbClr val="1F2A30"/>
                </a:solidFill>
                <a:latin typeface="Calibri"/>
              </a:rPr>
              <a:t>System Handle</a:t>
            </a:r>
            <a:r>
              <a:rPr sz="1200" b="1" i="0">
                <a:solidFill>
                  <a:srgbClr val="E8A33D"/>
                </a:solidFill>
                <a:latin typeface="Calibri"/>
              </a:rPr>
              <a:t/>
            </a:r>
          </a:p>
        </p:txBody>
      </p:sp>
      <p:sp>
        <p:nvSpPr>
          <p:cNvPr id="11" name="Tag Run Failed"/>
          <p:cNvSpPr/>
          <p:nvPr/>
        </p:nvSpPr>
        <p:spPr>
          <a:xfrm>
            <a:off x="777240" y="4242816"/>
            <a:ext cx="548640" cy="310896"/>
          </a:xfrm>
          <a:prstGeom prst="roundRect">
            <a:avLst>
              <a:gd name="adj" fmla="val 12000"/>
            </a:avLst>
          </a:prstGeom>
          <a:solidFill>
            <a:srgbClr val="E6F0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100" b="1" i="0">
                <a:solidFill>
                  <a:srgbClr val="1D7874"/>
                </a:solidFill>
                <a:latin typeface="Calibri"/>
              </a:rPr>
              <a:t>DB</a:t>
            </a:r>
          </a:p>
        </p:txBody>
      </p:sp>
      <p:sp>
        <p:nvSpPr>
          <p:cNvPr id="12" name="Item Run Failed"/>
          <p:cNvSpPr txBox="1"/>
          <p:nvPr/>
        </p:nvSpPr>
        <p:spPr>
          <a:xfrm>
            <a:off x="1508760" y="4224528"/>
            <a:ext cx="3108960" cy="365760"/>
          </a:xfrm>
          <a:prstGeom prst="rect">
            <a:avLst/>
          </a:prstGeom>
          <a:noFill/>
        </p:spPr>
        <p:txBody>
          <a:bodyPr wrap="square" anchor="t" lIns="0" rIns="0" tIns="0" bIns="0">
            <a:spAutoFit/>
          </a:bodyPr>
          <a:lstStyle/>
          <a:p>
            <a:pPr algn="l">
              <a:spcAft>
                <a:spcPts val="600"/>
              </a:spcAft>
            </a:pPr>
            <a:r>
              <a:rPr sz="1500" b="0" i="0">
                <a:solidFill>
                  <a:srgbClr val="1F2A30"/>
                </a:solidFill>
                <a:latin typeface="Calibri"/>
              </a:rPr>
              <a:t>Run Failed</a:t>
            </a:r>
            <a:r>
              <a:rPr sz="1200" b="1" i="0">
                <a:solidFill>
                  <a:srgbClr val="E8A33D"/>
                </a:solidFill>
                <a:latin typeface="Calibri"/>
              </a:rPr>
              <a:t/>
            </a:r>
          </a:p>
        </p:txBody>
      </p:sp>
      <p:sp>
        <p:nvSpPr>
          <p:cNvPr id="13" name="Item Trip"/>
          <p:cNvSpPr txBox="1"/>
          <p:nvPr/>
        </p:nvSpPr>
        <p:spPr>
          <a:xfrm>
            <a:off x="1508760" y="4700016"/>
            <a:ext cx="3108960" cy="365760"/>
          </a:xfrm>
          <a:prstGeom prst="rect">
            <a:avLst/>
          </a:prstGeom>
          <a:noFill/>
        </p:spPr>
        <p:txBody>
          <a:bodyPr wrap="square" anchor="t" lIns="0" rIns="0" tIns="0" bIns="0">
            <a:spAutoFit/>
          </a:bodyPr>
          <a:lstStyle/>
          <a:p>
            <a:pPr algn="l">
              <a:spcAft>
                <a:spcPts val="600"/>
              </a:spcAft>
            </a:pPr>
            <a:r>
              <a:rPr sz="1500" b="1" i="0">
                <a:solidFill>
                  <a:srgbClr val="1F2A30"/>
                </a:solidFill>
                <a:latin typeface="Calibri"/>
              </a:rPr>
              <a:t>Trip</a:t>
            </a:r>
            <a:r>
              <a:rPr sz="1200" b="1" i="0">
                <a:solidFill>
                  <a:srgbClr val="E8A33D"/>
                </a:solidFill>
                <a:latin typeface="Calibri"/>
              </a:rPr>
              <a:t>   new</a:t>
            </a:r>
          </a:p>
        </p:txBody>
      </p:sp>
      <p:sp>
        <p:nvSpPr>
          <p:cNvPr id="14" name="Tag Faults"/>
          <p:cNvSpPr/>
          <p:nvPr/>
        </p:nvSpPr>
        <p:spPr>
          <a:xfrm>
            <a:off x="777240" y="5193792"/>
            <a:ext cx="548640" cy="310896"/>
          </a:xfrm>
          <a:prstGeom prst="roundRect">
            <a:avLst>
              <a:gd name="adj" fmla="val 12000"/>
            </a:avLst>
          </a:prstGeom>
          <a:solidFill>
            <a:srgbClr val="E6F0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100" b="1" i="0">
                <a:solidFill>
                  <a:srgbClr val="1D7874"/>
                </a:solidFill>
                <a:latin typeface="Calibri"/>
              </a:rPr>
              <a:t>DB</a:t>
            </a:r>
          </a:p>
        </p:txBody>
      </p:sp>
      <p:sp>
        <p:nvSpPr>
          <p:cNvPr id="15" name="Item Faults"/>
          <p:cNvSpPr txBox="1"/>
          <p:nvPr/>
        </p:nvSpPr>
        <p:spPr>
          <a:xfrm>
            <a:off x="1508760" y="5175504"/>
            <a:ext cx="3108960" cy="365760"/>
          </a:xfrm>
          <a:prstGeom prst="rect">
            <a:avLst/>
          </a:prstGeom>
          <a:noFill/>
        </p:spPr>
        <p:txBody>
          <a:bodyPr wrap="square" anchor="t" lIns="0" rIns="0" tIns="0" bIns="0">
            <a:spAutoFit/>
          </a:bodyPr>
          <a:lstStyle/>
          <a:p>
            <a:pPr algn="l">
              <a:spcAft>
                <a:spcPts val="600"/>
              </a:spcAft>
            </a:pPr>
            <a:r>
              <a:rPr sz="1500" b="0" i="0">
                <a:solidFill>
                  <a:srgbClr val="1F2A30"/>
                </a:solidFill>
                <a:latin typeface="Calibri"/>
              </a:rPr>
              <a:t>Faults</a:t>
            </a:r>
            <a:r>
              <a:rPr sz="1200" b="1" i="0">
                <a:solidFill>
                  <a:srgbClr val="E8A33D"/>
                </a:solidFill>
                <a:latin typeface="Calibri"/>
              </a:rPr>
              <a:t/>
            </a:r>
          </a:p>
        </p:txBody>
      </p:sp>
      <p:sp>
        <p:nvSpPr>
          <p:cNvPr id="16" name="Rows head"/>
          <p:cNvSpPr txBox="1"/>
          <p:nvPr/>
        </p:nvSpPr>
        <p:spPr>
          <a:xfrm>
            <a:off x="5120640" y="2743200"/>
            <a:ext cx="6400800" cy="365760"/>
          </a:xfrm>
          <a:prstGeom prst="rect">
            <a:avLst/>
          </a:prstGeom>
          <a:noFill/>
        </p:spPr>
        <p:txBody>
          <a:bodyPr wrap="square" anchor="t" lIns="0" rIns="0" tIns="0" bIns="0">
            <a:spAutoFit/>
          </a:bodyPr>
          <a:lstStyle/>
          <a:p>
            <a:pPr algn="l">
              <a:spcAft>
                <a:spcPts val="600"/>
              </a:spcAft>
            </a:pPr>
            <a:r>
              <a:rPr sz="1400" b="1" i="0">
                <a:solidFill>
                  <a:srgbClr val="5B6B73"/>
                </a:solidFill>
                <a:latin typeface="Calibri"/>
              </a:rPr>
              <a:t>Rows added to XenCreator.dbo.OutputXenTrans</a:t>
            </a:r>
          </a:p>
        </p:txBody>
      </p:sp>
      <p:graphicFrame>
        <p:nvGraphicFramePr>
          <p:cNvPr id="17" name="Table"/>
          <p:cNvGraphicFramePr>
            <a:graphicFrameLocks noGrp="1"/>
          </p:cNvGraphicFramePr>
          <p:nvPr/>
        </p:nvGraphicFramePr>
        <p:xfrm>
          <a:off x="5120640" y="3108960"/>
          <a:ext cx="6492240" cy="1682496"/>
        </p:xfrm>
        <a:graphic>
          <a:graphicData uri="http://schemas.openxmlformats.org/drawingml/2006/table">
            <a:tbl>
              <a:tblPr firstRow="0" bandRow="0">
                <a:tableStyleId>{5C22544A-7EE6-4342-B048-85BDC9FD1C3A}</a:tableStyleId>
              </a:tblPr>
              <a:tblGrid>
                <a:gridCol w="502920"/>
                <a:gridCol w="1417320"/>
                <a:gridCol w="1325880"/>
                <a:gridCol w="1417320"/>
                <a:gridCol w="1828800"/>
              </a:tblGrid>
              <a:tr h="420624">
                <a:tc>
                  <a:txBody>
                    <a:bodyPr wrap="square"/>
                    <a:lstStyle/>
                    <a:p>
                      <a:r>
                        <a:rPr sz="1300" b="1" i="0">
                          <a:solidFill>
                            <a:srgbClr val="FFFFFF"/>
                          </a:solidFill>
                          <a:latin typeface="Calibri"/>
                        </a:rPr>
                        <a:t>Id</a:t>
                      </a:r>
                    </a:p>
                  </a:txBody>
                  <a:tcPr marL="91440" marR="91440" marT="36576" marB="36576" anchor="ctr">
                    <a:solidFill>
                      <a:srgbClr val="12343B"/>
                    </a:solidFill>
                  </a:tcPr>
                </a:tc>
                <a:tc>
                  <a:txBody>
                    <a:bodyPr wrap="square"/>
                    <a:lstStyle/>
                    <a:p>
                      <a:r>
                        <a:rPr sz="1300" b="1" i="0">
                          <a:solidFill>
                            <a:srgbClr val="FFFFFF"/>
                          </a:solidFill>
                          <a:latin typeface="Calibri"/>
                        </a:rPr>
                        <a:t>Scenario</a:t>
                      </a:r>
                    </a:p>
                  </a:txBody>
                  <a:tcPr marL="91440" marR="91440" marT="36576" marB="36576" anchor="ctr">
                    <a:solidFill>
                      <a:srgbClr val="12343B"/>
                    </a:solidFill>
                  </a:tcPr>
                </a:tc>
                <a:tc>
                  <a:txBody>
                    <a:bodyPr wrap="square"/>
                    <a:lstStyle/>
                    <a:p>
                      <a:r>
                        <a:rPr sz="1300" b="1" i="0">
                          <a:solidFill>
                            <a:srgbClr val="FFFFFF"/>
                          </a:solidFill>
                          <a:latin typeface="Calibri"/>
                        </a:rPr>
                        <a:t>Output</a:t>
                      </a:r>
                    </a:p>
                  </a:txBody>
                  <a:tcPr marL="91440" marR="91440" marT="36576" marB="36576" anchor="ctr">
                    <a:solidFill>
                      <a:srgbClr val="12343B"/>
                    </a:solidFill>
                  </a:tcPr>
                </a:tc>
                <a:tc>
                  <a:txBody>
                    <a:bodyPr wrap="square"/>
                    <a:lstStyle/>
                    <a:p>
                      <a:r>
                        <a:rPr sz="1300" b="1" i="0">
                          <a:solidFill>
                            <a:srgbClr val="FFFFFF"/>
                          </a:solidFill>
                          <a:latin typeface="Calibri"/>
                        </a:rPr>
                        <a:t>Model</a:t>
                      </a:r>
                    </a:p>
                  </a:txBody>
                  <a:tcPr marL="91440" marR="91440" marT="36576" marB="36576" anchor="ctr">
                    <a:solidFill>
                      <a:srgbClr val="12343B"/>
                    </a:solidFill>
                  </a:tcPr>
                </a:tc>
                <a:tc>
                  <a:txBody>
                    <a:bodyPr wrap="square"/>
                    <a:lstStyle/>
                    <a:p>
                      <a:r>
                        <a:rPr sz="1300" b="1" i="0">
                          <a:solidFill>
                            <a:srgbClr val="FFFFFF"/>
                          </a:solidFill>
                          <a:latin typeface="Calibri"/>
                        </a:rPr>
                        <a:t>CreatedAt</a:t>
                      </a:r>
                    </a:p>
                  </a:txBody>
                  <a:tcPr marL="91440" marR="91440" marT="36576" marB="36576" anchor="ctr">
                    <a:solidFill>
                      <a:srgbClr val="12343B"/>
                    </a:solidFill>
                  </a:tcPr>
                </a:tc>
              </a:tr>
              <a:tr h="420624">
                <a:tc>
                  <a:txBody>
                    <a:bodyPr wrap="square"/>
                    <a:lstStyle/>
                    <a:p>
                      <a:r>
                        <a:rPr sz="1300" b="0" i="0">
                          <a:solidFill>
                            <a:srgbClr val="1F2A30"/>
                          </a:solidFill>
                          <a:latin typeface="Calibri"/>
                        </a:rPr>
                        <a:t>1</a:t>
                      </a:r>
                    </a:p>
                  </a:txBody>
                  <a:tcPr marL="91440" marR="91440" marT="36576" marB="36576" anchor="ctr">
                    <a:solidFill>
                      <a:srgbClr val="FFFFFF"/>
                    </a:solidFill>
                  </a:tcPr>
                </a:tc>
                <a:tc>
                  <a:txBody>
                    <a:bodyPr wrap="square"/>
                    <a:lstStyle/>
                    <a:p>
                      <a:r>
                        <a:rPr sz="1300" b="0" i="0">
                          <a:solidFill>
                            <a:srgbClr val="1F2A30"/>
                          </a:solidFill>
                          <a:latin typeface="Calibri"/>
                        </a:rPr>
                        <a:t>Operation</a:t>
                      </a:r>
                    </a:p>
                  </a:txBody>
                  <a:tcPr marL="91440" marR="91440" marT="36576" marB="36576" anchor="ctr">
                    <a:solidFill>
                      <a:srgbClr val="FFFFFF"/>
                    </a:solidFill>
                  </a:tcPr>
                </a:tc>
                <a:tc>
                  <a:txBody>
                    <a:bodyPr wrap="square"/>
                    <a:lstStyle/>
                    <a:p>
                      <a:r>
                        <a:rPr sz="1300" b="0" i="0">
                          <a:solidFill>
                            <a:srgbClr val="1F2A30"/>
                          </a:solidFill>
                          <a:latin typeface="Calibri"/>
                        </a:rPr>
                        <a:t>Pseudocode</a:t>
                      </a:r>
                    </a:p>
                  </a:txBody>
                  <a:tcPr marL="91440" marR="91440" marT="36576" marB="36576" anchor="ctr">
                    <a:solidFill>
                      <a:srgbClr val="FFFFFF"/>
                    </a:solidFill>
                  </a:tcPr>
                </a:tc>
                <a:tc>
                  <a:txBody>
                    <a:bodyPr wrap="square"/>
                    <a:lstStyle/>
                    <a:p>
                      <a:r>
                        <a:rPr sz="1300" b="0" i="0">
                          <a:solidFill>
                            <a:srgbClr val="1F2A30"/>
                          </a:solidFill>
                          <a:latin typeface="Calibri"/>
                        </a:rPr>
                        <a:t>qwen3.8-27b</a:t>
                      </a:r>
                    </a:p>
                  </a:txBody>
                  <a:tcPr marL="91440" marR="91440" marT="36576" marB="36576" anchor="ctr">
                    <a:solidFill>
                      <a:srgbClr val="FFFFFF"/>
                    </a:solidFill>
                  </a:tcPr>
                </a:tc>
                <a:tc>
                  <a:txBody>
                    <a:bodyPr wrap="square"/>
                    <a:lstStyle/>
                    <a:p>
                      <a:r>
                        <a:rPr sz="1300" b="0" i="0">
                          <a:solidFill>
                            <a:srgbClr val="1F2A30"/>
                          </a:solidFill>
                          <a:latin typeface="Calibri"/>
                        </a:rPr>
                        <a:t>2026-10-21 09:14</a:t>
                      </a:r>
                    </a:p>
                  </a:txBody>
                  <a:tcPr marL="91440" marR="91440" marT="36576" marB="36576" anchor="ctr">
                    <a:solidFill>
                      <a:srgbClr val="FFFFFF"/>
                    </a:solidFill>
                  </a:tcPr>
                </a:tc>
              </a:tr>
              <a:tr h="420624">
                <a:tc>
                  <a:txBody>
                    <a:bodyPr wrap="square"/>
                    <a:lstStyle/>
                    <a:p>
                      <a:r>
                        <a:rPr sz="1300" b="0" i="0">
                          <a:solidFill>
                            <a:srgbClr val="1F2A30"/>
                          </a:solidFill>
                          <a:latin typeface="Calibri"/>
                        </a:rPr>
                        <a:t>2</a:t>
                      </a:r>
                    </a:p>
                  </a:txBody>
                  <a:tcPr marL="91440" marR="91440" marT="36576" marB="36576" anchor="ctr">
                    <a:solidFill>
                      <a:srgbClr val="F4F8F8"/>
                    </a:solidFill>
                  </a:tcPr>
                </a:tc>
                <a:tc>
                  <a:txBody>
                    <a:bodyPr wrap="square"/>
                    <a:lstStyle/>
                    <a:p>
                      <a:r>
                        <a:rPr sz="1300" b="0" i="0">
                          <a:solidFill>
                            <a:srgbClr val="1F2A30"/>
                          </a:solidFill>
                          <a:latin typeface="Calibri"/>
                        </a:rPr>
                        <a:t>Trip</a:t>
                      </a:r>
                    </a:p>
                  </a:txBody>
                  <a:tcPr marL="91440" marR="91440" marT="36576" marB="36576" anchor="ctr">
                    <a:solidFill>
                      <a:srgbClr val="F4F8F8"/>
                    </a:solidFill>
                  </a:tcPr>
                </a:tc>
                <a:tc>
                  <a:txBody>
                    <a:bodyPr wrap="square"/>
                    <a:lstStyle/>
                    <a:p>
                      <a:r>
                        <a:rPr sz="1300" b="0" i="0">
                          <a:solidFill>
                            <a:srgbClr val="1F2A30"/>
                          </a:solidFill>
                          <a:latin typeface="Calibri"/>
                        </a:rPr>
                        <a:t>Pseudocode</a:t>
                      </a:r>
                    </a:p>
                  </a:txBody>
                  <a:tcPr marL="91440" marR="91440" marT="36576" marB="36576" anchor="ctr">
                    <a:solidFill>
                      <a:srgbClr val="F4F8F8"/>
                    </a:solidFill>
                  </a:tcPr>
                </a:tc>
                <a:tc>
                  <a:txBody>
                    <a:bodyPr wrap="square"/>
                    <a:lstStyle/>
                    <a:p>
                      <a:r>
                        <a:rPr sz="1300" b="0" i="0">
                          <a:solidFill>
                            <a:srgbClr val="1F2A30"/>
                          </a:solidFill>
                          <a:latin typeface="Calibri"/>
                        </a:rPr>
                        <a:t>qwen3.8-27b</a:t>
                      </a:r>
                    </a:p>
                  </a:txBody>
                  <a:tcPr marL="91440" marR="91440" marT="36576" marB="36576" anchor="ctr">
                    <a:solidFill>
                      <a:srgbClr val="F4F8F8"/>
                    </a:solidFill>
                  </a:tcPr>
                </a:tc>
                <a:tc>
                  <a:txBody>
                    <a:bodyPr wrap="square"/>
                    <a:lstStyle/>
                    <a:p>
                      <a:r>
                        <a:rPr sz="1300" b="0" i="0">
                          <a:solidFill>
                            <a:srgbClr val="1F2A30"/>
                          </a:solidFill>
                          <a:latin typeface="Calibri"/>
                        </a:rPr>
                        <a:t>2026-10-21 09:14</a:t>
                      </a:r>
                    </a:p>
                  </a:txBody>
                  <a:tcPr marL="91440" marR="91440" marT="36576" marB="36576" anchor="ctr">
                    <a:solidFill>
                      <a:srgbClr val="F4F8F8"/>
                    </a:solidFill>
                  </a:tcPr>
                </a:tc>
              </a:tr>
              <a:tr h="420624">
                <a:tc>
                  <a:txBody>
                    <a:bodyPr wrap="square"/>
                    <a:lstStyle/>
                    <a:p>
                      <a:r>
                        <a:rPr sz="1300" b="0" i="0">
                          <a:solidFill>
                            <a:srgbClr val="1F2A30"/>
                          </a:solidFill>
                          <a:latin typeface="Calibri"/>
                        </a:rPr>
                        <a:t>8</a:t>
                      </a:r>
                    </a:p>
                  </a:txBody>
                  <a:tcPr marL="91440" marR="91440" marT="36576" marB="36576" anchor="ctr">
                    <a:solidFill>
                      <a:srgbClr val="FFFFFF"/>
                    </a:solidFill>
                  </a:tcPr>
                </a:tc>
                <a:tc>
                  <a:txBody>
                    <a:bodyPr wrap="square"/>
                    <a:lstStyle/>
                    <a:p>
                      <a:r>
                        <a:rPr sz="1300" b="0" i="0">
                          <a:solidFill>
                            <a:srgbClr val="1F2A30"/>
                          </a:solidFill>
                          <a:latin typeface="Calibri"/>
                        </a:rPr>
                        <a:t>Trip</a:t>
                      </a:r>
                    </a:p>
                  </a:txBody>
                  <a:tcPr marL="91440" marR="91440" marT="36576" marB="36576" anchor="ctr">
                    <a:solidFill>
                      <a:srgbClr val="FFFFFF"/>
                    </a:solidFill>
                  </a:tcPr>
                </a:tc>
                <a:tc>
                  <a:txBody>
                    <a:bodyPr wrap="square"/>
                    <a:lstStyle/>
                    <a:p>
                      <a:r>
                        <a:rPr sz="1300" b="0" i="0">
                          <a:solidFill>
                            <a:srgbClr val="1F2A30"/>
                          </a:solidFill>
                          <a:latin typeface="Calibri"/>
                        </a:rPr>
                        <a:t>Pseudocode</a:t>
                      </a:r>
                    </a:p>
                  </a:txBody>
                  <a:tcPr marL="91440" marR="91440" marT="36576" marB="36576" anchor="ctr">
                    <a:solidFill>
                      <a:srgbClr val="FFFFFF"/>
                    </a:solidFill>
                  </a:tcPr>
                </a:tc>
                <a:tc>
                  <a:txBody>
                    <a:bodyPr wrap="square"/>
                    <a:lstStyle/>
                    <a:p>
                      <a:r>
                        <a:rPr sz="1300" b="0" i="0">
                          <a:solidFill>
                            <a:srgbClr val="1F2A30"/>
                          </a:solidFill>
                          <a:latin typeface="Calibri"/>
                        </a:rPr>
                        <a:t>qwen3.8-27b</a:t>
                      </a:r>
                    </a:p>
                  </a:txBody>
                  <a:tcPr marL="91440" marR="91440" marT="36576" marB="36576" anchor="ctr">
                    <a:solidFill>
                      <a:srgbClr val="FFFFFF"/>
                    </a:solidFill>
                  </a:tcPr>
                </a:tc>
                <a:tc>
                  <a:txBody>
                    <a:bodyPr wrap="square"/>
                    <a:lstStyle/>
                    <a:p>
                      <a:r>
                        <a:rPr sz="1300" b="0" i="0">
                          <a:solidFill>
                            <a:srgbClr val="1F2A30"/>
                          </a:solidFill>
                          <a:latin typeface="Calibri"/>
                        </a:rPr>
                        <a:t>2026-10-21 11:02</a:t>
                      </a:r>
                    </a:p>
                  </a:txBody>
                  <a:tcPr marL="91440" marR="91440" marT="36576" marB="36576" anchor="ctr">
                    <a:solidFill>
                      <a:srgbClr val="FFFFFF"/>
                    </a:solidFill>
                  </a:tcPr>
                </a:tc>
              </a:tr>
            </a:tbl>
          </a:graphicData>
        </a:graphic>
      </p:graphicFrame>
      <p:sp>
        <p:nvSpPr>
          <p:cNvPr id="18" name="Rows note"/>
          <p:cNvSpPr txBox="1"/>
          <p:nvPr/>
        </p:nvSpPr>
        <p:spPr>
          <a:xfrm>
            <a:off x="5120640" y="4937760"/>
            <a:ext cx="6492240" cy="914400"/>
          </a:xfrm>
          <a:prstGeom prst="rect">
            <a:avLst/>
          </a:prstGeom>
          <a:noFill/>
        </p:spPr>
        <p:txBody>
          <a:bodyPr wrap="square" anchor="t" lIns="0" rIns="0" tIns="0" bIns="0">
            <a:spAutoFit/>
          </a:bodyPr>
          <a:lstStyle/>
          <a:p>
            <a:pPr algn="l">
              <a:spcAft>
                <a:spcPts val="600"/>
              </a:spcAft>
            </a:pPr>
            <a:r>
              <a:rPr sz="1300" b="0" i="0">
                <a:solidFill>
                  <a:srgbClr val="5B6B73"/>
                </a:solidFill>
                <a:latin typeface="Calibri"/>
              </a:rPr>
              <a:t>Row 8 is the re-translated Trip after its edit. Row 2 stays as history.</a:t>
            </a:r>
          </a:p>
        </p:txBody>
      </p:sp>
      <p:sp>
        <p:nvSpPr>
          <p:cNvPr id="19" name="Footer"/>
          <p:cNvSpPr txBox="1"/>
          <p:nvPr/>
        </p:nvSpPr>
        <p:spPr>
          <a:xfrm>
            <a:off x="548640" y="6400800"/>
            <a:ext cx="7315200" cy="274320"/>
          </a:xfrm>
          <a:prstGeom prst="rect">
            <a:avLst/>
          </a:prstGeom>
          <a:noFill/>
        </p:spPr>
        <p:txBody>
          <a:bodyPr wrap="square" anchor="t" lIns="0" rIns="0" tIns="0" bIns="0">
            <a:spAutoFit/>
          </a:bodyPr>
          <a:lstStyle/>
          <a:p>
            <a:pPr algn="l">
              <a:spcAft>
                <a:spcPts val="600"/>
              </a:spcAft>
            </a:pPr>
            <a:r>
              <a:rPr sz="1000" b="0" i="0">
                <a:solidFill>
                  <a:srgbClr val="5B6B73"/>
                </a:solidFill>
                <a:latin typeface="Calibri"/>
              </a:rPr>
              <a:t>XenAnalyticTransl  |  Proposal: save AI results to the database</a:t>
            </a:r>
          </a:p>
        </p:txBody>
      </p:sp>
      <p:sp>
        <p:nvSpPr>
          <p:cNvPr id="20" name="Slide number"/>
          <p:cNvSpPr txBox="1"/>
          <p:nvPr/>
        </p:nvSpPr>
        <p:spPr>
          <a:xfrm>
            <a:off x="10789920" y="6400800"/>
            <a:ext cx="868680" cy="274320"/>
          </a:xfrm>
          <a:prstGeom prst="rect">
            <a:avLst/>
          </a:prstGeom>
          <a:noFill/>
        </p:spPr>
        <p:txBody>
          <a:bodyPr wrap="square" anchor="t" lIns="0" rIns="0" tIns="0" bIns="0">
            <a:spAutoFit/>
          </a:bodyPr>
          <a:lstStyle/>
          <a:p>
            <a:pPr algn="r">
              <a:spcAft>
                <a:spcPts val="600"/>
              </a:spcAft>
            </a:pPr>
            <a:r>
              <a:rPr sz="1000" b="0" i="0">
                <a:solidFill>
                  <a:srgbClr val="5B6B73"/>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84048"/>
            <a:ext cx="11064240" cy="731520"/>
          </a:xfrm>
          <a:prstGeom prst="rect">
            <a:avLst/>
          </a:prstGeom>
          <a:noFill/>
        </p:spPr>
        <p:txBody>
          <a:bodyPr wrap="square" anchor="ctr" lIns="0" rIns="0" tIns="0" bIns="0">
            <a:spAutoFit/>
          </a:bodyPr>
          <a:lstStyle/>
          <a:p>
            <a:pPr algn="l">
              <a:spcAft>
                <a:spcPts val="600"/>
              </a:spcAft>
            </a:pPr>
            <a:r>
              <a:rPr sz="3400" b="1" i="0">
                <a:solidFill>
                  <a:srgbClr val="12343B"/>
                </a:solidFill>
                <a:latin typeface="Cambria"/>
              </a:rPr>
              <a:t>Four things to agree before building</a:t>
            </a:r>
          </a:p>
        </p:txBody>
      </p:sp>
      <p:sp>
        <p:nvSpPr>
          <p:cNvPr id="3" name="Decision card 1"/>
          <p:cNvSpPr/>
          <p:nvPr/>
        </p:nvSpPr>
        <p:spPr>
          <a:xfrm>
            <a:off x="548640" y="1463040"/>
            <a:ext cx="5440680" cy="2148840"/>
          </a:xfrm>
          <a:prstGeom prst="roundRect">
            <a:avLst>
              <a:gd name="adj" fmla="val 12000"/>
            </a:avLst>
          </a:prstGeom>
          <a:solidFill>
            <a:srgbClr val="E6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adge 1"/>
          <p:cNvSpPr/>
          <p:nvPr/>
        </p:nvSpPr>
        <p:spPr>
          <a:xfrm>
            <a:off x="822959" y="1737360"/>
            <a:ext cx="548640" cy="548640"/>
          </a:xfrm>
          <a:prstGeom prst="ellipse">
            <a:avLst/>
          </a:prstGeom>
          <a:solidFill>
            <a:srgbClr val="1D78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800" b="1" i="0">
                <a:solidFill>
                  <a:srgbClr val="FFFFFF"/>
                </a:solidFill>
                <a:latin typeface="Calibri"/>
              </a:rPr>
              <a:t>1</a:t>
            </a:r>
          </a:p>
        </p:txBody>
      </p:sp>
      <p:sp>
        <p:nvSpPr>
          <p:cNvPr id="5" name="Decision head 1"/>
          <p:cNvSpPr txBox="1"/>
          <p:nvPr/>
        </p:nvSpPr>
        <p:spPr>
          <a:xfrm>
            <a:off x="1554480" y="1737360"/>
            <a:ext cx="4206240" cy="548640"/>
          </a:xfrm>
          <a:prstGeom prst="rect">
            <a:avLst/>
          </a:prstGeom>
          <a:noFill/>
        </p:spPr>
        <p:txBody>
          <a:bodyPr wrap="square" anchor="ctr" lIns="0" rIns="0" tIns="0" bIns="0">
            <a:spAutoFit/>
          </a:bodyPr>
          <a:lstStyle/>
          <a:p>
            <a:pPr algn="l">
              <a:spcAft>
                <a:spcPts val="600"/>
              </a:spcAft>
            </a:pPr>
            <a:r>
              <a:rPr sz="1800" b="1" i="0">
                <a:solidFill>
                  <a:srgbClr val="12343B"/>
                </a:solidFill>
                <a:latin typeface="Calibri"/>
              </a:rPr>
              <a:t>The login stays out of the code</a:t>
            </a:r>
          </a:p>
        </p:txBody>
      </p:sp>
      <p:sp>
        <p:nvSpPr>
          <p:cNvPr id="6" name="Decision body 1"/>
          <p:cNvSpPr txBox="1"/>
          <p:nvPr/>
        </p:nvSpPr>
        <p:spPr>
          <a:xfrm>
            <a:off x="1554480" y="2359152"/>
            <a:ext cx="4206240" cy="1188720"/>
          </a:xfrm>
          <a:prstGeom prst="rect">
            <a:avLst/>
          </a:prstGeom>
          <a:noFill/>
        </p:spPr>
        <p:txBody>
          <a:bodyPr wrap="square" anchor="t" lIns="0" rIns="0" tIns="0" bIns="0">
            <a:spAutoFit/>
          </a:bodyPr>
          <a:lstStyle/>
          <a:p>
            <a:pPr algn="l">
              <a:spcAft>
                <a:spcPts val="600"/>
              </a:spcAft>
            </a:pPr>
            <a:r>
              <a:rPr sz="1400" b="0" i="0">
                <a:solidFill>
                  <a:srgbClr val="1F2A30"/>
                </a:solidFill>
                <a:latin typeface="Calibri"/>
              </a:rPr>
              <a:t>The server uses the rndsa login. Store the connection in an environment variable, like the API keys - or use Windows sign-in if our accounts have access.</a:t>
            </a:r>
          </a:p>
        </p:txBody>
      </p:sp>
      <p:sp>
        <p:nvSpPr>
          <p:cNvPr id="7" name="Decision card 2"/>
          <p:cNvSpPr/>
          <p:nvPr/>
        </p:nvSpPr>
        <p:spPr>
          <a:xfrm>
            <a:off x="6172200" y="1463040"/>
            <a:ext cx="5440680" cy="2148840"/>
          </a:xfrm>
          <a:prstGeom prst="roundRect">
            <a:avLst>
              <a:gd name="adj" fmla="val 12000"/>
            </a:avLst>
          </a:prstGeom>
          <a:solidFill>
            <a:srgbClr val="F4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adge 2"/>
          <p:cNvSpPr/>
          <p:nvPr/>
        </p:nvSpPr>
        <p:spPr>
          <a:xfrm>
            <a:off x="6446520" y="1737360"/>
            <a:ext cx="548640" cy="548640"/>
          </a:xfrm>
          <a:prstGeom prst="ellipse">
            <a:avLst/>
          </a:prstGeom>
          <a:solidFill>
            <a:srgbClr val="1D78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800" b="1" i="0">
                <a:solidFill>
                  <a:srgbClr val="FFFFFF"/>
                </a:solidFill>
                <a:latin typeface="Calibri"/>
              </a:rPr>
              <a:t>2</a:t>
            </a:r>
          </a:p>
        </p:txBody>
      </p:sp>
      <p:sp>
        <p:nvSpPr>
          <p:cNvPr id="9" name="Decision head 2"/>
          <p:cNvSpPr txBox="1"/>
          <p:nvPr/>
        </p:nvSpPr>
        <p:spPr>
          <a:xfrm>
            <a:off x="7178040" y="1737360"/>
            <a:ext cx="4206240" cy="548640"/>
          </a:xfrm>
          <a:prstGeom prst="rect">
            <a:avLst/>
          </a:prstGeom>
          <a:noFill/>
        </p:spPr>
        <p:txBody>
          <a:bodyPr wrap="square" anchor="ctr" lIns="0" rIns="0" tIns="0" bIns="0">
            <a:spAutoFit/>
          </a:bodyPr>
          <a:lstStyle/>
          <a:p>
            <a:pPr algn="l">
              <a:spcAft>
                <a:spcPts val="600"/>
              </a:spcAft>
            </a:pPr>
            <a:r>
              <a:rPr sz="1800" b="1" i="0">
                <a:solidFill>
                  <a:srgbClr val="12343B"/>
                </a:solidFill>
                <a:latin typeface="Calibri"/>
              </a:rPr>
              <a:t>Permission to create the table</a:t>
            </a:r>
          </a:p>
        </p:txBody>
      </p:sp>
      <p:sp>
        <p:nvSpPr>
          <p:cNvPr id="10" name="Decision body 2"/>
          <p:cNvSpPr txBox="1"/>
          <p:nvPr/>
        </p:nvSpPr>
        <p:spPr>
          <a:xfrm>
            <a:off x="7178040" y="2359152"/>
            <a:ext cx="4206240" cy="1188720"/>
          </a:xfrm>
          <a:prstGeom prst="rect">
            <a:avLst/>
          </a:prstGeom>
          <a:noFill/>
        </p:spPr>
        <p:txBody>
          <a:bodyPr wrap="square" anchor="t" lIns="0" rIns="0" tIns="0" bIns="0">
            <a:spAutoFit/>
          </a:bodyPr>
          <a:lstStyle/>
          <a:p>
            <a:pPr algn="l">
              <a:spcAft>
                <a:spcPts val="600"/>
              </a:spcAft>
            </a:pPr>
            <a:r>
              <a:rPr sz="1400" b="0" i="0">
                <a:solidFill>
                  <a:srgbClr val="1F2A30"/>
                </a:solidFill>
                <a:latin typeface="Calibri"/>
              </a:rPr>
              <a:t>We, or the DBA, need CREATE TABLE rights on XenCreator. The script is ready.</a:t>
            </a:r>
          </a:p>
        </p:txBody>
      </p:sp>
      <p:sp>
        <p:nvSpPr>
          <p:cNvPr id="11" name="Decision card 3"/>
          <p:cNvSpPr/>
          <p:nvPr/>
        </p:nvSpPr>
        <p:spPr>
          <a:xfrm>
            <a:off x="548640" y="3840480"/>
            <a:ext cx="5440680" cy="2148840"/>
          </a:xfrm>
          <a:prstGeom prst="roundRect">
            <a:avLst>
              <a:gd name="adj" fmla="val 12000"/>
            </a:avLst>
          </a:prstGeom>
          <a:solidFill>
            <a:srgbClr val="F4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adge 3"/>
          <p:cNvSpPr/>
          <p:nvPr/>
        </p:nvSpPr>
        <p:spPr>
          <a:xfrm>
            <a:off x="822959" y="4114800"/>
            <a:ext cx="548640" cy="548640"/>
          </a:xfrm>
          <a:prstGeom prst="ellipse">
            <a:avLst/>
          </a:prstGeom>
          <a:solidFill>
            <a:srgbClr val="1D78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800" b="1" i="0">
                <a:solidFill>
                  <a:srgbClr val="FFFFFF"/>
                </a:solidFill>
                <a:latin typeface="Calibri"/>
              </a:rPr>
              <a:t>3</a:t>
            </a:r>
          </a:p>
        </p:txBody>
      </p:sp>
      <p:sp>
        <p:nvSpPr>
          <p:cNvPr id="13" name="Decision head 3"/>
          <p:cNvSpPr txBox="1"/>
          <p:nvPr/>
        </p:nvSpPr>
        <p:spPr>
          <a:xfrm>
            <a:off x="1554480" y="4114800"/>
            <a:ext cx="4206240" cy="548640"/>
          </a:xfrm>
          <a:prstGeom prst="rect">
            <a:avLst/>
          </a:prstGeom>
          <a:noFill/>
        </p:spPr>
        <p:txBody>
          <a:bodyPr wrap="square" anchor="ctr" lIns="0" rIns="0" tIns="0" bIns="0">
            <a:spAutoFit/>
          </a:bodyPr>
          <a:lstStyle/>
          <a:p>
            <a:pPr algn="l">
              <a:spcAft>
                <a:spcPts val="600"/>
              </a:spcAft>
            </a:pPr>
            <a:r>
              <a:rPr sz="1800" b="1" i="0">
                <a:solidFill>
                  <a:srgbClr val="12343B"/>
                </a:solidFill>
                <a:latin typeface="Calibri"/>
              </a:rPr>
              <a:t>Database down? The app still works</a:t>
            </a:r>
          </a:p>
        </p:txBody>
      </p:sp>
      <p:sp>
        <p:nvSpPr>
          <p:cNvPr id="14" name="Decision body 3"/>
          <p:cNvSpPr txBox="1"/>
          <p:nvPr/>
        </p:nvSpPr>
        <p:spPr>
          <a:xfrm>
            <a:off x="1554480" y="4736592"/>
            <a:ext cx="4206240" cy="1188720"/>
          </a:xfrm>
          <a:prstGeom prst="rect">
            <a:avLst/>
          </a:prstGeom>
          <a:noFill/>
        </p:spPr>
        <p:txBody>
          <a:bodyPr wrap="square" anchor="t" lIns="0" rIns="0" tIns="0" bIns="0">
            <a:spAutoFit/>
          </a:bodyPr>
          <a:lstStyle/>
          <a:p>
            <a:pPr algn="l">
              <a:spcAft>
                <a:spcPts val="600"/>
              </a:spcAft>
            </a:pPr>
            <a:r>
              <a:rPr sz="1400" b="0" i="0">
                <a:solidFill>
                  <a:srgbClr val="1F2A30"/>
                </a:solidFill>
                <a:latin typeface="Calibri"/>
              </a:rPr>
              <a:t>If the server cannot be reached, skip the database, call the AI, and show a warning.</a:t>
            </a:r>
          </a:p>
        </p:txBody>
      </p:sp>
      <p:sp>
        <p:nvSpPr>
          <p:cNvPr id="15" name="Decision card 4"/>
          <p:cNvSpPr/>
          <p:nvPr/>
        </p:nvSpPr>
        <p:spPr>
          <a:xfrm>
            <a:off x="6172200" y="3840480"/>
            <a:ext cx="5440680" cy="2148840"/>
          </a:xfrm>
          <a:prstGeom prst="roundRect">
            <a:avLst>
              <a:gd name="adj" fmla="val 12000"/>
            </a:avLst>
          </a:prstGeom>
          <a:solidFill>
            <a:srgbClr val="E6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adge 4"/>
          <p:cNvSpPr/>
          <p:nvPr/>
        </p:nvSpPr>
        <p:spPr>
          <a:xfrm>
            <a:off x="6446520" y="4114800"/>
            <a:ext cx="548640" cy="548640"/>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800" b="1" i="0">
                <a:solidFill>
                  <a:srgbClr val="1F2A30"/>
                </a:solidFill>
                <a:latin typeface="Calibri"/>
              </a:rPr>
              <a:t>4</a:t>
            </a:r>
          </a:p>
        </p:txBody>
      </p:sp>
      <p:sp>
        <p:nvSpPr>
          <p:cNvPr id="17" name="Decision head 4"/>
          <p:cNvSpPr txBox="1"/>
          <p:nvPr/>
        </p:nvSpPr>
        <p:spPr>
          <a:xfrm>
            <a:off x="7178040" y="4114800"/>
            <a:ext cx="4206240" cy="548640"/>
          </a:xfrm>
          <a:prstGeom prst="rect">
            <a:avLst/>
          </a:prstGeom>
          <a:noFill/>
        </p:spPr>
        <p:txBody>
          <a:bodyPr wrap="square" anchor="ctr" lIns="0" rIns="0" tIns="0" bIns="0">
            <a:spAutoFit/>
          </a:bodyPr>
          <a:lstStyle/>
          <a:p>
            <a:pPr algn="l">
              <a:spcAft>
                <a:spcPts val="600"/>
              </a:spcAft>
            </a:pPr>
            <a:r>
              <a:rPr sz="1800" b="1" i="0">
                <a:solidFill>
                  <a:srgbClr val="12343B"/>
                </a:solidFill>
                <a:latin typeface="Calibri"/>
              </a:rPr>
              <a:t>Saved results are frozen</a:t>
            </a:r>
          </a:p>
        </p:txBody>
      </p:sp>
      <p:sp>
        <p:nvSpPr>
          <p:cNvPr id="18" name="Decision body 4"/>
          <p:cNvSpPr txBox="1"/>
          <p:nvPr/>
        </p:nvSpPr>
        <p:spPr>
          <a:xfrm>
            <a:off x="7178040" y="4736592"/>
            <a:ext cx="4206240" cy="1188720"/>
          </a:xfrm>
          <a:prstGeom prst="rect">
            <a:avLst/>
          </a:prstGeom>
          <a:noFill/>
        </p:spPr>
        <p:txBody>
          <a:bodyPr wrap="square" anchor="t" lIns="0" rIns="0" tIns="0" bIns="0">
            <a:spAutoFit/>
          </a:bodyPr>
          <a:lstStyle/>
          <a:p>
            <a:pPr algn="l">
              <a:spcAft>
                <a:spcPts val="600"/>
              </a:spcAft>
            </a:pPr>
            <a:r>
              <a:rPr sz="1400" b="0" i="0">
                <a:solidFill>
                  <a:srgbClr val="1F2A30"/>
                </a:solidFill>
                <a:latin typeface="Calibri"/>
              </a:rPr>
              <a:t>AI output varies run to run, so a saved answer never improves on its own. An "Ignore saved results" checkbox forces a fresh run.</a:t>
            </a:r>
          </a:p>
        </p:txBody>
      </p:sp>
      <p:sp>
        <p:nvSpPr>
          <p:cNvPr id="19" name="Footer"/>
          <p:cNvSpPr txBox="1"/>
          <p:nvPr/>
        </p:nvSpPr>
        <p:spPr>
          <a:xfrm>
            <a:off x="548640" y="6400800"/>
            <a:ext cx="7315200" cy="274320"/>
          </a:xfrm>
          <a:prstGeom prst="rect">
            <a:avLst/>
          </a:prstGeom>
          <a:noFill/>
        </p:spPr>
        <p:txBody>
          <a:bodyPr wrap="square" anchor="t" lIns="0" rIns="0" tIns="0" bIns="0">
            <a:spAutoFit/>
          </a:bodyPr>
          <a:lstStyle/>
          <a:p>
            <a:pPr algn="l">
              <a:spcAft>
                <a:spcPts val="600"/>
              </a:spcAft>
            </a:pPr>
            <a:r>
              <a:rPr sz="1000" b="0" i="0">
                <a:solidFill>
                  <a:srgbClr val="5B6B73"/>
                </a:solidFill>
                <a:latin typeface="Calibri"/>
              </a:rPr>
              <a:t>XenAnalyticTransl  |  Proposal: save AI results to the database</a:t>
            </a:r>
          </a:p>
        </p:txBody>
      </p:sp>
      <p:sp>
        <p:nvSpPr>
          <p:cNvPr id="20" name="Slide number"/>
          <p:cNvSpPr txBox="1"/>
          <p:nvPr/>
        </p:nvSpPr>
        <p:spPr>
          <a:xfrm>
            <a:off x="10789920" y="6400800"/>
            <a:ext cx="868680" cy="274320"/>
          </a:xfrm>
          <a:prstGeom prst="rect">
            <a:avLst/>
          </a:prstGeom>
          <a:noFill/>
        </p:spPr>
        <p:txBody>
          <a:bodyPr wrap="square" anchor="t" lIns="0" rIns="0" tIns="0" bIns="0">
            <a:spAutoFit/>
          </a:bodyPr>
          <a:lstStyle/>
          <a:p>
            <a:pPr algn="r">
              <a:spcAft>
                <a:spcPts val="600"/>
              </a:spcAft>
            </a:pPr>
            <a:r>
              <a:rPr sz="1000" b="0" i="0">
                <a:solidFill>
                  <a:srgbClr val="5B6B73"/>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2343B"/>
        </a:solidFill>
        <a:effectLst/>
      </p:bgPr>
    </p:bg>
    <p:spTree>
      <p:nvGrpSpPr>
        <p:cNvPr id="1" name=""/>
        <p:cNvGrpSpPr/>
        <p:nvPr/>
      </p:nvGrpSpPr>
      <p:grpSpPr/>
      <p:sp>
        <p:nvSpPr>
          <p:cNvPr id="2" name="Title"/>
          <p:cNvSpPr txBox="1"/>
          <p:nvPr/>
        </p:nvSpPr>
        <p:spPr>
          <a:xfrm>
            <a:off x="822960" y="822960"/>
            <a:ext cx="10515600" cy="822960"/>
          </a:xfrm>
          <a:prstGeom prst="rect">
            <a:avLst/>
          </a:prstGeom>
          <a:noFill/>
        </p:spPr>
        <p:txBody>
          <a:bodyPr wrap="square" anchor="t" lIns="0" rIns="0" tIns="0" bIns="0">
            <a:spAutoFit/>
          </a:bodyPr>
          <a:lstStyle/>
          <a:p>
            <a:pPr algn="l">
              <a:spcAft>
                <a:spcPts val="600"/>
              </a:spcAft>
            </a:pPr>
            <a:r>
              <a:rPr sz="4000" b="1" i="0">
                <a:solidFill>
                  <a:srgbClr val="FFFFFF"/>
                </a:solidFill>
                <a:latin typeface="Cambria"/>
              </a:rPr>
              <a:t>Next steps</a:t>
            </a:r>
          </a:p>
        </p:txBody>
      </p:sp>
      <p:sp>
        <p:nvSpPr>
          <p:cNvPr id="3" name="Badge 1"/>
          <p:cNvSpPr/>
          <p:nvPr/>
        </p:nvSpPr>
        <p:spPr>
          <a:xfrm>
            <a:off x="822960" y="1965960"/>
            <a:ext cx="566928" cy="566928"/>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800" b="1" i="0">
                <a:solidFill>
                  <a:srgbClr val="1F2A30"/>
                </a:solidFill>
                <a:latin typeface="Calibri"/>
              </a:rPr>
              <a:t>1</a:t>
            </a:r>
          </a:p>
        </p:txBody>
      </p:sp>
      <p:sp>
        <p:nvSpPr>
          <p:cNvPr id="4" name="Step 1"/>
          <p:cNvSpPr txBox="1"/>
          <p:nvPr/>
        </p:nvSpPr>
        <p:spPr>
          <a:xfrm>
            <a:off x="1645920" y="1947672"/>
            <a:ext cx="5029200" cy="411480"/>
          </a:xfrm>
          <a:prstGeom prst="rect">
            <a:avLst/>
          </a:prstGeom>
          <a:noFill/>
        </p:spPr>
        <p:txBody>
          <a:bodyPr wrap="square" anchor="t" lIns="0" rIns="0" tIns="0" bIns="0">
            <a:spAutoFit/>
          </a:bodyPr>
          <a:lstStyle/>
          <a:p>
            <a:pPr algn="l">
              <a:spcAft>
                <a:spcPts val="600"/>
              </a:spcAft>
            </a:pPr>
            <a:r>
              <a:rPr sz="2000" b="1" i="0">
                <a:solidFill>
                  <a:srgbClr val="FFFFFF"/>
                </a:solidFill>
                <a:latin typeface="Calibri"/>
              </a:rPr>
              <a:t>Create the table</a:t>
            </a:r>
          </a:p>
        </p:txBody>
      </p:sp>
      <p:sp>
        <p:nvSpPr>
          <p:cNvPr id="5" name="Step note 1"/>
          <p:cNvSpPr txBox="1"/>
          <p:nvPr/>
        </p:nvSpPr>
        <p:spPr>
          <a:xfrm>
            <a:off x="1645920" y="2331720"/>
            <a:ext cx="5486400" cy="365760"/>
          </a:xfrm>
          <a:prstGeom prst="rect">
            <a:avLst/>
          </a:prstGeom>
          <a:noFill/>
        </p:spPr>
        <p:txBody>
          <a:bodyPr wrap="square" anchor="t" lIns="0" rIns="0" tIns="0" bIns="0">
            <a:spAutoFit/>
          </a:bodyPr>
          <a:lstStyle/>
          <a:p>
            <a:pPr algn="l">
              <a:spcAft>
                <a:spcPts val="600"/>
              </a:spcAft>
            </a:pPr>
            <a:r>
              <a:rPr sz="1400" b="0" i="0">
                <a:solidFill>
                  <a:srgbClr val="CADCDB"/>
                </a:solidFill>
                <a:latin typeface="Calibri"/>
              </a:rPr>
              <a:t>DBA runs the ready-made script on XenCreator</a:t>
            </a:r>
          </a:p>
        </p:txBody>
      </p:sp>
      <p:sp>
        <p:nvSpPr>
          <p:cNvPr id="6" name="Badge 2"/>
          <p:cNvSpPr/>
          <p:nvPr/>
        </p:nvSpPr>
        <p:spPr>
          <a:xfrm>
            <a:off x="822960" y="2880360"/>
            <a:ext cx="566928" cy="566928"/>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800" b="1" i="0">
                <a:solidFill>
                  <a:srgbClr val="1F2A30"/>
                </a:solidFill>
                <a:latin typeface="Calibri"/>
              </a:rPr>
              <a:t>2</a:t>
            </a:r>
          </a:p>
        </p:txBody>
      </p:sp>
      <p:sp>
        <p:nvSpPr>
          <p:cNvPr id="7" name="Step 2"/>
          <p:cNvSpPr txBox="1"/>
          <p:nvPr/>
        </p:nvSpPr>
        <p:spPr>
          <a:xfrm>
            <a:off x="1645920" y="2862072"/>
            <a:ext cx="5029200" cy="411480"/>
          </a:xfrm>
          <a:prstGeom prst="rect">
            <a:avLst/>
          </a:prstGeom>
          <a:noFill/>
        </p:spPr>
        <p:txBody>
          <a:bodyPr wrap="square" anchor="t" lIns="0" rIns="0" tIns="0" bIns="0">
            <a:spAutoFit/>
          </a:bodyPr>
          <a:lstStyle/>
          <a:p>
            <a:pPr algn="l">
              <a:spcAft>
                <a:spcPts val="600"/>
              </a:spcAft>
            </a:pPr>
            <a:r>
              <a:rPr sz="2000" b="1" i="0">
                <a:solidFill>
                  <a:srgbClr val="FFFFFF"/>
                </a:solidFill>
                <a:latin typeface="Calibri"/>
              </a:rPr>
              <a:t>Agree the login method</a:t>
            </a:r>
          </a:p>
        </p:txBody>
      </p:sp>
      <p:sp>
        <p:nvSpPr>
          <p:cNvPr id="8" name="Step note 2"/>
          <p:cNvSpPr txBox="1"/>
          <p:nvPr/>
        </p:nvSpPr>
        <p:spPr>
          <a:xfrm>
            <a:off x="1645920" y="3246120"/>
            <a:ext cx="5486400" cy="365760"/>
          </a:xfrm>
          <a:prstGeom prst="rect">
            <a:avLst/>
          </a:prstGeom>
          <a:noFill/>
        </p:spPr>
        <p:txBody>
          <a:bodyPr wrap="square" anchor="t" lIns="0" rIns="0" tIns="0" bIns="0">
            <a:spAutoFit/>
          </a:bodyPr>
          <a:lstStyle/>
          <a:p>
            <a:pPr algn="l">
              <a:spcAft>
                <a:spcPts val="600"/>
              </a:spcAft>
            </a:pPr>
            <a:r>
              <a:rPr sz="1400" b="0" i="0">
                <a:solidFill>
                  <a:srgbClr val="CADCDB"/>
                </a:solidFill>
                <a:latin typeface="Calibri"/>
              </a:rPr>
              <a:t>Environment variable or Windows sign-in</a:t>
            </a:r>
          </a:p>
        </p:txBody>
      </p:sp>
      <p:sp>
        <p:nvSpPr>
          <p:cNvPr id="9" name="Badge 3"/>
          <p:cNvSpPr/>
          <p:nvPr/>
        </p:nvSpPr>
        <p:spPr>
          <a:xfrm>
            <a:off x="822960" y="3794760"/>
            <a:ext cx="566928" cy="566928"/>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800" b="1" i="0">
                <a:solidFill>
                  <a:srgbClr val="1F2A30"/>
                </a:solidFill>
                <a:latin typeface="Calibri"/>
              </a:rPr>
              <a:t>3</a:t>
            </a:r>
          </a:p>
        </p:txBody>
      </p:sp>
      <p:sp>
        <p:nvSpPr>
          <p:cNvPr id="10" name="Step 3"/>
          <p:cNvSpPr txBox="1"/>
          <p:nvPr/>
        </p:nvSpPr>
        <p:spPr>
          <a:xfrm>
            <a:off x="1645920" y="3776472"/>
            <a:ext cx="5029200" cy="411480"/>
          </a:xfrm>
          <a:prstGeom prst="rect">
            <a:avLst/>
          </a:prstGeom>
          <a:noFill/>
        </p:spPr>
        <p:txBody>
          <a:bodyPr wrap="square" anchor="t" lIns="0" rIns="0" tIns="0" bIns="0">
            <a:spAutoFit/>
          </a:bodyPr>
          <a:lstStyle/>
          <a:p>
            <a:pPr algn="l">
              <a:spcAft>
                <a:spcPts val="600"/>
              </a:spcAft>
            </a:pPr>
            <a:r>
              <a:rPr sz="2000" b="1" i="0">
                <a:solidFill>
                  <a:srgbClr val="FFFFFF"/>
                </a:solidFill>
                <a:latin typeface="Calibri"/>
              </a:rPr>
              <a:t>Build and test</a:t>
            </a:r>
          </a:p>
        </p:txBody>
      </p:sp>
      <p:sp>
        <p:nvSpPr>
          <p:cNvPr id="11" name="Step note 3"/>
          <p:cNvSpPr txBox="1"/>
          <p:nvPr/>
        </p:nvSpPr>
        <p:spPr>
          <a:xfrm>
            <a:off x="1645920" y="4160520"/>
            <a:ext cx="5486400" cy="365760"/>
          </a:xfrm>
          <a:prstGeom prst="rect">
            <a:avLst/>
          </a:prstGeom>
          <a:noFill/>
        </p:spPr>
        <p:txBody>
          <a:bodyPr wrap="square" anchor="t" lIns="0" rIns="0" tIns="0" bIns="0">
            <a:spAutoFit/>
          </a:bodyPr>
          <a:lstStyle/>
          <a:p>
            <a:pPr algn="l">
              <a:spcAft>
                <a:spcPts val="600"/>
              </a:spcAft>
            </a:pPr>
            <a:r>
              <a:rPr sz="1400" b="0" i="0">
                <a:solidFill>
                  <a:srgbClr val="CADCDB"/>
                </a:solidFill>
                <a:latin typeface="Calibri"/>
              </a:rPr>
              <a:t>Against the real Lipico Motor and Valve scenarios</a:t>
            </a:r>
          </a:p>
        </p:txBody>
      </p:sp>
      <p:sp>
        <p:nvSpPr>
          <p:cNvPr id="12" name="Badge 4"/>
          <p:cNvSpPr/>
          <p:nvPr/>
        </p:nvSpPr>
        <p:spPr>
          <a:xfrm>
            <a:off x="822960" y="4709160"/>
            <a:ext cx="566928" cy="566928"/>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800" b="1" i="0">
                <a:solidFill>
                  <a:srgbClr val="1F2A30"/>
                </a:solidFill>
                <a:latin typeface="Calibri"/>
              </a:rPr>
              <a:t>4</a:t>
            </a:r>
          </a:p>
        </p:txBody>
      </p:sp>
      <p:sp>
        <p:nvSpPr>
          <p:cNvPr id="13" name="Step 4"/>
          <p:cNvSpPr txBox="1"/>
          <p:nvPr/>
        </p:nvSpPr>
        <p:spPr>
          <a:xfrm>
            <a:off x="1645920" y="4690872"/>
            <a:ext cx="5029200" cy="411480"/>
          </a:xfrm>
          <a:prstGeom prst="rect">
            <a:avLst/>
          </a:prstGeom>
          <a:noFill/>
        </p:spPr>
        <p:txBody>
          <a:bodyPr wrap="square" anchor="t" lIns="0" rIns="0" tIns="0" bIns="0">
            <a:spAutoFit/>
          </a:bodyPr>
          <a:lstStyle/>
          <a:p>
            <a:pPr algn="l">
              <a:spcAft>
                <a:spcPts val="600"/>
              </a:spcAft>
            </a:pPr>
            <a:r>
              <a:rPr sz="2000" b="1" i="0">
                <a:solidFill>
                  <a:srgbClr val="FFFFFF"/>
                </a:solidFill>
                <a:latin typeface="Calibri"/>
              </a:rPr>
              <a:t>Measure the saving</a:t>
            </a:r>
          </a:p>
        </p:txBody>
      </p:sp>
      <p:sp>
        <p:nvSpPr>
          <p:cNvPr id="14" name="Step note 4"/>
          <p:cNvSpPr txBox="1"/>
          <p:nvPr/>
        </p:nvSpPr>
        <p:spPr>
          <a:xfrm>
            <a:off x="1645920" y="5074920"/>
            <a:ext cx="5486400" cy="365760"/>
          </a:xfrm>
          <a:prstGeom prst="rect">
            <a:avLst/>
          </a:prstGeom>
          <a:noFill/>
        </p:spPr>
        <p:txBody>
          <a:bodyPr wrap="square" anchor="t" lIns="0" rIns="0" tIns="0" bIns="0">
            <a:spAutoFit/>
          </a:bodyPr>
          <a:lstStyle/>
          <a:p>
            <a:pPr algn="l">
              <a:spcAft>
                <a:spcPts val="600"/>
              </a:spcAft>
            </a:pPr>
            <a:r>
              <a:rPr sz="1400" b="0" i="0">
                <a:solidFill>
                  <a:srgbClr val="CADCDB"/>
                </a:solidFill>
                <a:latin typeface="Calibri"/>
              </a:rPr>
              <a:t>Tokens per run, before and after</a:t>
            </a:r>
          </a:p>
        </p:txBody>
      </p:sp>
      <p:sp>
        <p:nvSpPr>
          <p:cNvPr id="15" name="Ask card"/>
          <p:cNvSpPr/>
          <p:nvPr/>
        </p:nvSpPr>
        <p:spPr>
          <a:xfrm>
            <a:off x="7680960" y="1965960"/>
            <a:ext cx="3749039" cy="2743200"/>
          </a:xfrm>
          <a:prstGeom prst="roundRect">
            <a:avLst>
              <a:gd name="adj" fmla="val 12000"/>
            </a:avLst>
          </a:prstGeom>
          <a:solidFill>
            <a:srgbClr val="1C4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Ask kicker"/>
          <p:cNvSpPr txBox="1"/>
          <p:nvPr/>
        </p:nvSpPr>
        <p:spPr>
          <a:xfrm>
            <a:off x="7955279" y="2194560"/>
            <a:ext cx="3291840" cy="411480"/>
          </a:xfrm>
          <a:prstGeom prst="rect">
            <a:avLst/>
          </a:prstGeom>
          <a:noFill/>
        </p:spPr>
        <p:txBody>
          <a:bodyPr wrap="square" anchor="t" lIns="0" rIns="0" tIns="0" bIns="0">
            <a:spAutoFit/>
          </a:bodyPr>
          <a:lstStyle/>
          <a:p>
            <a:pPr algn="l">
              <a:spcAft>
                <a:spcPts val="600"/>
              </a:spcAft>
            </a:pPr>
            <a:r>
              <a:rPr sz="1400" b="1" i="0">
                <a:solidFill>
                  <a:srgbClr val="E8A33D"/>
                </a:solidFill>
                <a:latin typeface="Calibri"/>
              </a:rPr>
              <a:t>THE ASK</a:t>
            </a:r>
          </a:p>
        </p:txBody>
      </p:sp>
      <p:sp>
        <p:nvSpPr>
          <p:cNvPr id="17" name="Ask body"/>
          <p:cNvSpPr txBox="1"/>
          <p:nvPr/>
        </p:nvSpPr>
        <p:spPr>
          <a:xfrm>
            <a:off x="7955279" y="2651760"/>
            <a:ext cx="3246120" cy="2468880"/>
          </a:xfrm>
          <a:prstGeom prst="rect">
            <a:avLst/>
          </a:prstGeom>
          <a:noFill/>
        </p:spPr>
        <p:txBody>
          <a:bodyPr wrap="square" anchor="t" lIns="0" rIns="0" tIns="0" bIns="0">
            <a:spAutoFit/>
          </a:bodyPr>
          <a:lstStyle/>
          <a:p>
            <a:pPr algn="l">
              <a:spcAft>
                <a:spcPts val="1000"/>
              </a:spcAft>
            </a:pPr>
            <a:r>
              <a:rPr sz="1700" b="0" i="0">
                <a:solidFill>
                  <a:srgbClr val="FFFFFF"/>
                </a:solidFill>
                <a:latin typeface="Calibri"/>
              </a:rPr>
              <a:t>Approval to build the database cache.</a:t>
            </a:r>
          </a:p>
          <a:p>
            <a:pPr algn="l">
              <a:spcAft>
                <a:spcPts val="1000"/>
              </a:spcAft>
            </a:pPr>
            <a:r>
              <a:rPr sz="1700" b="1" i="0">
                <a:solidFill>
                  <a:srgbClr val="FFFFFF"/>
                </a:solidFill>
                <a:latin typeface="Calibri"/>
              </a:rPr>
              <a:t>Expected result: </a:t>
            </a:r>
            <a:r>
              <a:rPr sz="1700" b="0" i="0">
                <a:solidFill>
                  <a:srgbClr val="FFFFFF"/>
                </a:solidFill>
                <a:latin typeface="Calibri"/>
              </a:rPr>
              <a:t>about 85% fewer tokens per test run, so the free tier supports many more tests.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84048"/>
            <a:ext cx="11064240" cy="731520"/>
          </a:xfrm>
          <a:prstGeom prst="rect">
            <a:avLst/>
          </a:prstGeom>
          <a:noFill/>
        </p:spPr>
        <p:txBody>
          <a:bodyPr wrap="square" anchor="ctr" lIns="0" rIns="0" tIns="0" bIns="0">
            <a:spAutoFit/>
          </a:bodyPr>
          <a:lstStyle/>
          <a:p>
            <a:pPr algn="l">
              <a:spcAft>
                <a:spcPts val="600"/>
              </a:spcAft>
            </a:pPr>
            <a:r>
              <a:rPr sz="3400" b="1" i="0">
                <a:solidFill>
                  <a:srgbClr val="12343B"/>
                </a:solidFill>
                <a:latin typeface="Cambria"/>
              </a:rPr>
              <a:t>Appendix: CREATE TABLE script</a:t>
            </a:r>
          </a:p>
        </p:txBody>
      </p:sp>
      <p:sp>
        <p:nvSpPr>
          <p:cNvPr id="3" name="SQL"/>
          <p:cNvSpPr/>
          <p:nvPr/>
        </p:nvSpPr>
        <p:spPr>
          <a:xfrm>
            <a:off x="548640" y="1371600"/>
            <a:ext cx="11064240" cy="4800600"/>
          </a:xfrm>
          <a:prstGeom prst="roundRect">
            <a:avLst>
              <a:gd name="adj" fmla="val 3000"/>
            </a:avLst>
          </a:prstGeom>
          <a:solidFill>
            <a:srgbClr val="F4F8F8"/>
          </a:solidFill>
          <a:ln w="15875">
            <a:solidFill>
              <a:srgbClr val="C9D6D5"/>
            </a:solid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274320" bIns="274320"/>
          <a:lstStyle/>
          <a:p>
            <a:pPr algn="l">
              <a:spcAft>
                <a:spcPts val="0"/>
              </a:spcAft>
            </a:pPr>
            <a:r>
              <a:rPr sz="1200" b="0" i="0">
                <a:solidFill>
                  <a:srgbClr val="1F2A30"/>
                </a:solidFill>
                <a:latin typeface="Courier New"/>
              </a:rPr>
              <a:t>CREATE TABLE XenCreator.dbo.OutputXenTrans (</a:t>
            </a:r>
          </a:p>
          <a:p>
            <a:pPr>
              <a:spcAft>
                <a:spcPts val="0"/>
              </a:spcAft>
            </a:pPr>
            <a:r>
              <a:rPr sz="1200" b="0" i="0">
                <a:solidFill>
                  <a:srgbClr val="1F2A30"/>
                </a:solidFill>
                <a:latin typeface="Courier New"/>
              </a:rPr>
              <a:t>    Id               INT IDENTITY PRIMARY KEY,</a:t>
            </a:r>
          </a:p>
          <a:p>
            <a:pPr>
              <a:spcAft>
                <a:spcPts val="0"/>
              </a:spcAft>
            </a:pPr>
            <a:r>
              <a:rPr sz="1200" b="0" i="0">
                <a:solidFill>
                  <a:srgbClr val="1F2A30"/>
                </a:solidFill>
                <a:latin typeface="Courier New"/>
              </a:rPr>
              <a:t>    CacheKey         CHAR(64)       NOT NULL,   -- the fingerprint</a:t>
            </a:r>
          </a:p>
          <a:p>
            <a:pPr>
              <a:spcAft>
                <a:spcPts val="0"/>
              </a:spcAft>
            </a:pPr>
            <a:r>
              <a:rPr sz="1200" b="0" i="0">
                <a:solidFill>
                  <a:srgbClr val="1F2A30"/>
                </a:solidFill>
                <a:latin typeface="Courier New"/>
              </a:rPr>
              <a:t>    Equipment        NVARCHAR(50)   NOT NULL,   -- Motor / Valve</a:t>
            </a:r>
          </a:p>
          <a:p>
            <a:pPr>
              <a:spcAft>
                <a:spcPts val="0"/>
              </a:spcAft>
            </a:pPr>
            <a:r>
              <a:rPr sz="1200" b="0" i="0">
                <a:solidFill>
                  <a:srgbClr val="1F2A30"/>
                </a:solidFill>
                <a:latin typeface="Courier New"/>
              </a:rPr>
              <a:t>    ScenarioName     NVARCHAR(200)  NOT NULL,</a:t>
            </a:r>
          </a:p>
          <a:p>
            <a:pPr>
              <a:spcAft>
                <a:spcPts val="0"/>
              </a:spcAft>
            </a:pPr>
            <a:r>
              <a:rPr sz="1200" b="0" i="0">
                <a:solidFill>
                  <a:srgbClr val="1F2A30"/>
                </a:solidFill>
                <a:latin typeface="Courier New"/>
              </a:rPr>
              <a:t>    ScenarioText     NVARCHAR(MAX)  NOT NULL,</a:t>
            </a:r>
          </a:p>
          <a:p>
            <a:pPr>
              <a:spcAft>
                <a:spcPts val="0"/>
              </a:spcAft>
            </a:pPr>
            <a:r>
              <a:rPr sz="1200" b="0" i="0">
                <a:solidFill>
                  <a:srgbClr val="1F2A30"/>
                </a:solidFill>
                <a:latin typeface="Courier New"/>
              </a:rPr>
              <a:t>    OutputTarget     NVARCHAR(30)   NOT NULL,   -- Pseudocode / Logic Expression / SCL</a:t>
            </a:r>
          </a:p>
          <a:p>
            <a:pPr>
              <a:spcAft>
                <a:spcPts val="0"/>
              </a:spcAft>
            </a:pPr>
            <a:r>
              <a:rPr sz="1200" b="0" i="0">
                <a:solidFill>
                  <a:srgbClr val="1F2A30"/>
                </a:solidFill>
                <a:latin typeface="Courier New"/>
              </a:rPr>
              <a:t>    Provider         NVARCHAR(100)  NOT NULL,</a:t>
            </a:r>
          </a:p>
          <a:p>
            <a:pPr>
              <a:spcAft>
                <a:spcPts val="0"/>
              </a:spcAft>
            </a:pPr>
            <a:r>
              <a:rPr sz="1200" b="0" i="0">
                <a:solidFill>
                  <a:srgbClr val="1F2A30"/>
                </a:solidFill>
                <a:latin typeface="Courier New"/>
              </a:rPr>
              <a:t>    Model            NVARCHAR(100)  NOT NULL,</a:t>
            </a:r>
          </a:p>
          <a:p>
            <a:pPr>
              <a:spcAft>
                <a:spcPts val="0"/>
              </a:spcAft>
            </a:pPr>
            <a:r>
              <a:rPr sz="1200" b="0" i="0">
                <a:solidFill>
                  <a:srgbClr val="1F2A30"/>
                </a:solidFill>
                <a:latin typeface="Courier New"/>
              </a:rPr>
              <a:t>    Code             NVARCHAR(MAX)  NOT NULL,   -- the pseudocode</a:t>
            </a:r>
          </a:p>
          <a:p>
            <a:pPr>
              <a:spcAft>
                <a:spcPts val="0"/>
              </a:spcAft>
            </a:pPr>
            <a:r>
              <a:rPr sz="1200" b="0" i="0">
                <a:solidFill>
                  <a:srgbClr val="1F2A30"/>
                </a:solidFill>
                <a:latin typeface="Courier New"/>
              </a:rPr>
              <a:t>    Explanation      NVARCHAR(MAX)  NULL,</a:t>
            </a:r>
          </a:p>
          <a:p>
            <a:pPr>
              <a:spcAft>
                <a:spcPts val="0"/>
              </a:spcAft>
            </a:pPr>
            <a:r>
              <a:rPr sz="1200" b="0" i="0">
                <a:solidFill>
                  <a:srgbClr val="1F2A30"/>
                </a:solidFill>
                <a:latin typeface="Courier New"/>
              </a:rPr>
              <a:t>    Warnings         NVARCHAR(MAX)  NULL,       -- JSON list</a:t>
            </a:r>
          </a:p>
          <a:p>
            <a:pPr>
              <a:spcAft>
                <a:spcPts val="0"/>
              </a:spcAft>
            </a:pPr>
            <a:r>
              <a:rPr sz="1200" b="0" i="0">
                <a:solidFill>
                  <a:srgbClr val="1F2A30"/>
                </a:solidFill>
                <a:latin typeface="Courier New"/>
              </a:rPr>
              <a:t>    PromptTokens     INT            NULL,</a:t>
            </a:r>
          </a:p>
          <a:p>
            <a:pPr>
              <a:spcAft>
                <a:spcPts val="0"/>
              </a:spcAft>
            </a:pPr>
            <a:r>
              <a:rPr sz="1200" b="0" i="0">
                <a:solidFill>
                  <a:srgbClr val="1F2A30"/>
                </a:solidFill>
                <a:latin typeface="Courier New"/>
              </a:rPr>
              <a:t>    CompletionTokens INT            NULL,</a:t>
            </a:r>
          </a:p>
          <a:p>
            <a:pPr>
              <a:spcAft>
                <a:spcPts val="0"/>
              </a:spcAft>
            </a:pPr>
            <a:r>
              <a:rPr sz="1200" b="0" i="0">
                <a:solidFill>
                  <a:srgbClr val="1F2A30"/>
                </a:solidFill>
                <a:latin typeface="Courier New"/>
              </a:rPr>
              <a:t>    ElapsedMs        INT            NULL,</a:t>
            </a:r>
          </a:p>
          <a:p>
            <a:pPr>
              <a:spcAft>
                <a:spcPts val="0"/>
              </a:spcAft>
            </a:pPr>
            <a:r>
              <a:rPr sz="1200" b="0" i="0">
                <a:solidFill>
                  <a:srgbClr val="1F2A30"/>
                </a:solidFill>
                <a:latin typeface="Courier New"/>
              </a:rPr>
              <a:t>    CreatedAt        DATETIME2      NOT NULL DEFAULT SYSUTCDATETIME()</a:t>
            </a:r>
          </a:p>
          <a:p>
            <a:pPr>
              <a:spcAft>
                <a:spcPts val="0"/>
              </a:spcAft>
            </a:pPr>
            <a:r>
              <a:rPr sz="1200" b="0" i="0">
                <a:solidFill>
                  <a:srgbClr val="1F2A30"/>
                </a:solidFill>
                <a:latin typeface="Courier New"/>
              </a:rPr>
              <a:t>);</a:t>
            </a:r>
          </a:p>
          <a:p>
            <a:pPr>
              <a:spcAft>
                <a:spcPts val="0"/>
              </a:spcAft>
            </a:pPr>
            <a:r>
              <a:rPr sz="1200" b="0" i="0">
                <a:solidFill>
                  <a:srgbClr val="1F2A30"/>
                </a:solidFill>
                <a:latin typeface="Courier New"/>
              </a:rPr>
              <a:t>CREATE INDEX IX_OutputXenTrans_CacheKey</a:t>
            </a:r>
          </a:p>
          <a:p>
            <a:pPr>
              <a:spcAft>
                <a:spcPts val="0"/>
              </a:spcAft>
            </a:pPr>
            <a:r>
              <a:rPr sz="1200" b="0" i="0">
                <a:solidFill>
                  <a:srgbClr val="1F2A30"/>
                </a:solidFill>
                <a:latin typeface="Courier New"/>
              </a:rPr>
              <a:t>    ON XenCreator.dbo.OutputXenTrans (CacheKey);</a:t>
            </a:r>
          </a:p>
        </p:txBody>
      </p:sp>
      <p:sp>
        <p:nvSpPr>
          <p:cNvPr id="4" name="Footer"/>
          <p:cNvSpPr txBox="1"/>
          <p:nvPr/>
        </p:nvSpPr>
        <p:spPr>
          <a:xfrm>
            <a:off x="548640" y="6400800"/>
            <a:ext cx="7315200" cy="274320"/>
          </a:xfrm>
          <a:prstGeom prst="rect">
            <a:avLst/>
          </a:prstGeom>
          <a:noFill/>
        </p:spPr>
        <p:txBody>
          <a:bodyPr wrap="square" anchor="t" lIns="0" rIns="0" tIns="0" bIns="0">
            <a:spAutoFit/>
          </a:bodyPr>
          <a:lstStyle/>
          <a:p>
            <a:pPr algn="l">
              <a:spcAft>
                <a:spcPts val="600"/>
              </a:spcAft>
            </a:pPr>
            <a:r>
              <a:rPr sz="1000" b="0" i="0">
                <a:solidFill>
                  <a:srgbClr val="5B6B73"/>
                </a:solidFill>
                <a:latin typeface="Calibri"/>
              </a:rPr>
              <a:t>XenAnalyticTransl  |  Proposal: save AI results to the database</a:t>
            </a:r>
          </a:p>
        </p:txBody>
      </p:sp>
      <p:sp>
        <p:nvSpPr>
          <p:cNvPr id="5" name="Slide number"/>
          <p:cNvSpPr txBox="1"/>
          <p:nvPr/>
        </p:nvSpPr>
        <p:spPr>
          <a:xfrm>
            <a:off x="10789920" y="6400800"/>
            <a:ext cx="868680" cy="274320"/>
          </a:xfrm>
          <a:prstGeom prst="rect">
            <a:avLst/>
          </a:prstGeom>
          <a:noFill/>
        </p:spPr>
        <p:txBody>
          <a:bodyPr wrap="square" anchor="t" lIns="0" rIns="0" tIns="0" bIns="0">
            <a:spAutoFit/>
          </a:bodyPr>
          <a:lstStyle/>
          <a:p>
            <a:pPr algn="r">
              <a:spcAft>
                <a:spcPts val="600"/>
              </a:spcAft>
            </a:pPr>
            <a:r>
              <a:rPr sz="1000" b="0" i="0">
                <a:solidFill>
                  <a:srgbClr val="5B6B73"/>
                </a:solidFill>
                <a:latin typeface="Calibri"/>
              </a:rP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Save AI results to the database</dc:title>
  <dc:subject/>
  <dc:creator>Siti Syaziyah</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